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2" d="100"/>
          <a:sy n="102" d="100"/>
        </p:scale>
        <p:origin x="192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291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Warm open. Thank Charlotte and Kate. This round is about how I work, so I'll keep examples concrete and let them steer.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it to ~60 seconds. Land the 'bridge between technical and business' point — it matters for this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warm. Invite questions. Pause and listen.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411480" cy="16459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Hi, I'm Moein.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EEF4FC"/>
                </a:solidFill>
              </a:rPr>
              <a:t>Senior AI/ML Engineer — I ship production AI and work with the people who use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E8B246"/>
                </a:solidFill>
              </a:rPr>
              <a:t>Here's how I think about success, data, stakeholders, and the way I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EEF4FC"/>
                </a:solidFill>
              </a:rPr>
              <a:t>razavi.moein94@gmail.com  ·  linkedin.com/in/moein-razavi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498A2"/>
                </a:solidFill>
              </a:rPr>
              <a:t>GENERAL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A little about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67665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3498A2"/>
                </a:solidFill>
              </a:rPr>
              <a:t>•  </a:t>
            </a:r>
            <a:r>
              <a:rPr sz="1600">
                <a:solidFill>
                  <a:srgbClr val="1C2436"/>
                </a:solidFill>
              </a:rPr>
              <a:t>Senior AI/ML Engineer with a Ph.D. from Texas A&amp;M (4.0 GPA).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3498A2"/>
                </a:solidFill>
              </a:rPr>
              <a:t>•  </a:t>
            </a:r>
            <a:r>
              <a:rPr sz="1600">
                <a:solidFill>
                  <a:srgbClr val="1C2436"/>
                </a:solidFill>
              </a:rPr>
              <a:t>5+ years building production AI — currently at Ford Motor Company.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3498A2"/>
                </a:solidFill>
              </a:rPr>
              <a:t>•  </a:t>
            </a:r>
            <a:r>
              <a:rPr sz="1600">
                <a:solidFill>
                  <a:srgbClr val="1C2436"/>
                </a:solidFill>
              </a:rPr>
              <a:t>I own systems end-to-end: from the business problem, to the model, to production and monitoring.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3498A2"/>
                </a:solidFill>
              </a:rPr>
              <a:t>•  </a:t>
            </a:r>
            <a:r>
              <a:rPr sz="1600">
                <a:solidFill>
                  <a:srgbClr val="1C2436"/>
                </a:solidFill>
              </a:rPr>
              <a:t>I work at the seam between deep technical work and the business — I can go deep, and I can explain it.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3498A2"/>
                </a:solidFill>
              </a:rPr>
              <a:t>•  </a:t>
            </a:r>
            <a:r>
              <a:rPr sz="1600">
                <a:solidFill>
                  <a:srgbClr val="1C2436"/>
                </a:solidFill>
              </a:rPr>
              <a:t>What I care about: measurable impact, earning trust, and actually shipping.</a:t>
            </a:r>
          </a:p>
        </p:txBody>
      </p:sp>
      <p:pic>
        <p:nvPicPr>
          <p:cNvPr id="7" name="Picture 6" descr="t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0"/>
            <a:ext cx="384048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498A2"/>
                </a:solidFill>
              </a:rPr>
              <a:t>WHAT I'D LOVE TO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The questions you shared — my take on 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548640" cy="868680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86584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Measuring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15768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How I know my work is actually working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2240280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08776" y="2240280"/>
            <a:ext cx="548640" cy="868680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08776" y="224028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2386584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Backtesting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2715768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The metrics I trust for rec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55264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255264"/>
            <a:ext cx="548640" cy="868680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255264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01568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Unstructured data →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30752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Turning text and docs into model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3255264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08776" y="3255264"/>
            <a:ext cx="548640" cy="86868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08776" y="3255264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6" y="3401568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Choosing what to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296" y="3730752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Deciding which features earn their keep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70248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270248"/>
            <a:ext cx="548640" cy="86868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270248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16552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Hard conversations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745736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Disagreeing with senior stakeholders, keeping trust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4270248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08776" y="4270248"/>
            <a:ext cx="548640" cy="868680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08776" y="4270248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0296" y="4416552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Prioritizing 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0296" y="4745736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Turning a pile of feedback into a ranked plan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285232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5285232"/>
            <a:ext cx="548640" cy="868680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285232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431536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Working style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760720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How I show up on a team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08776" y="5285232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08776" y="5285232"/>
            <a:ext cx="548640" cy="868680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08776" y="5285232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0296" y="5431536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Agile vs waterfall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0296" y="5760720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How I work — and helping the move to agile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498A2"/>
                </a:solidFill>
              </a:rPr>
              <a:t>QUESTION 1 · MEASURING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How I measure success in my current 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Business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dirty="0">
                <a:solidFill>
                  <a:srgbClr val="3498A2"/>
                </a:solidFill>
              </a:rPr>
              <a:t>•  </a:t>
            </a:r>
            <a:r>
              <a:rPr sz="1150" dirty="0">
                <a:solidFill>
                  <a:srgbClr val="465266"/>
                </a:solidFill>
              </a:rPr>
              <a:t>Did the actual decision or cycle get better?</a:t>
            </a:r>
          </a:p>
          <a:p>
            <a:pPr>
              <a:spcAft>
                <a:spcPts val="700"/>
              </a:spcAft>
            </a:pPr>
            <a:r>
              <a:rPr sz="1150" b="1" dirty="0">
                <a:solidFill>
                  <a:srgbClr val="3498A2"/>
                </a:solidFill>
              </a:rPr>
              <a:t>•  </a:t>
            </a:r>
            <a:r>
              <a:rPr sz="1150" dirty="0">
                <a:solidFill>
                  <a:srgbClr val="465266"/>
                </a:solidFill>
              </a:rPr>
              <a:t>Rate-design iteration cycle shortened ~20%.</a:t>
            </a:r>
          </a:p>
          <a:p>
            <a:pPr>
              <a:spcAft>
                <a:spcPts val="700"/>
              </a:spcAft>
            </a:pPr>
            <a:r>
              <a:rPr sz="1150" b="1" dirty="0">
                <a:solidFill>
                  <a:srgbClr val="3498A2"/>
                </a:solidFill>
              </a:rPr>
              <a:t>•  </a:t>
            </a:r>
            <a:r>
              <a:rPr sz="1150" dirty="0">
                <a:solidFill>
                  <a:srgbClr val="465266"/>
                </a:solidFill>
              </a:rPr>
              <a:t>KPI reporting turnaround cut 45% for 500+ stakeholders.</a:t>
            </a:r>
          </a:p>
          <a:p>
            <a:pPr>
              <a:spcAft>
                <a:spcPts val="700"/>
              </a:spcAft>
            </a:pPr>
            <a:r>
              <a:rPr sz="1150" b="1" dirty="0">
                <a:solidFill>
                  <a:srgbClr val="3498A2"/>
                </a:solidFill>
              </a:rPr>
              <a:t>•  </a:t>
            </a:r>
            <a:r>
              <a:rPr sz="1150" dirty="0">
                <a:solidFill>
                  <a:srgbClr val="465266"/>
                </a:solidFill>
              </a:rPr>
              <a:t>The metric the business cares about — not a model score in a vacuum.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System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Latency, uptime, and cost in production.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35% end-to-end latency cut on the chatbot.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99.9% uptime on the GCP AI platform.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If it's slow, down, or expensive, it isn't really shipped.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Adoption &amp;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Are real people using it — and trusting the output?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In daily use across 10 US states.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Teams self-serve; no more engineering tickets.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Every answer is grounded and checked, so people rely on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8815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78815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My rule: a model nobody uses or trusts is a failed model — even at high accuracy.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A4E"/>
                </a:solidFill>
              </a:rPr>
              <a:t>QUESTION 2 · RECOMMENDATION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rgbClr val="142A4E"/>
                </a:solidFill>
              </a:rPr>
              <a:t>Backtesting</a:t>
            </a:r>
            <a:r>
              <a:rPr sz="3000" b="1" i="0" dirty="0">
                <a:solidFill>
                  <a:srgbClr val="142A4E"/>
                </a:solidFill>
              </a:rPr>
              <a:t> recommendations — the metrics I rely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465266"/>
                </a:solidFill>
              </a:rPr>
              <a:t>A recommendation is a ranked list, so I measure ranking — and I </a:t>
            </a:r>
            <a:r>
              <a:rPr sz="1400" b="0" i="1" dirty="0" err="1">
                <a:solidFill>
                  <a:srgbClr val="465266"/>
                </a:solidFill>
              </a:rPr>
              <a:t>backtest</a:t>
            </a:r>
            <a:r>
              <a:rPr sz="1400" b="0" i="1" dirty="0">
                <a:solidFill>
                  <a:srgbClr val="465266"/>
                </a:solidFill>
              </a:rPr>
              <a:t> honestly.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0096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5340096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48828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Metrics I trust (it's a ranking problem)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4882896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Precision@K / Recall@K — of the top K I show, how many are right.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NDCG / MAP — reward putting the right item near the top, not just in the list.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MRR — how high is the first good hit.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Coverage, diversity, novelty — guard against only pushing popular items.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Calibration — are the scores believable, not just well-ordered.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40280"/>
            <a:ext cx="5340096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08776" y="2240280"/>
            <a:ext cx="5340096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459736"/>
            <a:ext cx="48828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How I backtest (so the number is trustworthy)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3081528"/>
            <a:ext cx="4882896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Out-of-time split — train on the past, test on the future. Never random shuffle (leakage).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Replay the real decision moment — score with only the data you'd have had then.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Off-policy / counterfactual eval (IPS, doubly-robust) — logged clicks are biased by the OLD recommender.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Segment the results — don't let a strong average hide a weak segment.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Stability over time — a metric that swings week to week isn't reliable.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8815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78815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North star: the backtest is the gate; an online A/B test is the truth. The backtest decides what earns live traffic.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6050"/>
                </a:solidFill>
              </a:rPr>
              <a:t>QUESTION 3 · UNSTRUCTURED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Turning unstructured data into model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The goal: turn text and documents into reliable, validated, monitored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Where the signal hides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dirty="0">
                <a:solidFill>
                  <a:srgbClr val="E86050"/>
                </a:solidFill>
              </a:rPr>
              <a:t>•  </a:t>
            </a:r>
            <a:r>
              <a:rPr sz="1150" dirty="0">
                <a:solidFill>
                  <a:srgbClr val="465266"/>
                </a:solidFill>
              </a:rPr>
              <a:t>PDFs, manuals, contracts, notes.</a:t>
            </a:r>
          </a:p>
          <a:p>
            <a:pPr>
              <a:spcAft>
                <a:spcPts val="700"/>
              </a:spcAft>
            </a:pPr>
            <a:r>
              <a:rPr sz="1150" b="1" dirty="0">
                <a:solidFill>
                  <a:srgbClr val="E86050"/>
                </a:solidFill>
              </a:rPr>
              <a:t>•  </a:t>
            </a:r>
            <a:r>
              <a:rPr sz="1150" dirty="0">
                <a:solidFill>
                  <a:srgbClr val="465266"/>
                </a:solidFill>
              </a:rPr>
              <a:t>Support tickets, emails, chat logs.</a:t>
            </a:r>
          </a:p>
          <a:p>
            <a:pPr>
              <a:spcAft>
                <a:spcPts val="700"/>
              </a:spcAft>
            </a:pPr>
            <a:r>
              <a:rPr sz="1150" b="1" dirty="0">
                <a:solidFill>
                  <a:srgbClr val="E86050"/>
                </a:solidFill>
              </a:rPr>
              <a:t>•  </a:t>
            </a:r>
            <a:r>
              <a:rPr sz="1150" dirty="0">
                <a:solidFill>
                  <a:srgbClr val="465266"/>
                </a:solidFill>
              </a:rPr>
              <a:t>Spreadsheets that aren't really tabular.</a:t>
            </a:r>
          </a:p>
          <a:p>
            <a:pPr>
              <a:spcAft>
                <a:spcPts val="700"/>
              </a:spcAft>
            </a:pPr>
            <a:r>
              <a:rPr sz="1150" b="1" dirty="0">
                <a:solidFill>
                  <a:srgbClr val="E86050"/>
                </a:solidFill>
              </a:rPr>
              <a:t>•  </a:t>
            </a:r>
            <a:r>
              <a:rPr sz="1150" dirty="0">
                <a:solidFill>
                  <a:srgbClr val="465266"/>
                </a:solidFill>
              </a:rPr>
              <a:t>Images and scanned 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How I extract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LLM extraction into validated fields (Pydantic schemas).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Embeddings as features for similarity and clustering.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Entity, topic, and sentiment extraction.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RAG-derived signals — 'does a document support X?'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Real examples from my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HOMELOAD: messy utility files (PDF/XML/CSV) → 7 clean columns.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Chatbot Document Agent: pulls answers out of F-150 manuals.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Multi-table parser: turns chaotic Excel into structured tables.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Always validated, versioned, and watched for drift.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B246"/>
                </a:solidFill>
              </a:rPr>
              <a:t>QUESTION 4 · CHOOSING WHAT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Deciding which features are worth the effort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I weigh value against the true cost — and I test cheaply before I commit.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Will it move the metric?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Run a cheap offline test first — does it lift the backtest metric?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Check feature importance / ablation on a quick prototype.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If it doesn't move the number, it doesn't get built.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What's the true cost?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Cost to build AND to maintain — maintenance is the real bill.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Is the data available, fresh, and easy to pipe in?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Any leakage risk or compliance concern?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Is the source reliable?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Will it drift or break? Prefer stable, owned sources.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High-impact / low-cost features go first.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Kill features that stop earning their keep.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8815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78815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Bias to a quick, cheap experiment over a long debate — let the data decide what's worth a production pipeline.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65A9E"/>
                </a:solidFill>
              </a:rPr>
              <a:t>QUESTION 5 · VIP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Hard conversations — and keeping the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Disagree with the idea, never the person. Make it about the shared goal.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Start from the shared goal  </a:t>
            </a:r>
            <a:r>
              <a:rPr sz="1200">
                <a:solidFill>
                  <a:srgbClr val="465266"/>
                </a:solidFill>
              </a:rPr>
              <a:t>— not my position. We both want the same outcome — frame it that 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2608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Bring data and options  </a:t>
            </a:r>
            <a:r>
              <a:rPr sz="1200">
                <a:solidFill>
                  <a:srgbClr val="465266"/>
                </a:solidFill>
              </a:rPr>
              <a:t>— not just a problem. Show trade-offs in their terms: risk, cost,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6616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Be direct, but private  </a:t>
            </a:r>
            <a:r>
              <a:rPr sz="1200">
                <a:solidFill>
                  <a:srgbClr val="465266"/>
                </a:solidFill>
              </a:rPr>
              <a:t>— disagree with the idea openly; protect the person's standing.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0624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Listen first  </a:t>
            </a:r>
            <a:r>
              <a:rPr sz="1200">
                <a:solidFill>
                  <a:srgbClr val="465266"/>
                </a:solidFill>
              </a:rPr>
              <a:t>— find the real concern behind the ask before I respond to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4632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4632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Say 'no' with a path  </a:t>
            </a:r>
            <a:r>
              <a:rPr sz="1200">
                <a:solidFill>
                  <a:srgbClr val="465266"/>
                </a:solidFill>
              </a:rPr>
              <a:t>— 'not that — but here's what I'd recommend instead, and why.'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48640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548640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486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8640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Follow up in writing  </a:t>
            </a:r>
            <a:r>
              <a:rPr sz="1200">
                <a:solidFill>
                  <a:srgbClr val="465266"/>
                </a:solidFill>
              </a:rPr>
              <a:t>— keep them informed so there are never any surprises.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498A2"/>
                </a:solidFill>
              </a:rPr>
              <a:t>QUESTION 6 · PRIORITIZING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Turning collected feedback into a ranked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The loudest voice isn't automatically the top priority.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Cluster, don't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Group feedback into themes first.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One loud request ≠ a priority.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Look for the pattern across many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Score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Impact × Reach × Confidence ÷ Effort (RICE-style).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Separate 'must-fix' (broken or trust) from 'nice-to-have.'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Tie every item to the metric that matters.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Align &amp; close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Agree the ranked list with stakeholders — no surprises.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Ship in thin slices, re-check after each.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Tell people what I did with their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8815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78815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Closing the loop is the part people forget — it's what makes them keep giving you honest feedback.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A4E"/>
                </a:solidFill>
              </a:rPr>
              <a:t>QUESTION 7 · WORKING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My working style and the role I 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I default to ownership and over-communicate.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Team setup I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Small, cross-functional pods — data, product, engineering together.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like owning a problem end-to-end, not a handoff chain.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Tight feedback loops with the people who use the 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The role I 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The bridge — deep technically, and still fluent with the business.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Often the 'glue' connecting research and production.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Comfortable leading a workstream or contributing heads-down as an 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How I operate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Write short design docs so decisions are visible.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Demo early and often — show, don't tell.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Over-communicate; surprises are the enemy of trust.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6050"/>
                </a:solidFill>
              </a:rPr>
              <a:t>QUESTION 8 · AGILE VS WATERFALL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How I work — and helping a team move to 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I work in agile today, I've done both, and AI work especially rewards short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How I work today — 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Two-week sprints, standups, sprint demos, retros at Ford.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Lightweight backlog grooming and estimates.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Ship in thin slices to get feedback fast.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Why agile fits AI especially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AI is uncertain — you can't fully plan it upfront.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Short loops + demos surface data issues and drift early.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Faster to double down on what works and kill what doesn't.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Helping waterfall → agile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Start with the rituals that create fast feedback: demos + retros.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Keep planning lightweight; don't cargo-cult ceremonies.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I've worked both ways — happy to help that shift land.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8815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78815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point of agile isn't the ceremonies — it's shortening the loop between building something and learning if it worked.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B246"/>
                </a:solidFill>
              </a:rPr>
              <a:t>QUESTIONS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A few things I'd love to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To understand how your team works day to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Success in this role  </a:t>
            </a:r>
            <a:r>
              <a:rPr sz="1200">
                <a:solidFill>
                  <a:srgbClr val="465266"/>
                </a:solidFill>
              </a:rPr>
              <a:t>— what does a great first 3-6 months look like to you?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2608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The team today  </a:t>
            </a:r>
            <a:r>
              <a:rPr sz="1200">
                <a:solidFill>
                  <a:srgbClr val="465266"/>
                </a:solidFill>
              </a:rPr>
              <a:t>— what does your data/AI stack and workflow look like right now?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6616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Recommendations  </a:t>
            </a:r>
            <a:r>
              <a:rPr sz="1200">
                <a:solidFill>
                  <a:srgbClr val="465266"/>
                </a:solidFill>
              </a:rPr>
              <a:t>— how do you measure recommendation quality today — offline, online, or both?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0624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Stakeholders  </a:t>
            </a:r>
            <a:r>
              <a:rPr sz="1200">
                <a:solidFill>
                  <a:srgbClr val="465266"/>
                </a:solidFill>
              </a:rPr>
              <a:t>— who are the key stakeholders, and how does the team partner with them?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4632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4632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The agile move  </a:t>
            </a:r>
            <a:r>
              <a:rPr sz="1200">
                <a:solidFill>
                  <a:srgbClr val="465266"/>
                </a:solidFill>
              </a:rPr>
              <a:t>— what's driving the shift to agile, and where's the friction so far?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1188720" cy="16459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0">
                <a:solidFill>
                  <a:srgbClr val="E8B246"/>
                </a:solidFill>
              </a:rPr>
              <a:t>I'd love to hear how your team works — and answer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247" y="4297680"/>
            <a:ext cx="7315200" cy="1691640"/>
          </a:xfrm>
          <a:prstGeom prst="roundRect">
            <a:avLst>
              <a:gd name="adj" fmla="val 4000"/>
            </a:avLst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38247" y="446227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E8B246"/>
                </a:solidFill>
              </a:rPr>
              <a:t>MOEIN RAZAVI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247" y="4800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razavi.moein94@gmail.com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5166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EEF4FC"/>
                </a:solidFill>
              </a:rPr>
              <a:t>(979) 676-7486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247" y="5532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EEF4FC"/>
                </a:solidFill>
              </a:rPr>
              <a:t>linkedin.com/in/moein-razavi  ·  github.com/moeinrazavi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1851</Words>
  <Application>Microsoft Macintosh PowerPoint</Application>
  <PresentationFormat>Widescreen</PresentationFormat>
  <Paragraphs>200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Razavi Ghods, Moein</cp:lastModifiedBy>
  <cp:revision>2</cp:revision>
  <dcterms:created xsi:type="dcterms:W3CDTF">2013-01-27T09:14:16Z</dcterms:created>
  <dcterms:modified xsi:type="dcterms:W3CDTF">2026-05-29T19:17:37Z</dcterms:modified>
  <cp:category/>
</cp:coreProperties>
</file>