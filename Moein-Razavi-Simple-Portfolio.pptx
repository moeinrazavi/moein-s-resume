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16" d="100"/>
          <a:sy n="116" d="100"/>
        </p:scale>
        <p:origin x="8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833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warm. Thank Ian. Tell him you'd like to walk through five real systems.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short. Speak the spirit; don't read the bullets.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Preview the five stories. Tell Ian he can stop me on any.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if Ian asks 'show me a concrete example'. Walk left → middle → right.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humble. These are patterns from work I've done, not claims about SGWS internals.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warm. Invite questions. Pause and listen.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ero.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D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331720"/>
            <a:ext cx="411480" cy="16459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697480"/>
            <a:ext cx="10515600" cy="1188720"/>
          </a:xfrm>
          <a:prstGeom prst="rect">
            <a:avLst/>
          </a:prstGeom>
          <a:noFill/>
        </p:spPr>
        <p:txBody>
          <a:bodyPr wrap="square" lIns="0" tIns="0" rIns="0" bIns="0">
            <a:spAutoFit/>
          </a:bodyPr>
          <a:lstStyle/>
          <a:p>
            <a:pPr algn="l"/>
            <a:r>
              <a:rPr sz="5600" b="1" i="0">
                <a:solidFill>
                  <a:srgbClr val="FFFFFF"/>
                </a:solidFill>
              </a:rPr>
              <a:t>Hi, I'm Moein.</a:t>
            </a:r>
          </a:p>
        </p:txBody>
      </p:sp>
      <p:sp>
        <p:nvSpPr>
          <p:cNvPr id="7" name="TextBox 6"/>
          <p:cNvSpPr txBox="1"/>
          <p:nvPr/>
        </p:nvSpPr>
        <p:spPr>
          <a:xfrm>
            <a:off x="777240" y="3886200"/>
            <a:ext cx="10515600" cy="548640"/>
          </a:xfrm>
          <a:prstGeom prst="rect">
            <a:avLst/>
          </a:prstGeom>
          <a:noFill/>
        </p:spPr>
        <p:txBody>
          <a:bodyPr wrap="square" lIns="0" tIns="0" rIns="0" bIns="0">
            <a:spAutoFit/>
          </a:bodyPr>
          <a:lstStyle/>
          <a:p>
            <a:pPr algn="l"/>
            <a:r>
              <a:rPr sz="2200" b="0" i="0">
                <a:solidFill>
                  <a:srgbClr val="EEF4FC"/>
                </a:solidFill>
              </a:rPr>
              <a:t>I build AI systems that work in the real world.</a:t>
            </a:r>
          </a:p>
        </p:txBody>
      </p:sp>
      <p:sp>
        <p:nvSpPr>
          <p:cNvPr id="8" name="TextBox 7"/>
          <p:cNvSpPr txBox="1"/>
          <p:nvPr/>
        </p:nvSpPr>
        <p:spPr>
          <a:xfrm>
            <a:off x="777240" y="4572000"/>
            <a:ext cx="10515600" cy="411480"/>
          </a:xfrm>
          <a:prstGeom prst="rect">
            <a:avLst/>
          </a:prstGeom>
          <a:noFill/>
        </p:spPr>
        <p:txBody>
          <a:bodyPr wrap="square" lIns="0" tIns="0" rIns="0" bIns="0">
            <a:spAutoFit/>
          </a:bodyPr>
          <a:lstStyle/>
          <a:p>
            <a:pPr algn="l"/>
            <a:r>
              <a:rPr sz="1600" b="0" i="1">
                <a:solidFill>
                  <a:srgbClr val="E8B246"/>
                </a:solidFill>
              </a:rPr>
              <a:t>Today I'd love to walk you through five of them.</a:t>
            </a:r>
          </a:p>
        </p:txBody>
      </p:sp>
      <p:sp>
        <p:nvSpPr>
          <p:cNvPr id="9" name="TextBox 8"/>
          <p:cNvSpPr txBox="1"/>
          <p:nvPr/>
        </p:nvSpPr>
        <p:spPr>
          <a:xfrm>
            <a:off x="777240" y="5943600"/>
            <a:ext cx="10515600" cy="320040"/>
          </a:xfrm>
          <a:prstGeom prst="rect">
            <a:avLst/>
          </a:prstGeom>
          <a:noFill/>
        </p:spPr>
        <p:txBody>
          <a:bodyPr wrap="square" lIns="0" tIns="0" rIns="0" bIns="0">
            <a:spAutoFit/>
          </a:bodyPr>
          <a:lstStyle/>
          <a:p>
            <a:pPr algn="l"/>
            <a:r>
              <a:rPr sz="1100" b="0" i="0">
                <a:solidFill>
                  <a:srgbClr val="EEF4FC"/>
                </a:solidFill>
              </a:rPr>
              <a:t>razavi.moein94@gmail.com  ·  linkedin.com/in/moein-razavi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10972800" cy="822960"/>
          </a:xfrm>
          <a:prstGeom prst="rect">
            <a:avLst/>
          </a:prstGeom>
          <a:noFill/>
        </p:spPr>
        <p:txBody>
          <a:bodyPr wrap="square" lIns="0" tIns="0" rIns="0" bIns="0">
            <a:spAutoFit/>
          </a:bodyPr>
          <a:lstStyle/>
          <a:p>
            <a:pPr algn="l"/>
            <a:r>
              <a:rPr sz="3200" b="1" i="0">
                <a:solidFill>
                  <a:srgbClr val="142A4E"/>
                </a:solidFill>
              </a:rPr>
              <a:t>A little about me</a:t>
            </a:r>
          </a:p>
        </p:txBody>
      </p:sp>
      <p:sp>
        <p:nvSpPr>
          <p:cNvPr id="4" name="TextBox 3"/>
          <p:cNvSpPr txBox="1"/>
          <p:nvPr/>
        </p:nvSpPr>
        <p:spPr>
          <a:xfrm>
            <a:off x="640080" y="1581912"/>
            <a:ext cx="10972800" cy="411480"/>
          </a:xfrm>
          <a:prstGeom prst="rect">
            <a:avLst/>
          </a:prstGeom>
          <a:noFill/>
        </p:spPr>
        <p:txBody>
          <a:bodyPr wrap="square" lIns="0" tIns="0" rIns="0" bIns="0">
            <a:spAutoFit/>
          </a:bodyPr>
          <a:lstStyle/>
          <a:p>
            <a:pPr algn="l"/>
            <a:r>
              <a:rPr sz="1400" b="0" i="0">
                <a:solidFill>
                  <a:srgbClr val="465266"/>
                </a:solidFill>
              </a:rPr>
              <a:t>Short version, in plain English.</a:t>
            </a:r>
          </a:p>
        </p:txBody>
      </p:sp>
      <p:sp>
        <p:nvSpPr>
          <p:cNvPr id="5" name="TextBox 4"/>
          <p:cNvSpPr txBox="1"/>
          <p:nvPr/>
        </p:nvSpPr>
        <p:spPr>
          <a:xfrm>
            <a:off x="640080" y="2194560"/>
            <a:ext cx="6858000" cy="1143903"/>
          </a:xfrm>
          <a:prstGeom prst="rect">
            <a:avLst/>
          </a:prstGeom>
          <a:noFill/>
        </p:spPr>
        <p:txBody>
          <a:bodyPr wrap="square" lIns="0" tIns="0" rIns="0" bIns="0">
            <a:spAutoFit/>
          </a:bodyPr>
          <a:lstStyle/>
          <a:p>
            <a:pPr>
              <a:spcAft>
                <a:spcPts val="1400"/>
              </a:spcAft>
            </a:pPr>
            <a:r>
              <a:rPr sz="1700" b="1" dirty="0">
                <a:solidFill>
                  <a:srgbClr val="E86050"/>
                </a:solidFill>
              </a:rPr>
              <a:t>•  </a:t>
            </a:r>
            <a:r>
              <a:rPr sz="1700" dirty="0">
                <a:solidFill>
                  <a:srgbClr val="1C2436"/>
                </a:solidFill>
              </a:rPr>
              <a:t>I'm a Senior AI/ML Engineer with a Ph.D. from Texas A&amp;M.</a:t>
            </a:r>
          </a:p>
          <a:p>
            <a:pPr>
              <a:spcAft>
                <a:spcPts val="1400"/>
              </a:spcAft>
            </a:pPr>
            <a:r>
              <a:rPr sz="1700" b="1" dirty="0">
                <a:solidFill>
                  <a:srgbClr val="E86050"/>
                </a:solidFill>
              </a:rPr>
              <a:t>•  </a:t>
            </a:r>
            <a:r>
              <a:rPr sz="1700" dirty="0">
                <a:solidFill>
                  <a:srgbClr val="1C2436"/>
                </a:solidFill>
              </a:rPr>
              <a:t>For the last few years I've been at Ford building production AI systems.</a:t>
            </a:r>
          </a:p>
          <a:p>
            <a:pPr>
              <a:spcAft>
                <a:spcPts val="1400"/>
              </a:spcAft>
            </a:pPr>
            <a:r>
              <a:rPr sz="1700" b="1" dirty="0">
                <a:solidFill>
                  <a:srgbClr val="E86050"/>
                </a:solidFill>
              </a:rPr>
              <a:t>•  </a:t>
            </a:r>
            <a:r>
              <a:rPr sz="1700" dirty="0">
                <a:solidFill>
                  <a:srgbClr val="1C2436"/>
                </a:solidFill>
              </a:rPr>
              <a:t>Today I'd like to walk you through five of them.</a:t>
            </a:r>
          </a:p>
        </p:txBody>
      </p:sp>
      <p:pic>
        <p:nvPicPr>
          <p:cNvPr id="6" name="Picture 5" descr="team.jpg"/>
          <p:cNvPicPr>
            <a:picLocks noChangeAspect="1"/>
          </p:cNvPicPr>
          <p:nvPr/>
        </p:nvPicPr>
        <p:blipFill>
          <a:blip r:embed="rId3"/>
          <a:stretch>
            <a:fillRect/>
          </a:stretch>
        </p:blipFill>
        <p:spPr>
          <a:xfrm>
            <a:off x="7863840" y="2194560"/>
            <a:ext cx="3749039" cy="4023360"/>
          </a:xfrm>
          <a:prstGeom prst="rect">
            <a:avLst/>
          </a:prstGeom>
        </p:spPr>
      </p:pic>
      <p:sp>
        <p:nvSpPr>
          <p:cNvPr id="7" name="Rectangle 6"/>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2 /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10972800" cy="822960"/>
          </a:xfrm>
          <a:prstGeom prst="rect">
            <a:avLst/>
          </a:prstGeom>
          <a:noFill/>
        </p:spPr>
        <p:txBody>
          <a:bodyPr wrap="square" lIns="0" tIns="0" rIns="0" bIns="0">
            <a:spAutoFit/>
          </a:bodyPr>
          <a:lstStyle/>
          <a:p>
            <a:pPr algn="l"/>
            <a:r>
              <a:rPr sz="3200" b="1" i="0">
                <a:solidFill>
                  <a:srgbClr val="142A4E"/>
                </a:solidFill>
              </a:rPr>
              <a:t>A few numbers, fast</a:t>
            </a:r>
          </a:p>
        </p:txBody>
      </p:sp>
      <p:sp>
        <p:nvSpPr>
          <p:cNvPr id="4" name="TextBox 3"/>
          <p:cNvSpPr txBox="1"/>
          <p:nvPr/>
        </p:nvSpPr>
        <p:spPr>
          <a:xfrm>
            <a:off x="640080" y="1581912"/>
            <a:ext cx="10972800" cy="411480"/>
          </a:xfrm>
          <a:prstGeom prst="rect">
            <a:avLst/>
          </a:prstGeom>
          <a:noFill/>
        </p:spPr>
        <p:txBody>
          <a:bodyPr wrap="square" lIns="0" tIns="0" rIns="0" bIns="0">
            <a:spAutoFit/>
          </a:bodyPr>
          <a:lstStyle/>
          <a:p>
            <a:pPr algn="l"/>
            <a:r>
              <a:rPr sz="1400" b="0" i="0">
                <a:solidFill>
                  <a:srgbClr val="465266"/>
                </a:solidFill>
              </a:rPr>
              <a:t>Things I've actually shipped to production at Ford.</a:t>
            </a:r>
          </a:p>
        </p:txBody>
      </p:sp>
      <p:sp>
        <p:nvSpPr>
          <p:cNvPr id="5" name="Rounded Rectangle 4"/>
          <p:cNvSpPr/>
          <p:nvPr/>
        </p:nvSpPr>
        <p:spPr>
          <a:xfrm>
            <a:off x="640080" y="2377440"/>
            <a:ext cx="2576322" cy="31089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377440"/>
            <a:ext cx="2576322"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743200"/>
            <a:ext cx="2027682" cy="1005840"/>
          </a:xfrm>
          <a:prstGeom prst="rect">
            <a:avLst/>
          </a:prstGeom>
          <a:noFill/>
        </p:spPr>
        <p:txBody>
          <a:bodyPr wrap="square" lIns="0" tIns="0" rIns="0" bIns="0">
            <a:spAutoFit/>
          </a:bodyPr>
          <a:lstStyle/>
          <a:p>
            <a:pPr algn="l"/>
            <a:r>
              <a:rPr sz="4200" b="1" i="0">
                <a:solidFill>
                  <a:srgbClr val="E86050"/>
                </a:solidFill>
              </a:rPr>
              <a:t>5</a:t>
            </a:r>
          </a:p>
        </p:txBody>
      </p:sp>
      <p:sp>
        <p:nvSpPr>
          <p:cNvPr id="8" name="TextBox 7"/>
          <p:cNvSpPr txBox="1"/>
          <p:nvPr/>
        </p:nvSpPr>
        <p:spPr>
          <a:xfrm>
            <a:off x="914400" y="3794760"/>
            <a:ext cx="2027682" cy="365760"/>
          </a:xfrm>
          <a:prstGeom prst="rect">
            <a:avLst/>
          </a:prstGeom>
          <a:noFill/>
        </p:spPr>
        <p:txBody>
          <a:bodyPr wrap="square" lIns="0" tIns="0" rIns="0" bIns="0">
            <a:spAutoFit/>
          </a:bodyPr>
          <a:lstStyle/>
          <a:p>
            <a:pPr algn="l"/>
            <a:r>
              <a:rPr sz="1400" b="1" i="0">
                <a:solidFill>
                  <a:srgbClr val="1C2436"/>
                </a:solidFill>
              </a:rPr>
              <a:t>Systems</a:t>
            </a:r>
          </a:p>
        </p:txBody>
      </p:sp>
      <p:sp>
        <p:nvSpPr>
          <p:cNvPr id="9" name="TextBox 8"/>
          <p:cNvSpPr txBox="1"/>
          <p:nvPr/>
        </p:nvSpPr>
        <p:spPr>
          <a:xfrm>
            <a:off x="914400" y="4206240"/>
            <a:ext cx="2027682" cy="1188720"/>
          </a:xfrm>
          <a:prstGeom prst="rect">
            <a:avLst/>
          </a:prstGeom>
          <a:noFill/>
        </p:spPr>
        <p:txBody>
          <a:bodyPr wrap="square" lIns="0" tIns="0" rIns="0" bIns="0">
            <a:spAutoFit/>
          </a:bodyPr>
          <a:lstStyle/>
          <a:p>
            <a:pPr algn="l"/>
            <a:r>
              <a:rPr sz="1200" b="0" i="0">
                <a:solidFill>
                  <a:srgbClr val="465266"/>
                </a:solidFill>
              </a:rPr>
              <a:t>End-to-end AI systems I've built and own at Ford.</a:t>
            </a:r>
          </a:p>
        </p:txBody>
      </p:sp>
      <p:sp>
        <p:nvSpPr>
          <p:cNvPr id="10" name="Rounded Rectangle 9"/>
          <p:cNvSpPr/>
          <p:nvPr/>
        </p:nvSpPr>
        <p:spPr>
          <a:xfrm>
            <a:off x="3417570" y="2377440"/>
            <a:ext cx="2576322" cy="31089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17570" y="2377440"/>
            <a:ext cx="2576322"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91890" y="2743200"/>
            <a:ext cx="2027682" cy="1005840"/>
          </a:xfrm>
          <a:prstGeom prst="rect">
            <a:avLst/>
          </a:prstGeom>
          <a:noFill/>
        </p:spPr>
        <p:txBody>
          <a:bodyPr wrap="square" lIns="0" tIns="0" rIns="0" bIns="0">
            <a:spAutoFit/>
          </a:bodyPr>
          <a:lstStyle/>
          <a:p>
            <a:pPr algn="l"/>
            <a:r>
              <a:rPr sz="4200" b="1" i="0">
                <a:solidFill>
                  <a:srgbClr val="142A4E"/>
                </a:solidFill>
              </a:rPr>
              <a:t>10</a:t>
            </a:r>
          </a:p>
        </p:txBody>
      </p:sp>
      <p:sp>
        <p:nvSpPr>
          <p:cNvPr id="13" name="TextBox 12"/>
          <p:cNvSpPr txBox="1"/>
          <p:nvPr/>
        </p:nvSpPr>
        <p:spPr>
          <a:xfrm>
            <a:off x="3691890" y="3794760"/>
            <a:ext cx="2027682" cy="365760"/>
          </a:xfrm>
          <a:prstGeom prst="rect">
            <a:avLst/>
          </a:prstGeom>
          <a:noFill/>
        </p:spPr>
        <p:txBody>
          <a:bodyPr wrap="square" lIns="0" tIns="0" rIns="0" bIns="0">
            <a:spAutoFit/>
          </a:bodyPr>
          <a:lstStyle/>
          <a:p>
            <a:pPr algn="l"/>
            <a:r>
              <a:rPr sz="1400" b="1" i="0">
                <a:solidFill>
                  <a:srgbClr val="1C2436"/>
                </a:solidFill>
              </a:rPr>
              <a:t>US States</a:t>
            </a:r>
          </a:p>
        </p:txBody>
      </p:sp>
      <p:sp>
        <p:nvSpPr>
          <p:cNvPr id="14" name="TextBox 13"/>
          <p:cNvSpPr txBox="1"/>
          <p:nvPr/>
        </p:nvSpPr>
        <p:spPr>
          <a:xfrm>
            <a:off x="3691890" y="4206240"/>
            <a:ext cx="2027682" cy="1188720"/>
          </a:xfrm>
          <a:prstGeom prst="rect">
            <a:avLst/>
          </a:prstGeom>
          <a:noFill/>
        </p:spPr>
        <p:txBody>
          <a:bodyPr wrap="square" lIns="0" tIns="0" rIns="0" bIns="0">
            <a:spAutoFit/>
          </a:bodyPr>
          <a:lstStyle/>
          <a:p>
            <a:pPr algn="l"/>
            <a:r>
              <a:rPr sz="1200" b="0" i="0">
                <a:solidFill>
                  <a:srgbClr val="465266"/>
                </a:solidFill>
              </a:rPr>
              <a:t>Where my chatbot is in production today.</a:t>
            </a:r>
          </a:p>
        </p:txBody>
      </p:sp>
      <p:sp>
        <p:nvSpPr>
          <p:cNvPr id="15" name="Rounded Rectangle 14"/>
          <p:cNvSpPr/>
          <p:nvPr/>
        </p:nvSpPr>
        <p:spPr>
          <a:xfrm>
            <a:off x="6195060" y="2377440"/>
            <a:ext cx="2576322" cy="31089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95060" y="2377440"/>
            <a:ext cx="2576322"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69380" y="2743200"/>
            <a:ext cx="2027682" cy="1005840"/>
          </a:xfrm>
          <a:prstGeom prst="rect">
            <a:avLst/>
          </a:prstGeom>
          <a:noFill/>
        </p:spPr>
        <p:txBody>
          <a:bodyPr wrap="square" lIns="0" tIns="0" rIns="0" bIns="0">
            <a:spAutoFit/>
          </a:bodyPr>
          <a:lstStyle/>
          <a:p>
            <a:pPr algn="l"/>
            <a:r>
              <a:rPr sz="4200" b="1" i="0">
                <a:solidFill>
                  <a:srgbClr val="3498A2"/>
                </a:solidFill>
              </a:rPr>
              <a:t>35%</a:t>
            </a:r>
          </a:p>
        </p:txBody>
      </p:sp>
      <p:sp>
        <p:nvSpPr>
          <p:cNvPr id="18" name="TextBox 17"/>
          <p:cNvSpPr txBox="1"/>
          <p:nvPr/>
        </p:nvSpPr>
        <p:spPr>
          <a:xfrm>
            <a:off x="6469380" y="3794760"/>
            <a:ext cx="2027682" cy="365760"/>
          </a:xfrm>
          <a:prstGeom prst="rect">
            <a:avLst/>
          </a:prstGeom>
          <a:noFill/>
        </p:spPr>
        <p:txBody>
          <a:bodyPr wrap="square" lIns="0" tIns="0" rIns="0" bIns="0">
            <a:spAutoFit/>
          </a:bodyPr>
          <a:lstStyle/>
          <a:p>
            <a:pPr algn="l"/>
            <a:r>
              <a:rPr sz="1400" b="1" i="0">
                <a:solidFill>
                  <a:srgbClr val="1C2436"/>
                </a:solidFill>
              </a:rPr>
              <a:t>Faster</a:t>
            </a:r>
          </a:p>
        </p:txBody>
      </p:sp>
      <p:sp>
        <p:nvSpPr>
          <p:cNvPr id="19" name="TextBox 18"/>
          <p:cNvSpPr txBox="1"/>
          <p:nvPr/>
        </p:nvSpPr>
        <p:spPr>
          <a:xfrm>
            <a:off x="6469380" y="4206240"/>
            <a:ext cx="2027682" cy="1188720"/>
          </a:xfrm>
          <a:prstGeom prst="rect">
            <a:avLst/>
          </a:prstGeom>
          <a:noFill/>
        </p:spPr>
        <p:txBody>
          <a:bodyPr wrap="square" lIns="0" tIns="0" rIns="0" bIns="0">
            <a:spAutoFit/>
          </a:bodyPr>
          <a:lstStyle/>
          <a:p>
            <a:pPr algn="l"/>
            <a:r>
              <a:rPr sz="1200" b="0" i="0">
                <a:solidFill>
                  <a:srgbClr val="465266"/>
                </a:solidFill>
              </a:rPr>
              <a:t>End-to-end latency cut on the chatbot.</a:t>
            </a:r>
          </a:p>
        </p:txBody>
      </p:sp>
      <p:sp>
        <p:nvSpPr>
          <p:cNvPr id="20" name="Rounded Rectangle 19"/>
          <p:cNvSpPr/>
          <p:nvPr/>
        </p:nvSpPr>
        <p:spPr>
          <a:xfrm>
            <a:off x="8972550" y="2377440"/>
            <a:ext cx="2576322" cy="31089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972550" y="2377440"/>
            <a:ext cx="2576322" cy="73152"/>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46870" y="2743200"/>
            <a:ext cx="2027682" cy="1005840"/>
          </a:xfrm>
          <a:prstGeom prst="rect">
            <a:avLst/>
          </a:prstGeom>
          <a:noFill/>
        </p:spPr>
        <p:txBody>
          <a:bodyPr wrap="square" lIns="0" tIns="0" rIns="0" bIns="0">
            <a:spAutoFit/>
          </a:bodyPr>
          <a:lstStyle/>
          <a:p>
            <a:pPr algn="l"/>
            <a:r>
              <a:rPr sz="4200" b="1" i="0">
                <a:solidFill>
                  <a:srgbClr val="E8B246"/>
                </a:solidFill>
              </a:rPr>
              <a:t>99.9%</a:t>
            </a:r>
          </a:p>
        </p:txBody>
      </p:sp>
      <p:sp>
        <p:nvSpPr>
          <p:cNvPr id="23" name="TextBox 22"/>
          <p:cNvSpPr txBox="1"/>
          <p:nvPr/>
        </p:nvSpPr>
        <p:spPr>
          <a:xfrm>
            <a:off x="9246870" y="3794760"/>
            <a:ext cx="2027682" cy="365760"/>
          </a:xfrm>
          <a:prstGeom prst="rect">
            <a:avLst/>
          </a:prstGeom>
          <a:noFill/>
        </p:spPr>
        <p:txBody>
          <a:bodyPr wrap="square" lIns="0" tIns="0" rIns="0" bIns="0">
            <a:spAutoFit/>
          </a:bodyPr>
          <a:lstStyle/>
          <a:p>
            <a:pPr algn="l"/>
            <a:r>
              <a:rPr sz="1400" b="1" i="0">
                <a:solidFill>
                  <a:srgbClr val="1C2436"/>
                </a:solidFill>
              </a:rPr>
              <a:t>Uptime</a:t>
            </a:r>
          </a:p>
        </p:txBody>
      </p:sp>
      <p:sp>
        <p:nvSpPr>
          <p:cNvPr id="24" name="TextBox 23"/>
          <p:cNvSpPr txBox="1"/>
          <p:nvPr/>
        </p:nvSpPr>
        <p:spPr>
          <a:xfrm>
            <a:off x="9246870" y="4206240"/>
            <a:ext cx="2027682" cy="1188720"/>
          </a:xfrm>
          <a:prstGeom prst="rect">
            <a:avLst/>
          </a:prstGeom>
          <a:noFill/>
        </p:spPr>
        <p:txBody>
          <a:bodyPr wrap="square" lIns="0" tIns="0" rIns="0" bIns="0">
            <a:spAutoFit/>
          </a:bodyPr>
          <a:lstStyle/>
          <a:p>
            <a:pPr algn="l"/>
            <a:r>
              <a:rPr sz="1200" b="0" i="0">
                <a:solidFill>
                  <a:srgbClr val="465266"/>
                </a:solidFill>
              </a:rPr>
              <a:t>On my production AI platform on GCP.</a:t>
            </a:r>
          </a:p>
        </p:txBody>
      </p:sp>
      <p:sp>
        <p:nvSpPr>
          <p:cNvPr id="25" name="Rectangle 24"/>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3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10972800" cy="822960"/>
          </a:xfrm>
          <a:prstGeom prst="rect">
            <a:avLst/>
          </a:prstGeom>
          <a:noFill/>
        </p:spPr>
        <p:txBody>
          <a:bodyPr wrap="square" lIns="0" tIns="0" rIns="0" bIns="0">
            <a:spAutoFit/>
          </a:bodyPr>
          <a:lstStyle/>
          <a:p>
            <a:pPr algn="l"/>
            <a:r>
              <a:rPr sz="3200" b="1" i="0">
                <a:solidFill>
                  <a:srgbClr val="142A4E"/>
                </a:solidFill>
              </a:rPr>
              <a:t>Five stories I'd love to share</a:t>
            </a:r>
          </a:p>
        </p:txBody>
      </p:sp>
      <p:sp>
        <p:nvSpPr>
          <p:cNvPr id="4" name="TextBox 3"/>
          <p:cNvSpPr txBox="1"/>
          <p:nvPr/>
        </p:nvSpPr>
        <p:spPr>
          <a:xfrm>
            <a:off x="640080" y="1581912"/>
            <a:ext cx="10972800" cy="411480"/>
          </a:xfrm>
          <a:prstGeom prst="rect">
            <a:avLst/>
          </a:prstGeom>
          <a:noFill/>
        </p:spPr>
        <p:txBody>
          <a:bodyPr wrap="square" lIns="0" tIns="0" rIns="0" bIns="0">
            <a:spAutoFit/>
          </a:bodyPr>
          <a:lstStyle/>
          <a:p>
            <a:pPr algn="l"/>
            <a:r>
              <a:rPr sz="1400" b="0" i="0">
                <a:solidFill>
                  <a:srgbClr val="465266"/>
                </a:solidFill>
              </a:rPr>
              <a:t>Each one is a real Ford system. Each has a clear before and after.</a:t>
            </a:r>
          </a:p>
        </p:txBody>
      </p:sp>
      <p:sp>
        <p:nvSpPr>
          <p:cNvPr id="5" name="Rounded Rectangle 4"/>
          <p:cNvSpPr/>
          <p:nvPr/>
        </p:nvSpPr>
        <p:spPr>
          <a:xfrm>
            <a:off x="640080" y="2331720"/>
            <a:ext cx="2050084" cy="35661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331720"/>
            <a:ext cx="2050084"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606040"/>
            <a:ext cx="1592884" cy="365760"/>
          </a:xfrm>
          <a:prstGeom prst="rect">
            <a:avLst/>
          </a:prstGeom>
          <a:noFill/>
        </p:spPr>
        <p:txBody>
          <a:bodyPr wrap="square" lIns="0" tIns="0" rIns="0" bIns="0">
            <a:spAutoFit/>
          </a:bodyPr>
          <a:lstStyle/>
          <a:p>
            <a:pPr algn="l"/>
            <a:r>
              <a:rPr sz="1000" b="1" i="0">
                <a:solidFill>
                  <a:srgbClr val="E86050"/>
                </a:solidFill>
              </a:rPr>
              <a:t>STORY 1</a:t>
            </a:r>
          </a:p>
        </p:txBody>
      </p:sp>
      <p:sp>
        <p:nvSpPr>
          <p:cNvPr id="8" name="TextBox 7"/>
          <p:cNvSpPr txBox="1"/>
          <p:nvPr/>
        </p:nvSpPr>
        <p:spPr>
          <a:xfrm>
            <a:off x="868680" y="3017520"/>
            <a:ext cx="1592884" cy="1280160"/>
          </a:xfrm>
          <a:prstGeom prst="rect">
            <a:avLst/>
          </a:prstGeom>
          <a:noFill/>
        </p:spPr>
        <p:txBody>
          <a:bodyPr wrap="square" lIns="0" tIns="0" rIns="0" bIns="0">
            <a:spAutoFit/>
          </a:bodyPr>
          <a:lstStyle/>
          <a:p>
            <a:pPr algn="l"/>
            <a:r>
              <a:rPr sz="1500" b="1" i="0">
                <a:solidFill>
                  <a:srgbClr val="142A4E"/>
                </a:solidFill>
              </a:rPr>
              <a:t>ESA-FR Chatbot</a:t>
            </a:r>
          </a:p>
        </p:txBody>
      </p:sp>
      <p:sp>
        <p:nvSpPr>
          <p:cNvPr id="9" name="TextBox 8"/>
          <p:cNvSpPr txBox="1"/>
          <p:nvPr/>
        </p:nvSpPr>
        <p:spPr>
          <a:xfrm>
            <a:off x="868680" y="4251960"/>
            <a:ext cx="1592884" cy="1508760"/>
          </a:xfrm>
          <a:prstGeom prst="rect">
            <a:avLst/>
          </a:prstGeom>
          <a:noFill/>
        </p:spPr>
        <p:txBody>
          <a:bodyPr wrap="square" lIns="0" tIns="0" rIns="0" bIns="0">
            <a:spAutoFit/>
          </a:bodyPr>
          <a:lstStyle/>
          <a:p>
            <a:pPr algn="l"/>
            <a:r>
              <a:rPr sz="1200" b="0" i="0">
                <a:solidFill>
                  <a:srgbClr val="465266"/>
                </a:solidFill>
              </a:rPr>
              <a:t>Multi-agent chatbot for Ford EV analytics (router + SQL + docs + checker).</a:t>
            </a:r>
          </a:p>
        </p:txBody>
      </p:sp>
      <p:sp>
        <p:nvSpPr>
          <p:cNvPr id="10" name="Rounded Rectangle 9"/>
          <p:cNvSpPr/>
          <p:nvPr/>
        </p:nvSpPr>
        <p:spPr>
          <a:xfrm>
            <a:off x="2854756" y="2331720"/>
            <a:ext cx="2050084" cy="35661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54756" y="2331720"/>
            <a:ext cx="2050084"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83356" y="2606040"/>
            <a:ext cx="1592884" cy="365760"/>
          </a:xfrm>
          <a:prstGeom prst="rect">
            <a:avLst/>
          </a:prstGeom>
          <a:noFill/>
        </p:spPr>
        <p:txBody>
          <a:bodyPr wrap="square" lIns="0" tIns="0" rIns="0" bIns="0">
            <a:spAutoFit/>
          </a:bodyPr>
          <a:lstStyle/>
          <a:p>
            <a:pPr algn="l"/>
            <a:r>
              <a:rPr sz="1000" b="1" i="0">
                <a:solidFill>
                  <a:srgbClr val="142A4E"/>
                </a:solidFill>
              </a:rPr>
              <a:t>STORY 2</a:t>
            </a:r>
          </a:p>
        </p:txBody>
      </p:sp>
      <p:sp>
        <p:nvSpPr>
          <p:cNvPr id="13" name="TextBox 12"/>
          <p:cNvSpPr txBox="1"/>
          <p:nvPr/>
        </p:nvSpPr>
        <p:spPr>
          <a:xfrm>
            <a:off x="3083356" y="3017520"/>
            <a:ext cx="1592884" cy="1280160"/>
          </a:xfrm>
          <a:prstGeom prst="rect">
            <a:avLst/>
          </a:prstGeom>
          <a:noFill/>
        </p:spPr>
        <p:txBody>
          <a:bodyPr wrap="square" lIns="0" tIns="0" rIns="0" bIns="0">
            <a:spAutoFit/>
          </a:bodyPr>
          <a:lstStyle/>
          <a:p>
            <a:pPr algn="l"/>
            <a:r>
              <a:rPr sz="1500" b="1" i="0">
                <a:solidFill>
                  <a:srgbClr val="142A4E"/>
                </a:solidFill>
              </a:rPr>
              <a:t>HOMELOAD</a:t>
            </a:r>
          </a:p>
        </p:txBody>
      </p:sp>
      <p:sp>
        <p:nvSpPr>
          <p:cNvPr id="14" name="TextBox 13"/>
          <p:cNvSpPr txBox="1"/>
          <p:nvPr/>
        </p:nvSpPr>
        <p:spPr>
          <a:xfrm>
            <a:off x="3083356" y="4251960"/>
            <a:ext cx="1592884" cy="1508760"/>
          </a:xfrm>
          <a:prstGeom prst="rect">
            <a:avLst/>
          </a:prstGeom>
          <a:noFill/>
        </p:spPr>
        <p:txBody>
          <a:bodyPr wrap="square" lIns="0" tIns="0" rIns="0" bIns="0">
            <a:spAutoFit/>
          </a:bodyPr>
          <a:lstStyle/>
          <a:p>
            <a:pPr algn="l"/>
            <a:r>
              <a:rPr sz="1200" b="0" i="0">
                <a:solidFill>
                  <a:srgbClr val="465266"/>
                </a:solidFill>
              </a:rPr>
              <a:t>Turns any utility file (CSV/Excel/PDF/XML) into one clean format.</a:t>
            </a:r>
          </a:p>
        </p:txBody>
      </p:sp>
      <p:sp>
        <p:nvSpPr>
          <p:cNvPr id="15" name="Rounded Rectangle 14"/>
          <p:cNvSpPr/>
          <p:nvPr/>
        </p:nvSpPr>
        <p:spPr>
          <a:xfrm>
            <a:off x="5069433" y="2331720"/>
            <a:ext cx="2050084" cy="35661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69433" y="2331720"/>
            <a:ext cx="2050084"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98033" y="2606040"/>
            <a:ext cx="1592884" cy="365760"/>
          </a:xfrm>
          <a:prstGeom prst="rect">
            <a:avLst/>
          </a:prstGeom>
          <a:noFill/>
        </p:spPr>
        <p:txBody>
          <a:bodyPr wrap="square" lIns="0" tIns="0" rIns="0" bIns="0">
            <a:spAutoFit/>
          </a:bodyPr>
          <a:lstStyle/>
          <a:p>
            <a:pPr algn="l"/>
            <a:r>
              <a:rPr sz="1000" b="1" i="0">
                <a:solidFill>
                  <a:srgbClr val="3498A2"/>
                </a:solidFill>
              </a:rPr>
              <a:t>STORY 3</a:t>
            </a:r>
          </a:p>
        </p:txBody>
      </p:sp>
      <p:sp>
        <p:nvSpPr>
          <p:cNvPr id="18" name="TextBox 17"/>
          <p:cNvSpPr txBox="1"/>
          <p:nvPr/>
        </p:nvSpPr>
        <p:spPr>
          <a:xfrm>
            <a:off x="5298033" y="3017520"/>
            <a:ext cx="1592884" cy="1280160"/>
          </a:xfrm>
          <a:prstGeom prst="rect">
            <a:avLst/>
          </a:prstGeom>
          <a:noFill/>
        </p:spPr>
        <p:txBody>
          <a:bodyPr wrap="square" lIns="0" tIns="0" rIns="0" bIns="0">
            <a:spAutoFit/>
          </a:bodyPr>
          <a:lstStyle/>
          <a:p>
            <a:pPr algn="l"/>
            <a:r>
              <a:rPr sz="1500" b="1" i="0">
                <a:solidFill>
                  <a:srgbClr val="142A4E"/>
                </a:solidFill>
              </a:rPr>
              <a:t>V2G Dispatch</a:t>
            </a:r>
          </a:p>
        </p:txBody>
      </p:sp>
      <p:sp>
        <p:nvSpPr>
          <p:cNvPr id="19" name="TextBox 18"/>
          <p:cNvSpPr txBox="1"/>
          <p:nvPr/>
        </p:nvSpPr>
        <p:spPr>
          <a:xfrm>
            <a:off x="5298033" y="4251960"/>
            <a:ext cx="1592884" cy="1508760"/>
          </a:xfrm>
          <a:prstGeom prst="rect">
            <a:avLst/>
          </a:prstGeom>
          <a:noFill/>
        </p:spPr>
        <p:txBody>
          <a:bodyPr wrap="square" lIns="0" tIns="0" rIns="0" bIns="0">
            <a:spAutoFit/>
          </a:bodyPr>
          <a:lstStyle/>
          <a:p>
            <a:pPr algn="l"/>
            <a:r>
              <a:rPr sz="1200" b="0" i="0">
                <a:solidFill>
                  <a:srgbClr val="465266"/>
                </a:solidFill>
              </a:rPr>
              <a:t>Real-time system that uses Ford EVs as a fleet power source for the grid.</a:t>
            </a:r>
          </a:p>
        </p:txBody>
      </p:sp>
      <p:sp>
        <p:nvSpPr>
          <p:cNvPr id="20" name="Rounded Rectangle 19"/>
          <p:cNvSpPr/>
          <p:nvPr/>
        </p:nvSpPr>
        <p:spPr>
          <a:xfrm>
            <a:off x="7284110" y="2331720"/>
            <a:ext cx="2050084" cy="35661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284110" y="2331720"/>
            <a:ext cx="2050084" cy="73152"/>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12710" y="2606040"/>
            <a:ext cx="1592884" cy="365760"/>
          </a:xfrm>
          <a:prstGeom prst="rect">
            <a:avLst/>
          </a:prstGeom>
          <a:noFill/>
        </p:spPr>
        <p:txBody>
          <a:bodyPr wrap="square" lIns="0" tIns="0" rIns="0" bIns="0">
            <a:spAutoFit/>
          </a:bodyPr>
          <a:lstStyle/>
          <a:p>
            <a:pPr algn="l"/>
            <a:r>
              <a:rPr sz="1000" b="1" i="0">
                <a:solidFill>
                  <a:srgbClr val="965A9E"/>
                </a:solidFill>
              </a:rPr>
              <a:t>STORY 4</a:t>
            </a:r>
          </a:p>
        </p:txBody>
      </p:sp>
      <p:sp>
        <p:nvSpPr>
          <p:cNvPr id="23" name="TextBox 22"/>
          <p:cNvSpPr txBox="1"/>
          <p:nvPr/>
        </p:nvSpPr>
        <p:spPr>
          <a:xfrm>
            <a:off x="7512710" y="3017520"/>
            <a:ext cx="1592884" cy="1280160"/>
          </a:xfrm>
          <a:prstGeom prst="rect">
            <a:avLst/>
          </a:prstGeom>
          <a:noFill/>
        </p:spPr>
        <p:txBody>
          <a:bodyPr wrap="square" lIns="0" tIns="0" rIns="0" bIns="0">
            <a:spAutoFit/>
          </a:bodyPr>
          <a:lstStyle/>
          <a:p>
            <a:pPr algn="l"/>
            <a:r>
              <a:rPr sz="1500" b="1" i="0">
                <a:solidFill>
                  <a:srgbClr val="142A4E"/>
                </a:solidFill>
              </a:rPr>
              <a:t>CPA Action Prioritizer</a:t>
            </a:r>
          </a:p>
        </p:txBody>
      </p:sp>
      <p:sp>
        <p:nvSpPr>
          <p:cNvPr id="24" name="TextBox 23"/>
          <p:cNvSpPr txBox="1"/>
          <p:nvPr/>
        </p:nvSpPr>
        <p:spPr>
          <a:xfrm>
            <a:off x="7512710" y="4251960"/>
            <a:ext cx="1592884" cy="1508760"/>
          </a:xfrm>
          <a:prstGeom prst="rect">
            <a:avLst/>
          </a:prstGeom>
          <a:noFill/>
        </p:spPr>
        <p:txBody>
          <a:bodyPr wrap="square" lIns="0" tIns="0" rIns="0" bIns="0">
            <a:spAutoFit/>
          </a:bodyPr>
          <a:lstStyle/>
          <a:p>
            <a:pPr algn="l"/>
            <a:r>
              <a:rPr sz="1200" b="0" i="0">
                <a:solidFill>
                  <a:srgbClr val="465266"/>
                </a:solidFill>
              </a:rPr>
              <a:t>4-stage ADK agent that scores actions against a rubric.</a:t>
            </a:r>
          </a:p>
        </p:txBody>
      </p:sp>
      <p:sp>
        <p:nvSpPr>
          <p:cNvPr id="25" name="Rounded Rectangle 24"/>
          <p:cNvSpPr/>
          <p:nvPr/>
        </p:nvSpPr>
        <p:spPr>
          <a:xfrm>
            <a:off x="9498787" y="2331720"/>
            <a:ext cx="2050084" cy="356616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498787" y="2331720"/>
            <a:ext cx="2050084" cy="73152"/>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27387" y="2606040"/>
            <a:ext cx="1592884" cy="365760"/>
          </a:xfrm>
          <a:prstGeom prst="rect">
            <a:avLst/>
          </a:prstGeom>
          <a:noFill/>
        </p:spPr>
        <p:txBody>
          <a:bodyPr wrap="square" lIns="0" tIns="0" rIns="0" bIns="0">
            <a:spAutoFit/>
          </a:bodyPr>
          <a:lstStyle/>
          <a:p>
            <a:pPr algn="l"/>
            <a:r>
              <a:rPr sz="1000" b="1" i="0">
                <a:solidFill>
                  <a:srgbClr val="E8B246"/>
                </a:solidFill>
              </a:rPr>
              <a:t>STORY 5</a:t>
            </a:r>
          </a:p>
        </p:txBody>
      </p:sp>
      <p:sp>
        <p:nvSpPr>
          <p:cNvPr id="28" name="TextBox 27"/>
          <p:cNvSpPr txBox="1"/>
          <p:nvPr/>
        </p:nvSpPr>
        <p:spPr>
          <a:xfrm>
            <a:off x="9727387" y="3017520"/>
            <a:ext cx="1592884" cy="1280160"/>
          </a:xfrm>
          <a:prstGeom prst="rect">
            <a:avLst/>
          </a:prstGeom>
          <a:noFill/>
        </p:spPr>
        <p:txBody>
          <a:bodyPr wrap="square" lIns="0" tIns="0" rIns="0" bIns="0">
            <a:spAutoFit/>
          </a:bodyPr>
          <a:lstStyle/>
          <a:p>
            <a:pPr algn="l"/>
            <a:r>
              <a:rPr sz="1500" b="1" i="0">
                <a:solidFill>
                  <a:srgbClr val="142A4E"/>
                </a:solidFill>
              </a:rPr>
              <a:t>Code Complexity Analyzer</a:t>
            </a:r>
          </a:p>
        </p:txBody>
      </p:sp>
      <p:sp>
        <p:nvSpPr>
          <p:cNvPr id="29" name="TextBox 28"/>
          <p:cNvSpPr txBox="1"/>
          <p:nvPr/>
        </p:nvSpPr>
        <p:spPr>
          <a:xfrm>
            <a:off x="9727387" y="4251960"/>
            <a:ext cx="1592884" cy="1508760"/>
          </a:xfrm>
          <a:prstGeom prst="rect">
            <a:avLst/>
          </a:prstGeom>
          <a:noFill/>
        </p:spPr>
        <p:txBody>
          <a:bodyPr wrap="square" lIns="0" tIns="0" rIns="0" bIns="0">
            <a:spAutoFit/>
          </a:bodyPr>
          <a:lstStyle/>
          <a:p>
            <a:pPr algn="l"/>
            <a:r>
              <a:rPr sz="1200" b="0" i="0">
                <a:solidFill>
                  <a:srgbClr val="465266"/>
                </a:solidFill>
              </a:rPr>
              <a:t>Reads a GitHub repo, rates Big-O, estimates Vertex AI cost.</a:t>
            </a:r>
          </a:p>
        </p:txBody>
      </p:sp>
      <p:sp>
        <p:nvSpPr>
          <p:cNvPr id="30" name="Rectangle 29"/>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4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E86050"/>
                </a:solidFill>
              </a:rPr>
              <a:t>STORY 1 OF 5</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An AI assistant for Ford EV teams</a:t>
            </a:r>
          </a:p>
        </p:txBody>
      </p:sp>
      <p:sp>
        <p:nvSpPr>
          <p:cNvPr id="5" name="Rounded Rectangle 4"/>
          <p:cNvSpPr/>
          <p:nvPr/>
        </p:nvSpPr>
        <p:spPr>
          <a:xfrm>
            <a:off x="640080"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03120"/>
            <a:ext cx="3483864"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2377440"/>
            <a:ext cx="411480" cy="411480"/>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377440"/>
            <a:ext cx="411480" cy="411480"/>
          </a:xfrm>
          <a:prstGeom prst="rect">
            <a:avLst/>
          </a:prstGeom>
          <a:noFill/>
        </p:spPr>
        <p:txBody>
          <a:bodyPr wrap="square" lIns="0" tIns="0" rIns="0" bIns="0" anchor="ctr">
            <a:spAutoFit/>
          </a:bodyPr>
          <a:lstStyle/>
          <a:p>
            <a:pPr algn="ctr"/>
            <a:r>
              <a:rPr sz="1400" b="1" i="0">
                <a:solidFill>
                  <a:srgbClr val="FFFFFF"/>
                </a:solidFill>
              </a:rPr>
              <a:t>1</a:t>
            </a:r>
          </a:p>
        </p:txBody>
      </p:sp>
      <p:sp>
        <p:nvSpPr>
          <p:cNvPr id="9" name="TextBox 8"/>
          <p:cNvSpPr txBox="1"/>
          <p:nvPr/>
        </p:nvSpPr>
        <p:spPr>
          <a:xfrm>
            <a:off x="1508760" y="2414016"/>
            <a:ext cx="2478024" cy="365760"/>
          </a:xfrm>
          <a:prstGeom prst="rect">
            <a:avLst/>
          </a:prstGeom>
          <a:noFill/>
        </p:spPr>
        <p:txBody>
          <a:bodyPr wrap="square" lIns="0" tIns="0" rIns="0" bIns="0">
            <a:spAutoFit/>
          </a:bodyPr>
          <a:lstStyle/>
          <a:p>
            <a:pPr algn="l"/>
            <a:r>
              <a:rPr sz="1100" b="1" i="0">
                <a:solidFill>
                  <a:srgbClr val="E86050"/>
                </a:solidFill>
              </a:rPr>
              <a:t>THE PROBLEM</a:t>
            </a:r>
          </a:p>
        </p:txBody>
      </p:sp>
      <p:sp>
        <p:nvSpPr>
          <p:cNvPr id="10" name="TextBox 9"/>
          <p:cNvSpPr txBox="1"/>
          <p:nvPr/>
        </p:nvSpPr>
        <p:spPr>
          <a:xfrm>
            <a:off x="960120" y="2971800"/>
            <a:ext cx="2843784" cy="2377440"/>
          </a:xfrm>
          <a:prstGeom prst="rect">
            <a:avLst/>
          </a:prstGeom>
          <a:noFill/>
        </p:spPr>
        <p:txBody>
          <a:bodyPr wrap="square" lIns="0" tIns="0" rIns="0" bIns="0">
            <a:spAutoFit/>
          </a:bodyPr>
          <a:lstStyle/>
          <a:p>
            <a:pPr algn="l"/>
            <a:r>
              <a:rPr sz="1300" b="0" i="0">
                <a:solidFill>
                  <a:srgbClr val="1C2436"/>
                </a:solidFill>
              </a:rPr>
              <a:t>Ford EV analytics teams across 10 US states had to dig through different BigQuery tables and PDF manuals just to answer simple questions about EV pilot programs, rate plans, or F-150 Lightning specs. Every new question meant an engineering ticket.</a:t>
            </a:r>
          </a:p>
        </p:txBody>
      </p:sp>
      <p:sp>
        <p:nvSpPr>
          <p:cNvPr id="11" name="Rounded Rectangle 10"/>
          <p:cNvSpPr/>
          <p:nvPr/>
        </p:nvSpPr>
        <p:spPr>
          <a:xfrm>
            <a:off x="4352544"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2103120"/>
            <a:ext cx="3483864"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72584" y="2377440"/>
            <a:ext cx="411480" cy="411480"/>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72584" y="2377440"/>
            <a:ext cx="411480" cy="411480"/>
          </a:xfrm>
          <a:prstGeom prst="rect">
            <a:avLst/>
          </a:prstGeom>
          <a:noFill/>
        </p:spPr>
        <p:txBody>
          <a:bodyPr wrap="square" lIns="0" tIns="0" rIns="0" bIns="0" anchor="ctr">
            <a:spAutoFit/>
          </a:bodyPr>
          <a:lstStyle/>
          <a:p>
            <a:pPr algn="ctr"/>
            <a:r>
              <a:rPr sz="1400" b="1" i="0">
                <a:solidFill>
                  <a:srgbClr val="FFFFFF"/>
                </a:solidFill>
              </a:rPr>
              <a:t>2</a:t>
            </a:r>
          </a:p>
        </p:txBody>
      </p:sp>
      <p:sp>
        <p:nvSpPr>
          <p:cNvPr id="15" name="TextBox 14"/>
          <p:cNvSpPr txBox="1"/>
          <p:nvPr/>
        </p:nvSpPr>
        <p:spPr>
          <a:xfrm>
            <a:off x="5221224" y="2414016"/>
            <a:ext cx="2478024" cy="365760"/>
          </a:xfrm>
          <a:prstGeom prst="rect">
            <a:avLst/>
          </a:prstGeom>
          <a:noFill/>
        </p:spPr>
        <p:txBody>
          <a:bodyPr wrap="square" lIns="0" tIns="0" rIns="0" bIns="0">
            <a:spAutoFit/>
          </a:bodyPr>
          <a:lstStyle/>
          <a:p>
            <a:pPr algn="l"/>
            <a:r>
              <a:rPr sz="1100" b="1" i="0">
                <a:solidFill>
                  <a:srgbClr val="142A4E"/>
                </a:solidFill>
              </a:rPr>
              <a:t>WHAT I BUILT</a:t>
            </a:r>
          </a:p>
        </p:txBody>
      </p:sp>
      <p:sp>
        <p:nvSpPr>
          <p:cNvPr id="16" name="TextBox 15"/>
          <p:cNvSpPr txBox="1"/>
          <p:nvPr/>
        </p:nvSpPr>
        <p:spPr>
          <a:xfrm>
            <a:off x="4672584" y="2971800"/>
            <a:ext cx="2843784" cy="2377440"/>
          </a:xfrm>
          <a:prstGeom prst="rect">
            <a:avLst/>
          </a:prstGeom>
          <a:noFill/>
        </p:spPr>
        <p:txBody>
          <a:bodyPr wrap="square" lIns="0" tIns="0" rIns="0" bIns="0">
            <a:spAutoFit/>
          </a:bodyPr>
          <a:lstStyle/>
          <a:p>
            <a:pPr algn="l"/>
            <a:r>
              <a:rPr sz="1300" b="0" i="0">
                <a:solidFill>
                  <a:srgbClr val="1C2436"/>
                </a:solidFill>
              </a:rPr>
              <a:t>I built a multi-agent chatbot. A smart router (rules + LLM) reads the question and picks 1 of 6 routes. A SQL Agent writes BigQuery for analytics questions. A Document Agent searches the F-150 manual + specs + EV docs. A Small Talk Agent handles greetings. A Checker agent reviews every answer for domain rules before it goes out.</a:t>
            </a:r>
          </a:p>
        </p:txBody>
      </p:sp>
      <p:sp>
        <p:nvSpPr>
          <p:cNvPr id="17" name="Rounded Rectangle 16"/>
          <p:cNvSpPr/>
          <p:nvPr/>
        </p:nvSpPr>
        <p:spPr>
          <a:xfrm>
            <a:off x="8065008"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5008" y="2103120"/>
            <a:ext cx="3483864"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85048" y="2377440"/>
            <a:ext cx="411480" cy="411480"/>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5048" y="2377440"/>
            <a:ext cx="411480" cy="411480"/>
          </a:xfrm>
          <a:prstGeom prst="rect">
            <a:avLst/>
          </a:prstGeom>
          <a:noFill/>
        </p:spPr>
        <p:txBody>
          <a:bodyPr wrap="square" lIns="0" tIns="0" rIns="0" bIns="0" anchor="ctr">
            <a:spAutoFit/>
          </a:bodyPr>
          <a:lstStyle/>
          <a:p>
            <a:pPr algn="ctr"/>
            <a:r>
              <a:rPr sz="1400" b="1" i="0">
                <a:solidFill>
                  <a:srgbClr val="FFFFFF"/>
                </a:solidFill>
              </a:rPr>
              <a:t>3</a:t>
            </a:r>
          </a:p>
        </p:txBody>
      </p:sp>
      <p:sp>
        <p:nvSpPr>
          <p:cNvPr id="21" name="TextBox 20"/>
          <p:cNvSpPr txBox="1"/>
          <p:nvPr/>
        </p:nvSpPr>
        <p:spPr>
          <a:xfrm>
            <a:off x="8933688" y="2414016"/>
            <a:ext cx="2478024" cy="365760"/>
          </a:xfrm>
          <a:prstGeom prst="rect">
            <a:avLst/>
          </a:prstGeom>
          <a:noFill/>
        </p:spPr>
        <p:txBody>
          <a:bodyPr wrap="square" lIns="0" tIns="0" rIns="0" bIns="0">
            <a:spAutoFit/>
          </a:bodyPr>
          <a:lstStyle/>
          <a:p>
            <a:pPr algn="l"/>
            <a:r>
              <a:rPr sz="1100" b="1" i="0">
                <a:solidFill>
                  <a:srgbClr val="3498A2"/>
                </a:solidFill>
              </a:rPr>
              <a:t>WHAT CHANGED</a:t>
            </a:r>
          </a:p>
        </p:txBody>
      </p:sp>
      <p:sp>
        <p:nvSpPr>
          <p:cNvPr id="22" name="TextBox 21"/>
          <p:cNvSpPr txBox="1"/>
          <p:nvPr/>
        </p:nvSpPr>
        <p:spPr>
          <a:xfrm>
            <a:off x="8385048" y="2971800"/>
            <a:ext cx="2843784" cy="2377440"/>
          </a:xfrm>
          <a:prstGeom prst="rect">
            <a:avLst/>
          </a:prstGeom>
          <a:noFill/>
        </p:spPr>
        <p:txBody>
          <a:bodyPr wrap="square" lIns="0" tIns="0" rIns="0" bIns="0">
            <a:spAutoFit/>
          </a:bodyPr>
          <a:lstStyle/>
          <a:p>
            <a:pPr algn="l"/>
            <a:r>
              <a:rPr sz="1300" b="0" i="0">
                <a:solidFill>
                  <a:srgbClr val="1C2436"/>
                </a:solidFill>
              </a:rPr>
              <a:t>End-to-end latency cut by 35%. In daily use across 10 US states. Teams self-serve — no more tickets, and every answer is grounded in real data, not invented.</a:t>
            </a:r>
          </a:p>
        </p:txBody>
      </p:sp>
      <p:sp>
        <p:nvSpPr>
          <p:cNvPr id="23" name="TextBox 22"/>
          <p:cNvSpPr txBox="1"/>
          <p:nvPr/>
        </p:nvSpPr>
        <p:spPr>
          <a:xfrm>
            <a:off x="0" y="5669280"/>
            <a:ext cx="12191695" cy="320040"/>
          </a:xfrm>
          <a:prstGeom prst="rect">
            <a:avLst/>
          </a:prstGeom>
          <a:noFill/>
        </p:spPr>
        <p:txBody>
          <a:bodyPr wrap="square" lIns="0" tIns="0" rIns="0" bIns="0">
            <a:spAutoFit/>
          </a:bodyPr>
          <a:lstStyle/>
          <a:p>
            <a:pPr algn="ctr"/>
            <a:r>
              <a:rPr sz="1100" b="0" i="1">
                <a:solidFill>
                  <a:srgbClr val="E86050"/>
                </a:solidFill>
              </a:rPr>
              <a:t>Next slide: how it actually works  ↓</a:t>
            </a:r>
          </a:p>
        </p:txBody>
      </p:sp>
      <p:sp>
        <p:nvSpPr>
          <p:cNvPr id="24" name="Rectangle 23"/>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5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E86050"/>
                </a:solidFill>
              </a:rPr>
              <a:t>STORY 1 · UNDER THE HOOD</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An AI assistant for Ford EV teams</a:t>
            </a:r>
          </a:p>
        </p:txBody>
      </p:sp>
      <p:sp>
        <p:nvSpPr>
          <p:cNvPr id="5" name="TextBox 4"/>
          <p:cNvSpPr txBox="1"/>
          <p:nvPr/>
        </p:nvSpPr>
        <p:spPr>
          <a:xfrm>
            <a:off x="640080" y="1801368"/>
            <a:ext cx="10972800" cy="411480"/>
          </a:xfrm>
          <a:prstGeom prst="rect">
            <a:avLst/>
          </a:prstGeom>
          <a:noFill/>
        </p:spPr>
        <p:txBody>
          <a:bodyPr wrap="square" lIns="0" tIns="0" rIns="0" bIns="0">
            <a:spAutoFit/>
          </a:bodyPr>
          <a:lstStyle/>
          <a:p>
            <a:pPr algn="l"/>
            <a:r>
              <a:rPr sz="1400" b="0" i="0">
                <a:solidFill>
                  <a:srgbClr val="465266"/>
                </a:solidFill>
              </a:rPr>
              <a:t>How it works inside, in plain English.</a:t>
            </a:r>
          </a:p>
        </p:txBody>
      </p:sp>
      <p:sp>
        <p:nvSpPr>
          <p:cNvPr id="6" name="TextBox 5"/>
          <p:cNvSpPr txBox="1"/>
          <p:nvPr/>
        </p:nvSpPr>
        <p:spPr>
          <a:xfrm>
            <a:off x="640080" y="1965960"/>
            <a:ext cx="7315200" cy="274320"/>
          </a:xfrm>
          <a:prstGeom prst="rect">
            <a:avLst/>
          </a:prstGeom>
          <a:noFill/>
        </p:spPr>
        <p:txBody>
          <a:bodyPr wrap="square" lIns="0" tIns="0" rIns="0" bIns="0">
            <a:spAutoFit/>
          </a:bodyPr>
          <a:lstStyle/>
          <a:p>
            <a:pPr algn="l"/>
            <a:r>
              <a:rPr sz="1100" b="1" i="0">
                <a:solidFill>
                  <a:srgbClr val="E86050"/>
                </a:solidFill>
              </a:rPr>
              <a:t>THE WORKFLOW</a:t>
            </a:r>
          </a:p>
        </p:txBody>
      </p:sp>
      <p:sp>
        <p:nvSpPr>
          <p:cNvPr id="7" name="Rounded Rectangle 6"/>
          <p:cNvSpPr/>
          <p:nvPr/>
        </p:nvSpPr>
        <p:spPr>
          <a:xfrm>
            <a:off x="64008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40280"/>
            <a:ext cx="1696212"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2423160"/>
            <a:ext cx="347472" cy="347472"/>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47472" cy="347472"/>
          </a:xfrm>
          <a:prstGeom prst="rect">
            <a:avLst/>
          </a:prstGeom>
          <a:noFill/>
        </p:spPr>
        <p:txBody>
          <a:bodyPr wrap="square" lIns="0" tIns="0" rIns="0" bIns="0" anchor="ctr">
            <a:spAutoFit/>
          </a:bodyPr>
          <a:lstStyle/>
          <a:p>
            <a:pPr algn="ctr"/>
            <a:r>
              <a:rPr sz="1100" b="1" i="0">
                <a:solidFill>
                  <a:srgbClr val="FFFFFF"/>
                </a:solidFill>
              </a:rPr>
              <a:t>1</a:t>
            </a:r>
          </a:p>
        </p:txBody>
      </p:sp>
      <p:sp>
        <p:nvSpPr>
          <p:cNvPr id="11" name="TextBox 10"/>
          <p:cNvSpPr txBox="1"/>
          <p:nvPr/>
        </p:nvSpPr>
        <p:spPr>
          <a:xfrm>
            <a:off x="1188720" y="2423160"/>
            <a:ext cx="1010412" cy="320040"/>
          </a:xfrm>
          <a:prstGeom prst="rect">
            <a:avLst/>
          </a:prstGeom>
          <a:noFill/>
        </p:spPr>
        <p:txBody>
          <a:bodyPr wrap="square" lIns="0" tIns="0" rIns="0" bIns="0">
            <a:spAutoFit/>
          </a:bodyPr>
          <a:lstStyle/>
          <a:p>
            <a:pPr algn="l"/>
            <a:r>
              <a:rPr sz="1100" b="1" i="0">
                <a:solidFill>
                  <a:srgbClr val="142A4E"/>
                </a:solidFill>
              </a:rPr>
              <a:t>Small Talk</a:t>
            </a:r>
          </a:p>
        </p:txBody>
      </p:sp>
      <p:sp>
        <p:nvSpPr>
          <p:cNvPr id="12" name="TextBox 11"/>
          <p:cNvSpPr txBox="1"/>
          <p:nvPr/>
        </p:nvSpPr>
        <p:spPr>
          <a:xfrm>
            <a:off x="804672" y="2834640"/>
            <a:ext cx="1367028" cy="640080"/>
          </a:xfrm>
          <a:prstGeom prst="rect">
            <a:avLst/>
          </a:prstGeom>
          <a:noFill/>
        </p:spPr>
        <p:txBody>
          <a:bodyPr wrap="square" lIns="0" tIns="0" rIns="0" bIns="0">
            <a:spAutoFit/>
          </a:bodyPr>
          <a:lstStyle/>
          <a:p>
            <a:pPr algn="l"/>
            <a:r>
              <a:rPr sz="850" b="0" i="0">
                <a:solidFill>
                  <a:srgbClr val="465266"/>
                </a:solidFill>
              </a:rPr>
              <a:t>Greetings handled by templates (no AI)</a:t>
            </a:r>
          </a:p>
        </p:txBody>
      </p:sp>
      <p:sp>
        <p:nvSpPr>
          <p:cNvPr id="13" name="Right Arrow 12"/>
          <p:cNvSpPr/>
          <p:nvPr/>
        </p:nvSpPr>
        <p:spPr>
          <a:xfrm>
            <a:off x="2340864" y="2811780"/>
            <a:ext cx="137160" cy="182880"/>
          </a:xfrm>
          <a:prstGeom prst="rightArrow">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82596"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82596" y="2240280"/>
            <a:ext cx="1696212"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1468" y="2423160"/>
            <a:ext cx="347472" cy="347472"/>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1468" y="2423160"/>
            <a:ext cx="347472" cy="347472"/>
          </a:xfrm>
          <a:prstGeom prst="rect">
            <a:avLst/>
          </a:prstGeom>
          <a:noFill/>
        </p:spPr>
        <p:txBody>
          <a:bodyPr wrap="square" lIns="0" tIns="0" rIns="0" bIns="0" anchor="ctr">
            <a:spAutoFit/>
          </a:bodyPr>
          <a:lstStyle/>
          <a:p>
            <a:pPr algn="ctr"/>
            <a:r>
              <a:rPr sz="1100" b="1" i="0">
                <a:solidFill>
                  <a:srgbClr val="FFFFFF"/>
                </a:solidFill>
              </a:rPr>
              <a:t>2</a:t>
            </a:r>
          </a:p>
        </p:txBody>
      </p:sp>
      <p:sp>
        <p:nvSpPr>
          <p:cNvPr id="18" name="TextBox 17"/>
          <p:cNvSpPr txBox="1"/>
          <p:nvPr/>
        </p:nvSpPr>
        <p:spPr>
          <a:xfrm>
            <a:off x="3031236" y="2423160"/>
            <a:ext cx="1010412" cy="320040"/>
          </a:xfrm>
          <a:prstGeom prst="rect">
            <a:avLst/>
          </a:prstGeom>
          <a:noFill/>
        </p:spPr>
        <p:txBody>
          <a:bodyPr wrap="square" lIns="0" tIns="0" rIns="0" bIns="0">
            <a:spAutoFit/>
          </a:bodyPr>
          <a:lstStyle/>
          <a:p>
            <a:pPr algn="l"/>
            <a:r>
              <a:rPr sz="1100" b="1" i="0">
                <a:solidFill>
                  <a:srgbClr val="142A4E"/>
                </a:solidFill>
              </a:rPr>
              <a:t>Intent Proc.</a:t>
            </a:r>
          </a:p>
        </p:txBody>
      </p:sp>
      <p:sp>
        <p:nvSpPr>
          <p:cNvPr id="19" name="TextBox 18"/>
          <p:cNvSpPr txBox="1"/>
          <p:nvPr/>
        </p:nvSpPr>
        <p:spPr>
          <a:xfrm>
            <a:off x="2647188" y="2834640"/>
            <a:ext cx="1367028" cy="640080"/>
          </a:xfrm>
          <a:prstGeom prst="rect">
            <a:avLst/>
          </a:prstGeom>
          <a:noFill/>
        </p:spPr>
        <p:txBody>
          <a:bodyPr wrap="square" lIns="0" tIns="0" rIns="0" bIns="0">
            <a:spAutoFit/>
          </a:bodyPr>
          <a:lstStyle/>
          <a:p>
            <a:pPr algn="l"/>
            <a:r>
              <a:rPr sz="850" b="0" i="0">
                <a:solidFill>
                  <a:srgbClr val="465266"/>
                </a:solidFill>
              </a:rPr>
              <a:t>Translates 'my truck' to 'Ford F-150'</a:t>
            </a:r>
          </a:p>
        </p:txBody>
      </p:sp>
      <p:sp>
        <p:nvSpPr>
          <p:cNvPr id="20" name="Right Arrow 19"/>
          <p:cNvSpPr/>
          <p:nvPr/>
        </p:nvSpPr>
        <p:spPr>
          <a:xfrm>
            <a:off x="4183380" y="2811780"/>
            <a:ext cx="137160" cy="182880"/>
          </a:xfrm>
          <a:prstGeom prst="rightArrow">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25112"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25112" y="2240280"/>
            <a:ext cx="1696212"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43984" y="2423160"/>
            <a:ext cx="347472" cy="347472"/>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3984" y="2423160"/>
            <a:ext cx="347472" cy="347472"/>
          </a:xfrm>
          <a:prstGeom prst="rect">
            <a:avLst/>
          </a:prstGeom>
          <a:noFill/>
        </p:spPr>
        <p:txBody>
          <a:bodyPr wrap="square" lIns="0" tIns="0" rIns="0" bIns="0" anchor="ctr">
            <a:spAutoFit/>
          </a:bodyPr>
          <a:lstStyle/>
          <a:p>
            <a:pPr algn="ctr"/>
            <a:r>
              <a:rPr sz="1100" b="1" i="0">
                <a:solidFill>
                  <a:srgbClr val="FFFFFF"/>
                </a:solidFill>
              </a:rPr>
              <a:t>3</a:t>
            </a:r>
          </a:p>
        </p:txBody>
      </p:sp>
      <p:sp>
        <p:nvSpPr>
          <p:cNvPr id="25" name="TextBox 24"/>
          <p:cNvSpPr txBox="1"/>
          <p:nvPr/>
        </p:nvSpPr>
        <p:spPr>
          <a:xfrm>
            <a:off x="4873752" y="2423160"/>
            <a:ext cx="1010412" cy="320040"/>
          </a:xfrm>
          <a:prstGeom prst="rect">
            <a:avLst/>
          </a:prstGeom>
          <a:noFill/>
        </p:spPr>
        <p:txBody>
          <a:bodyPr wrap="square" lIns="0" tIns="0" rIns="0" bIns="0">
            <a:spAutoFit/>
          </a:bodyPr>
          <a:lstStyle/>
          <a:p>
            <a:pPr algn="l"/>
            <a:r>
              <a:rPr sz="1100" b="1" i="0">
                <a:solidFill>
                  <a:srgbClr val="142A4E"/>
                </a:solidFill>
              </a:rPr>
              <a:t>Query Proc.</a:t>
            </a:r>
          </a:p>
        </p:txBody>
      </p:sp>
      <p:sp>
        <p:nvSpPr>
          <p:cNvPr id="26" name="TextBox 25"/>
          <p:cNvSpPr txBox="1"/>
          <p:nvPr/>
        </p:nvSpPr>
        <p:spPr>
          <a:xfrm>
            <a:off x="4489704" y="2834640"/>
            <a:ext cx="1367028" cy="640080"/>
          </a:xfrm>
          <a:prstGeom prst="rect">
            <a:avLst/>
          </a:prstGeom>
          <a:noFill/>
        </p:spPr>
        <p:txBody>
          <a:bodyPr wrap="square" lIns="0" tIns="0" rIns="0" bIns="0">
            <a:spAutoFit/>
          </a:bodyPr>
          <a:lstStyle/>
          <a:p>
            <a:pPr algn="l"/>
            <a:r>
              <a:rPr sz="850" b="0" i="0">
                <a:solidFill>
                  <a:srgbClr val="465266"/>
                </a:solidFill>
              </a:rPr>
              <a:t>Normalizes EV synonyms (V2H, V2G, etc.)</a:t>
            </a:r>
          </a:p>
        </p:txBody>
      </p:sp>
      <p:sp>
        <p:nvSpPr>
          <p:cNvPr id="27" name="Right Arrow 26"/>
          <p:cNvSpPr/>
          <p:nvPr/>
        </p:nvSpPr>
        <p:spPr>
          <a:xfrm>
            <a:off x="6025896" y="2811780"/>
            <a:ext cx="137160" cy="182880"/>
          </a:xfrm>
          <a:prstGeom prst="rightArrow">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67628"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67628" y="2240280"/>
            <a:ext cx="1696212"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86500" y="2423160"/>
            <a:ext cx="347472" cy="347472"/>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86500" y="2423160"/>
            <a:ext cx="347472" cy="347472"/>
          </a:xfrm>
          <a:prstGeom prst="rect">
            <a:avLst/>
          </a:prstGeom>
          <a:noFill/>
        </p:spPr>
        <p:txBody>
          <a:bodyPr wrap="square" lIns="0" tIns="0" rIns="0" bIns="0" anchor="ctr">
            <a:spAutoFit/>
          </a:bodyPr>
          <a:lstStyle/>
          <a:p>
            <a:pPr algn="ctr"/>
            <a:r>
              <a:rPr sz="1100" b="1" i="0">
                <a:solidFill>
                  <a:srgbClr val="FFFFFF"/>
                </a:solidFill>
              </a:rPr>
              <a:t>4</a:t>
            </a:r>
          </a:p>
        </p:txBody>
      </p:sp>
      <p:sp>
        <p:nvSpPr>
          <p:cNvPr id="32" name="TextBox 31"/>
          <p:cNvSpPr txBox="1"/>
          <p:nvPr/>
        </p:nvSpPr>
        <p:spPr>
          <a:xfrm>
            <a:off x="6716268" y="2423160"/>
            <a:ext cx="1010412" cy="320040"/>
          </a:xfrm>
          <a:prstGeom prst="rect">
            <a:avLst/>
          </a:prstGeom>
          <a:noFill/>
        </p:spPr>
        <p:txBody>
          <a:bodyPr wrap="square" lIns="0" tIns="0" rIns="0" bIns="0">
            <a:spAutoFit/>
          </a:bodyPr>
          <a:lstStyle/>
          <a:p>
            <a:pPr algn="l"/>
            <a:r>
              <a:rPr sz="1100" b="1" i="0">
                <a:solidFill>
                  <a:srgbClr val="142A4E"/>
                </a:solidFill>
              </a:rPr>
              <a:t>LLM Decider</a:t>
            </a:r>
          </a:p>
        </p:txBody>
      </p:sp>
      <p:sp>
        <p:nvSpPr>
          <p:cNvPr id="33" name="TextBox 32"/>
          <p:cNvSpPr txBox="1"/>
          <p:nvPr/>
        </p:nvSpPr>
        <p:spPr>
          <a:xfrm>
            <a:off x="6332220" y="2834640"/>
            <a:ext cx="1367028" cy="640080"/>
          </a:xfrm>
          <a:prstGeom prst="rect">
            <a:avLst/>
          </a:prstGeom>
          <a:noFill/>
        </p:spPr>
        <p:txBody>
          <a:bodyPr wrap="square" lIns="0" tIns="0" rIns="0" bIns="0">
            <a:spAutoFit/>
          </a:bodyPr>
          <a:lstStyle/>
          <a:p>
            <a:pPr algn="l"/>
            <a:r>
              <a:rPr sz="850" b="0" i="0">
                <a:solidFill>
                  <a:srgbClr val="465266"/>
                </a:solidFill>
              </a:rPr>
              <a:t>Rules + AI pick 1 of 6 routes</a:t>
            </a:r>
          </a:p>
        </p:txBody>
      </p:sp>
      <p:sp>
        <p:nvSpPr>
          <p:cNvPr id="34" name="Right Arrow 33"/>
          <p:cNvSpPr/>
          <p:nvPr/>
        </p:nvSpPr>
        <p:spPr>
          <a:xfrm>
            <a:off x="7868412" y="2811780"/>
            <a:ext cx="137160" cy="182880"/>
          </a:xfrm>
          <a:prstGeom prst="rightArrow">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10144"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10144" y="2240280"/>
            <a:ext cx="1696212"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29016" y="2423160"/>
            <a:ext cx="347472" cy="347472"/>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29016" y="2423160"/>
            <a:ext cx="347472" cy="347472"/>
          </a:xfrm>
          <a:prstGeom prst="rect">
            <a:avLst/>
          </a:prstGeom>
          <a:noFill/>
        </p:spPr>
        <p:txBody>
          <a:bodyPr wrap="square" lIns="0" tIns="0" rIns="0" bIns="0" anchor="ctr">
            <a:spAutoFit/>
          </a:bodyPr>
          <a:lstStyle/>
          <a:p>
            <a:pPr algn="ctr"/>
            <a:r>
              <a:rPr sz="1100" b="1" i="0">
                <a:solidFill>
                  <a:srgbClr val="FFFFFF"/>
                </a:solidFill>
              </a:rPr>
              <a:t>5</a:t>
            </a:r>
          </a:p>
        </p:txBody>
      </p:sp>
      <p:sp>
        <p:nvSpPr>
          <p:cNvPr id="39" name="TextBox 38"/>
          <p:cNvSpPr txBox="1"/>
          <p:nvPr/>
        </p:nvSpPr>
        <p:spPr>
          <a:xfrm>
            <a:off x="8558784" y="2423160"/>
            <a:ext cx="1010412" cy="320040"/>
          </a:xfrm>
          <a:prstGeom prst="rect">
            <a:avLst/>
          </a:prstGeom>
          <a:noFill/>
        </p:spPr>
        <p:txBody>
          <a:bodyPr wrap="square" lIns="0" tIns="0" rIns="0" bIns="0">
            <a:spAutoFit/>
          </a:bodyPr>
          <a:lstStyle/>
          <a:p>
            <a:pPr algn="l"/>
            <a:r>
              <a:rPr sz="1100" b="1" i="0">
                <a:solidFill>
                  <a:srgbClr val="142A4E"/>
                </a:solidFill>
              </a:rPr>
              <a:t>SQL or Doc Agent</a:t>
            </a:r>
          </a:p>
        </p:txBody>
      </p:sp>
      <p:sp>
        <p:nvSpPr>
          <p:cNvPr id="40" name="TextBox 39"/>
          <p:cNvSpPr txBox="1"/>
          <p:nvPr/>
        </p:nvSpPr>
        <p:spPr>
          <a:xfrm>
            <a:off x="8174736" y="2834640"/>
            <a:ext cx="1367028" cy="640080"/>
          </a:xfrm>
          <a:prstGeom prst="rect">
            <a:avLst/>
          </a:prstGeom>
          <a:noFill/>
        </p:spPr>
        <p:txBody>
          <a:bodyPr wrap="square" lIns="0" tIns="0" rIns="0" bIns="0">
            <a:spAutoFit/>
          </a:bodyPr>
          <a:lstStyle/>
          <a:p>
            <a:pPr algn="l"/>
            <a:r>
              <a:rPr sz="850" b="0" i="0">
                <a:solidFill>
                  <a:srgbClr val="465266"/>
                </a:solidFill>
              </a:rPr>
              <a:t>Specialist runs the query</a:t>
            </a:r>
          </a:p>
        </p:txBody>
      </p:sp>
      <p:sp>
        <p:nvSpPr>
          <p:cNvPr id="41" name="Right Arrow 40"/>
          <p:cNvSpPr/>
          <p:nvPr/>
        </p:nvSpPr>
        <p:spPr>
          <a:xfrm>
            <a:off x="9710928" y="2811780"/>
            <a:ext cx="137160" cy="182880"/>
          </a:xfrm>
          <a:prstGeom prst="rightArrow">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85266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852660" y="2240280"/>
            <a:ext cx="1696212"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971532" y="2423160"/>
            <a:ext cx="347472" cy="347472"/>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1532" y="2423160"/>
            <a:ext cx="347472" cy="347472"/>
          </a:xfrm>
          <a:prstGeom prst="rect">
            <a:avLst/>
          </a:prstGeom>
          <a:noFill/>
        </p:spPr>
        <p:txBody>
          <a:bodyPr wrap="square" lIns="0" tIns="0" rIns="0" bIns="0" anchor="ctr">
            <a:spAutoFit/>
          </a:bodyPr>
          <a:lstStyle/>
          <a:p>
            <a:pPr algn="ctr"/>
            <a:r>
              <a:rPr sz="1100" b="1" i="0">
                <a:solidFill>
                  <a:srgbClr val="FFFFFF"/>
                </a:solidFill>
              </a:rPr>
              <a:t>6</a:t>
            </a:r>
          </a:p>
        </p:txBody>
      </p:sp>
      <p:sp>
        <p:nvSpPr>
          <p:cNvPr id="46" name="TextBox 45"/>
          <p:cNvSpPr txBox="1"/>
          <p:nvPr/>
        </p:nvSpPr>
        <p:spPr>
          <a:xfrm>
            <a:off x="10401300" y="2423160"/>
            <a:ext cx="1010412" cy="320040"/>
          </a:xfrm>
          <a:prstGeom prst="rect">
            <a:avLst/>
          </a:prstGeom>
          <a:noFill/>
        </p:spPr>
        <p:txBody>
          <a:bodyPr wrap="square" lIns="0" tIns="0" rIns="0" bIns="0">
            <a:spAutoFit/>
          </a:bodyPr>
          <a:lstStyle/>
          <a:p>
            <a:pPr algn="l"/>
            <a:r>
              <a:rPr sz="1100" b="1" i="0">
                <a:solidFill>
                  <a:srgbClr val="142A4E"/>
                </a:solidFill>
              </a:rPr>
              <a:t>Checker</a:t>
            </a:r>
          </a:p>
        </p:txBody>
      </p:sp>
      <p:sp>
        <p:nvSpPr>
          <p:cNvPr id="47" name="TextBox 46"/>
          <p:cNvSpPr txBox="1"/>
          <p:nvPr/>
        </p:nvSpPr>
        <p:spPr>
          <a:xfrm>
            <a:off x="10017252" y="2834640"/>
            <a:ext cx="1367028" cy="640080"/>
          </a:xfrm>
          <a:prstGeom prst="rect">
            <a:avLst/>
          </a:prstGeom>
          <a:noFill/>
        </p:spPr>
        <p:txBody>
          <a:bodyPr wrap="square" lIns="0" tIns="0" rIns="0" bIns="0">
            <a:spAutoFit/>
          </a:bodyPr>
          <a:lstStyle/>
          <a:p>
            <a:pPr algn="l"/>
            <a:r>
              <a:rPr sz="850" b="0" i="0">
                <a:solidFill>
                  <a:srgbClr val="465266"/>
                </a:solidFill>
              </a:rPr>
              <a:t>Grades the answer for domain rules</a:t>
            </a:r>
          </a:p>
        </p:txBody>
      </p:sp>
      <p:sp>
        <p:nvSpPr>
          <p:cNvPr id="48" name="Rounded Rectangle 47"/>
          <p:cNvSpPr/>
          <p:nvPr/>
        </p:nvSpPr>
        <p:spPr>
          <a:xfrm>
            <a:off x="640080" y="3840480"/>
            <a:ext cx="6583680"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40080" y="3840480"/>
            <a:ext cx="73152" cy="2423160"/>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023360"/>
            <a:ext cx="6126480" cy="320040"/>
          </a:xfrm>
          <a:prstGeom prst="rect">
            <a:avLst/>
          </a:prstGeom>
          <a:noFill/>
        </p:spPr>
        <p:txBody>
          <a:bodyPr wrap="square" lIns="0" tIns="0" rIns="0" bIns="0">
            <a:spAutoFit/>
          </a:bodyPr>
          <a:lstStyle/>
          <a:p>
            <a:pPr algn="l"/>
            <a:r>
              <a:rPr sz="1100" b="1" i="0">
                <a:solidFill>
                  <a:srgbClr val="E86050"/>
                </a:solidFill>
              </a:rPr>
              <a:t>WHAT EACH PART DOES</a:t>
            </a:r>
          </a:p>
        </p:txBody>
      </p:sp>
      <p:sp>
        <p:nvSpPr>
          <p:cNvPr id="51" name="TextBox 50"/>
          <p:cNvSpPr txBox="1"/>
          <p:nvPr/>
        </p:nvSpPr>
        <p:spPr>
          <a:xfrm>
            <a:off x="914400" y="4389120"/>
            <a:ext cx="6126480" cy="1737360"/>
          </a:xfrm>
          <a:prstGeom prst="rect">
            <a:avLst/>
          </a:prstGeom>
          <a:noFill/>
        </p:spPr>
        <p:txBody>
          <a:bodyPr wrap="square" lIns="0" tIns="0" rIns="0" bIns="0">
            <a:spAutoFit/>
          </a:bodyPr>
          <a:lstStyle/>
          <a:p>
            <a:pPr>
              <a:spcAft>
                <a:spcPts val="400"/>
              </a:spcAft>
            </a:pPr>
            <a:r>
              <a:rPr sz="1100" b="1">
                <a:solidFill>
                  <a:srgbClr val="142A4E"/>
                </a:solidFill>
              </a:rPr>
              <a:t>LLM Decider  </a:t>
            </a:r>
            <a:r>
              <a:rPr sz="1050">
                <a:solidFill>
                  <a:srgbClr val="465266"/>
                </a:solidFill>
              </a:rPr>
              <a:t> — hybrid rules + LLM router. Picks 1 of 6 labels (table, F-150 specs, F-150 manual, general doc, small talk, irrelevant).</a:t>
            </a:r>
          </a:p>
          <a:p>
            <a:pPr>
              <a:spcAft>
                <a:spcPts val="400"/>
              </a:spcAft>
            </a:pPr>
            <a:r>
              <a:rPr sz="1100" b="1">
                <a:solidFill>
                  <a:srgbClr val="142A4E"/>
                </a:solidFill>
              </a:rPr>
              <a:t>SQL Agent  </a:t>
            </a:r>
            <a:r>
              <a:rPr sz="1050">
                <a:solidFill>
                  <a:srgbClr val="465266"/>
                </a:solidFill>
              </a:rPr>
              <a:t> — turns the question into a BigQuery query using the live schema + 15+ example queries. Applies the weekly→monthly 4.33 rule.</a:t>
            </a:r>
          </a:p>
          <a:p>
            <a:pPr>
              <a:spcAft>
                <a:spcPts val="400"/>
              </a:spcAft>
            </a:pPr>
            <a:r>
              <a:rPr sz="1100" b="1">
                <a:solidFill>
                  <a:srgbClr val="142A4E"/>
                </a:solidFill>
              </a:rPr>
              <a:t>Document Agent  </a:t>
            </a:r>
            <a:r>
              <a:rPr sz="1050">
                <a:solidFill>
                  <a:srgbClr val="465266"/>
                </a:solidFill>
              </a:rPr>
              <a:t> — keyword search (BM25) over 3 documents: F-150 Lightning specs, 2023 F-150 Owner's Manual, and a general EV doc.</a:t>
            </a:r>
          </a:p>
          <a:p>
            <a:pPr>
              <a:spcAft>
                <a:spcPts val="400"/>
              </a:spcAft>
            </a:pPr>
            <a:r>
              <a:rPr sz="1100" b="1">
                <a:solidFill>
                  <a:srgbClr val="142A4E"/>
                </a:solidFill>
              </a:rPr>
              <a:t>Small Talk Agent  </a:t>
            </a:r>
            <a:r>
              <a:rPr sz="1050">
                <a:solidFill>
                  <a:srgbClr val="465266"/>
                </a:solidFill>
              </a:rPr>
              <a:t> — handles 'hi' and 'thanks' with text templates. No AI call needed.</a:t>
            </a:r>
          </a:p>
          <a:p>
            <a:pPr>
              <a:spcAft>
                <a:spcPts val="400"/>
              </a:spcAft>
            </a:pPr>
            <a:r>
              <a:rPr sz="1100" b="1">
                <a:solidFill>
                  <a:srgbClr val="142A4E"/>
                </a:solidFill>
              </a:rPr>
              <a:t>Checker  </a:t>
            </a:r>
            <a:r>
              <a:rPr sz="1050">
                <a:solidFill>
                  <a:srgbClr val="465266"/>
                </a:solidFill>
              </a:rPr>
              <a:t> — a separate LLM grades the answer against domain rules. Returns VERIFIED or NEEDS_CORRECTION.</a:t>
            </a:r>
          </a:p>
          <a:p>
            <a:pPr>
              <a:spcAft>
                <a:spcPts val="400"/>
              </a:spcAft>
            </a:pPr>
            <a:r>
              <a:rPr sz="1100" b="1">
                <a:solidFill>
                  <a:srgbClr val="142A4E"/>
                </a:solidFill>
              </a:rPr>
              <a:t>Context Manager  </a:t>
            </a:r>
            <a:r>
              <a:rPr sz="1050">
                <a:solidFill>
                  <a:srgbClr val="465266"/>
                </a:solidFill>
              </a:rPr>
              <a:t> — remembers the last 20 messages, the user's state, treatment, and rate.</a:t>
            </a:r>
          </a:p>
        </p:txBody>
      </p:sp>
      <p:sp>
        <p:nvSpPr>
          <p:cNvPr id="52" name="Rounded Rectangle 51"/>
          <p:cNvSpPr/>
          <p:nvPr/>
        </p:nvSpPr>
        <p:spPr>
          <a:xfrm>
            <a:off x="7452360" y="3840480"/>
            <a:ext cx="4096512"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452360" y="3840480"/>
            <a:ext cx="73152" cy="2423160"/>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26680" y="4023360"/>
            <a:ext cx="3639312" cy="320040"/>
          </a:xfrm>
          <a:prstGeom prst="rect">
            <a:avLst/>
          </a:prstGeom>
          <a:noFill/>
        </p:spPr>
        <p:txBody>
          <a:bodyPr wrap="square" lIns="0" tIns="0" rIns="0" bIns="0">
            <a:spAutoFit/>
          </a:bodyPr>
          <a:lstStyle/>
          <a:p>
            <a:pPr algn="l"/>
            <a:r>
              <a:rPr sz="1100" b="1" i="0">
                <a:solidFill>
                  <a:srgbClr val="E86050"/>
                </a:solidFill>
              </a:rPr>
              <a:t>TECH STACK</a:t>
            </a:r>
          </a:p>
        </p:txBody>
      </p:sp>
      <p:sp>
        <p:nvSpPr>
          <p:cNvPr id="55" name="TextBox 54"/>
          <p:cNvSpPr txBox="1"/>
          <p:nvPr/>
        </p:nvSpPr>
        <p:spPr>
          <a:xfrm>
            <a:off x="7726680" y="4389120"/>
            <a:ext cx="3639312" cy="1737360"/>
          </a:xfrm>
          <a:prstGeom prst="rect">
            <a:avLst/>
          </a:prstGeom>
          <a:noFill/>
        </p:spPr>
        <p:txBody>
          <a:bodyPr wrap="square" lIns="0" tIns="0" rIns="0" bIns="0">
            <a:spAutoFit/>
          </a:bodyPr>
          <a:lstStyle/>
          <a:p>
            <a:pPr>
              <a:spcAft>
                <a:spcPts val="500"/>
              </a:spcAft>
            </a:pPr>
            <a:r>
              <a:rPr sz="1000" b="1">
                <a:solidFill>
                  <a:srgbClr val="E86050"/>
                </a:solidFill>
              </a:rPr>
              <a:t>Language &amp; framework
</a:t>
            </a:r>
            <a:r>
              <a:rPr sz="1000">
                <a:solidFill>
                  <a:srgbClr val="1C2436"/>
                </a:solidFill>
              </a:rPr>
              <a:t>Python · LangChain · Dash UI</a:t>
            </a:r>
          </a:p>
          <a:p>
            <a:pPr>
              <a:spcAft>
                <a:spcPts val="500"/>
              </a:spcAft>
            </a:pPr>
            <a:r>
              <a:rPr sz="1000" b="1">
                <a:solidFill>
                  <a:srgbClr val="E86050"/>
                </a:solidFill>
              </a:rPr>
              <a:t>Models
</a:t>
            </a:r>
            <a:r>
              <a:rPr sz="1000">
                <a:solidFill>
                  <a:srgbClr val="1C2436"/>
                </a:solidFill>
              </a:rPr>
              <a:t>Ford LLM API gateway (GPT-4o + GPT-4o-mini)</a:t>
            </a:r>
          </a:p>
          <a:p>
            <a:pPr>
              <a:spcAft>
                <a:spcPts val="500"/>
              </a:spcAft>
            </a:pPr>
            <a:r>
              <a:rPr sz="1000" b="1">
                <a:solidFill>
                  <a:srgbClr val="E86050"/>
                </a:solidFill>
              </a:rPr>
              <a:t>Data &amp; retrieval
</a:t>
            </a:r>
            <a:r>
              <a:rPr sz="1000">
                <a:solidFill>
                  <a:srgbClr val="1C2436"/>
                </a:solidFill>
              </a:rPr>
              <a:t>BigQuery · BM25 keyword search over PDFs</a:t>
            </a:r>
          </a:p>
          <a:p>
            <a:pPr>
              <a:spcAft>
                <a:spcPts val="500"/>
              </a:spcAft>
            </a:pPr>
            <a:r>
              <a:rPr sz="1000" b="1">
                <a:solidFill>
                  <a:srgbClr val="E86050"/>
                </a:solidFill>
              </a:rPr>
              <a:t>Cloud
</a:t>
            </a:r>
            <a:r>
              <a:rPr sz="1000">
                <a:solidFill>
                  <a:srgbClr val="1C2436"/>
                </a:solidFill>
              </a:rPr>
              <a:t>GCP · Cloud Run · SAML/ADFS auth</a:t>
            </a:r>
          </a:p>
        </p:txBody>
      </p:sp>
      <p:sp>
        <p:nvSpPr>
          <p:cNvPr id="56" name="Rectangle 55"/>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6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142A4E"/>
                </a:solidFill>
              </a:rPr>
              <a:t>STORY 2 OF 5</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HOMELOAD — turning messy utility files into clean data</a:t>
            </a:r>
          </a:p>
        </p:txBody>
      </p:sp>
      <p:sp>
        <p:nvSpPr>
          <p:cNvPr id="5" name="Rounded Rectangle 4"/>
          <p:cNvSpPr/>
          <p:nvPr/>
        </p:nvSpPr>
        <p:spPr>
          <a:xfrm>
            <a:off x="640080"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03120"/>
            <a:ext cx="3483864"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2377440"/>
            <a:ext cx="411480" cy="411480"/>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377440"/>
            <a:ext cx="411480" cy="411480"/>
          </a:xfrm>
          <a:prstGeom prst="rect">
            <a:avLst/>
          </a:prstGeom>
          <a:noFill/>
        </p:spPr>
        <p:txBody>
          <a:bodyPr wrap="square" lIns="0" tIns="0" rIns="0" bIns="0" anchor="ctr">
            <a:spAutoFit/>
          </a:bodyPr>
          <a:lstStyle/>
          <a:p>
            <a:pPr algn="ctr"/>
            <a:r>
              <a:rPr sz="1400" b="1" i="0">
                <a:solidFill>
                  <a:srgbClr val="FFFFFF"/>
                </a:solidFill>
              </a:rPr>
              <a:t>1</a:t>
            </a:r>
          </a:p>
        </p:txBody>
      </p:sp>
      <p:sp>
        <p:nvSpPr>
          <p:cNvPr id="9" name="TextBox 8"/>
          <p:cNvSpPr txBox="1"/>
          <p:nvPr/>
        </p:nvSpPr>
        <p:spPr>
          <a:xfrm>
            <a:off x="1508760" y="2414016"/>
            <a:ext cx="2478024" cy="365760"/>
          </a:xfrm>
          <a:prstGeom prst="rect">
            <a:avLst/>
          </a:prstGeom>
          <a:noFill/>
        </p:spPr>
        <p:txBody>
          <a:bodyPr wrap="square" lIns="0" tIns="0" rIns="0" bIns="0">
            <a:spAutoFit/>
          </a:bodyPr>
          <a:lstStyle/>
          <a:p>
            <a:pPr algn="l"/>
            <a:r>
              <a:rPr sz="1100" b="1" i="0">
                <a:solidFill>
                  <a:srgbClr val="E86050"/>
                </a:solidFill>
              </a:rPr>
              <a:t>THE PROBLEM</a:t>
            </a:r>
          </a:p>
        </p:txBody>
      </p:sp>
      <p:sp>
        <p:nvSpPr>
          <p:cNvPr id="10" name="TextBox 9"/>
          <p:cNvSpPr txBox="1"/>
          <p:nvPr/>
        </p:nvSpPr>
        <p:spPr>
          <a:xfrm>
            <a:off x="960120" y="2971800"/>
            <a:ext cx="2843784" cy="2377440"/>
          </a:xfrm>
          <a:prstGeom prst="rect">
            <a:avLst/>
          </a:prstGeom>
          <a:noFill/>
        </p:spPr>
        <p:txBody>
          <a:bodyPr wrap="square" lIns="0" tIns="0" rIns="0" bIns="0">
            <a:spAutoFit/>
          </a:bodyPr>
          <a:lstStyle/>
          <a:p>
            <a:pPr algn="l"/>
            <a:r>
              <a:rPr sz="1300" b="0" i="0">
                <a:solidFill>
                  <a:srgbClr val="1C2436"/>
                </a:solidFill>
              </a:rPr>
              <a:t>Utility companies (DTE, PG&amp;E, ConEd, and many more) send Ford customer energy data in completely different file formats — CSV, Excel, PDF, Green Button XML, URL downloads. Each utility used to need its own hand-written parser (~500 lines of brittle code). Adding a new utility took weeks.</a:t>
            </a:r>
          </a:p>
        </p:txBody>
      </p:sp>
      <p:sp>
        <p:nvSpPr>
          <p:cNvPr id="11" name="Rounded Rectangle 10"/>
          <p:cNvSpPr/>
          <p:nvPr/>
        </p:nvSpPr>
        <p:spPr>
          <a:xfrm>
            <a:off x="4352544"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2103120"/>
            <a:ext cx="3483864"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72584" y="2377440"/>
            <a:ext cx="411480" cy="411480"/>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72584" y="2377440"/>
            <a:ext cx="411480" cy="411480"/>
          </a:xfrm>
          <a:prstGeom prst="rect">
            <a:avLst/>
          </a:prstGeom>
          <a:noFill/>
        </p:spPr>
        <p:txBody>
          <a:bodyPr wrap="square" lIns="0" tIns="0" rIns="0" bIns="0" anchor="ctr">
            <a:spAutoFit/>
          </a:bodyPr>
          <a:lstStyle/>
          <a:p>
            <a:pPr algn="ctr"/>
            <a:r>
              <a:rPr sz="1400" b="1" i="0">
                <a:solidFill>
                  <a:srgbClr val="FFFFFF"/>
                </a:solidFill>
              </a:rPr>
              <a:t>2</a:t>
            </a:r>
          </a:p>
        </p:txBody>
      </p:sp>
      <p:sp>
        <p:nvSpPr>
          <p:cNvPr id="15" name="TextBox 14"/>
          <p:cNvSpPr txBox="1"/>
          <p:nvPr/>
        </p:nvSpPr>
        <p:spPr>
          <a:xfrm>
            <a:off x="5221224" y="2414016"/>
            <a:ext cx="2478024" cy="365760"/>
          </a:xfrm>
          <a:prstGeom prst="rect">
            <a:avLst/>
          </a:prstGeom>
          <a:noFill/>
        </p:spPr>
        <p:txBody>
          <a:bodyPr wrap="square" lIns="0" tIns="0" rIns="0" bIns="0">
            <a:spAutoFit/>
          </a:bodyPr>
          <a:lstStyle/>
          <a:p>
            <a:pPr algn="l"/>
            <a:r>
              <a:rPr sz="1100" b="1" i="0">
                <a:solidFill>
                  <a:srgbClr val="142A4E"/>
                </a:solidFill>
              </a:rPr>
              <a:t>WHAT I BUILT</a:t>
            </a:r>
          </a:p>
        </p:txBody>
      </p:sp>
      <p:sp>
        <p:nvSpPr>
          <p:cNvPr id="16" name="TextBox 15"/>
          <p:cNvSpPr txBox="1"/>
          <p:nvPr/>
        </p:nvSpPr>
        <p:spPr>
          <a:xfrm>
            <a:off x="4672584" y="2971800"/>
            <a:ext cx="2843784" cy="2377440"/>
          </a:xfrm>
          <a:prstGeom prst="rect">
            <a:avLst/>
          </a:prstGeom>
          <a:noFill/>
        </p:spPr>
        <p:txBody>
          <a:bodyPr wrap="square" lIns="0" tIns="0" rIns="0" bIns="0">
            <a:spAutoFit/>
          </a:bodyPr>
          <a:lstStyle/>
          <a:p>
            <a:pPr algn="l"/>
            <a:r>
              <a:rPr sz="1300" b="0" i="0">
                <a:solidFill>
                  <a:srgbClr val="1C2436"/>
                </a:solidFill>
              </a:rPr>
              <a:t>I built a multi-agent FastAPI service. File Reader → Intake → Schema Discovery → Extraction → Validation. Plain code tries to read the file first; the AI only steps in if plain code fails. If confidence is low, the orchestrator feeds the problems back as hints and retries (up to 2 times). Output is always the same 7 standard columns, written safely to BigQuery.</a:t>
            </a:r>
          </a:p>
        </p:txBody>
      </p:sp>
      <p:sp>
        <p:nvSpPr>
          <p:cNvPr id="17" name="Rounded Rectangle 16"/>
          <p:cNvSpPr/>
          <p:nvPr/>
        </p:nvSpPr>
        <p:spPr>
          <a:xfrm>
            <a:off x="8065008"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5008" y="2103120"/>
            <a:ext cx="3483864"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85048" y="2377440"/>
            <a:ext cx="411480" cy="411480"/>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5048" y="2377440"/>
            <a:ext cx="411480" cy="411480"/>
          </a:xfrm>
          <a:prstGeom prst="rect">
            <a:avLst/>
          </a:prstGeom>
          <a:noFill/>
        </p:spPr>
        <p:txBody>
          <a:bodyPr wrap="square" lIns="0" tIns="0" rIns="0" bIns="0" anchor="ctr">
            <a:spAutoFit/>
          </a:bodyPr>
          <a:lstStyle/>
          <a:p>
            <a:pPr algn="ctr"/>
            <a:r>
              <a:rPr sz="1400" b="1" i="0">
                <a:solidFill>
                  <a:srgbClr val="FFFFFF"/>
                </a:solidFill>
              </a:rPr>
              <a:t>3</a:t>
            </a:r>
          </a:p>
        </p:txBody>
      </p:sp>
      <p:sp>
        <p:nvSpPr>
          <p:cNvPr id="21" name="TextBox 20"/>
          <p:cNvSpPr txBox="1"/>
          <p:nvPr/>
        </p:nvSpPr>
        <p:spPr>
          <a:xfrm>
            <a:off x="8933688" y="2414016"/>
            <a:ext cx="2478024" cy="365760"/>
          </a:xfrm>
          <a:prstGeom prst="rect">
            <a:avLst/>
          </a:prstGeom>
          <a:noFill/>
        </p:spPr>
        <p:txBody>
          <a:bodyPr wrap="square" lIns="0" tIns="0" rIns="0" bIns="0">
            <a:spAutoFit/>
          </a:bodyPr>
          <a:lstStyle/>
          <a:p>
            <a:pPr algn="l"/>
            <a:r>
              <a:rPr sz="1100" b="1" i="0">
                <a:solidFill>
                  <a:srgbClr val="3498A2"/>
                </a:solidFill>
              </a:rPr>
              <a:t>WHAT CHANGED</a:t>
            </a:r>
          </a:p>
        </p:txBody>
      </p:sp>
      <p:sp>
        <p:nvSpPr>
          <p:cNvPr id="22" name="TextBox 21"/>
          <p:cNvSpPr txBox="1"/>
          <p:nvPr/>
        </p:nvSpPr>
        <p:spPr>
          <a:xfrm>
            <a:off x="8385048" y="2971800"/>
            <a:ext cx="2843784" cy="2377440"/>
          </a:xfrm>
          <a:prstGeom prst="rect">
            <a:avLst/>
          </a:prstGeom>
          <a:noFill/>
        </p:spPr>
        <p:txBody>
          <a:bodyPr wrap="square" lIns="0" tIns="0" rIns="0" bIns="0">
            <a:spAutoFit/>
          </a:bodyPr>
          <a:lstStyle/>
          <a:p>
            <a:pPr algn="l"/>
            <a:r>
              <a:rPr sz="1300" b="0" i="0">
                <a:solidFill>
                  <a:srgbClr val="1C2436"/>
                </a:solidFill>
              </a:rPr>
              <a:t>Replaced ~500 lines of utility-specific parsers with one universal self-healing pipeline. Ingestion time cut 25%. Adding a new utility is now days, not weeks. Same clean format every time.</a:t>
            </a:r>
          </a:p>
        </p:txBody>
      </p:sp>
      <p:sp>
        <p:nvSpPr>
          <p:cNvPr id="23" name="TextBox 22"/>
          <p:cNvSpPr txBox="1"/>
          <p:nvPr/>
        </p:nvSpPr>
        <p:spPr>
          <a:xfrm>
            <a:off x="0" y="5669280"/>
            <a:ext cx="12191695" cy="320040"/>
          </a:xfrm>
          <a:prstGeom prst="rect">
            <a:avLst/>
          </a:prstGeom>
          <a:noFill/>
        </p:spPr>
        <p:txBody>
          <a:bodyPr wrap="square" lIns="0" tIns="0" rIns="0" bIns="0">
            <a:spAutoFit/>
          </a:bodyPr>
          <a:lstStyle/>
          <a:p>
            <a:pPr algn="ctr"/>
            <a:r>
              <a:rPr sz="1100" b="0" i="1">
                <a:solidFill>
                  <a:srgbClr val="142A4E"/>
                </a:solidFill>
              </a:rPr>
              <a:t>Next slide: how it actually works  ↓</a:t>
            </a:r>
          </a:p>
        </p:txBody>
      </p:sp>
      <p:sp>
        <p:nvSpPr>
          <p:cNvPr id="24" name="Rectangle 23"/>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7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142A4E"/>
                </a:solidFill>
              </a:rPr>
              <a:t>STORY 2 · UNDER THE HOOD</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HOMELOAD — turning messy utility files into clean data</a:t>
            </a:r>
          </a:p>
        </p:txBody>
      </p:sp>
      <p:sp>
        <p:nvSpPr>
          <p:cNvPr id="5" name="TextBox 4"/>
          <p:cNvSpPr txBox="1"/>
          <p:nvPr/>
        </p:nvSpPr>
        <p:spPr>
          <a:xfrm>
            <a:off x="640080" y="1801368"/>
            <a:ext cx="10972800" cy="411480"/>
          </a:xfrm>
          <a:prstGeom prst="rect">
            <a:avLst/>
          </a:prstGeom>
          <a:noFill/>
        </p:spPr>
        <p:txBody>
          <a:bodyPr wrap="square" lIns="0" tIns="0" rIns="0" bIns="0">
            <a:spAutoFit/>
          </a:bodyPr>
          <a:lstStyle/>
          <a:p>
            <a:pPr algn="l"/>
            <a:r>
              <a:rPr sz="1400" b="0" i="0">
                <a:solidFill>
                  <a:srgbClr val="465266"/>
                </a:solidFill>
              </a:rPr>
              <a:t>How it works inside, in plain English.</a:t>
            </a:r>
          </a:p>
        </p:txBody>
      </p:sp>
      <p:sp>
        <p:nvSpPr>
          <p:cNvPr id="6" name="TextBox 5"/>
          <p:cNvSpPr txBox="1"/>
          <p:nvPr/>
        </p:nvSpPr>
        <p:spPr>
          <a:xfrm>
            <a:off x="640080" y="1965960"/>
            <a:ext cx="7315200" cy="274320"/>
          </a:xfrm>
          <a:prstGeom prst="rect">
            <a:avLst/>
          </a:prstGeom>
          <a:noFill/>
        </p:spPr>
        <p:txBody>
          <a:bodyPr wrap="square" lIns="0" tIns="0" rIns="0" bIns="0">
            <a:spAutoFit/>
          </a:bodyPr>
          <a:lstStyle/>
          <a:p>
            <a:pPr algn="l"/>
            <a:r>
              <a:rPr sz="1100" b="1" i="0">
                <a:solidFill>
                  <a:srgbClr val="142A4E"/>
                </a:solidFill>
              </a:rPr>
              <a:t>THE WORKFLOW</a:t>
            </a:r>
          </a:p>
        </p:txBody>
      </p:sp>
      <p:sp>
        <p:nvSpPr>
          <p:cNvPr id="7" name="Rounded Rectangle 6"/>
          <p:cNvSpPr/>
          <p:nvPr/>
        </p:nvSpPr>
        <p:spPr>
          <a:xfrm>
            <a:off x="64008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40280"/>
            <a:ext cx="1696212"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2423160"/>
            <a:ext cx="347472" cy="347472"/>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47472" cy="347472"/>
          </a:xfrm>
          <a:prstGeom prst="rect">
            <a:avLst/>
          </a:prstGeom>
          <a:noFill/>
        </p:spPr>
        <p:txBody>
          <a:bodyPr wrap="square" lIns="0" tIns="0" rIns="0" bIns="0" anchor="ctr">
            <a:spAutoFit/>
          </a:bodyPr>
          <a:lstStyle/>
          <a:p>
            <a:pPr algn="ctr"/>
            <a:r>
              <a:rPr sz="1100" b="1" i="0">
                <a:solidFill>
                  <a:srgbClr val="FFFFFF"/>
                </a:solidFill>
              </a:rPr>
              <a:t>1</a:t>
            </a:r>
          </a:p>
        </p:txBody>
      </p:sp>
      <p:sp>
        <p:nvSpPr>
          <p:cNvPr id="11" name="TextBox 10"/>
          <p:cNvSpPr txBox="1"/>
          <p:nvPr/>
        </p:nvSpPr>
        <p:spPr>
          <a:xfrm>
            <a:off x="1188720" y="2423160"/>
            <a:ext cx="1010412" cy="320040"/>
          </a:xfrm>
          <a:prstGeom prst="rect">
            <a:avLst/>
          </a:prstGeom>
          <a:noFill/>
        </p:spPr>
        <p:txBody>
          <a:bodyPr wrap="square" lIns="0" tIns="0" rIns="0" bIns="0">
            <a:spAutoFit/>
          </a:bodyPr>
          <a:lstStyle/>
          <a:p>
            <a:pPr algn="l"/>
            <a:r>
              <a:rPr sz="1100" b="1" i="0">
                <a:solidFill>
                  <a:srgbClr val="142A4E"/>
                </a:solidFill>
              </a:rPr>
              <a:t>File Reader</a:t>
            </a:r>
          </a:p>
        </p:txBody>
      </p:sp>
      <p:sp>
        <p:nvSpPr>
          <p:cNvPr id="12" name="TextBox 11"/>
          <p:cNvSpPr txBox="1"/>
          <p:nvPr/>
        </p:nvSpPr>
        <p:spPr>
          <a:xfrm>
            <a:off x="804672" y="2834640"/>
            <a:ext cx="1367028" cy="640080"/>
          </a:xfrm>
          <a:prstGeom prst="rect">
            <a:avLst/>
          </a:prstGeom>
          <a:noFill/>
        </p:spPr>
        <p:txBody>
          <a:bodyPr wrap="square" lIns="0" tIns="0" rIns="0" bIns="0">
            <a:spAutoFit/>
          </a:bodyPr>
          <a:lstStyle/>
          <a:p>
            <a:pPr algn="l"/>
            <a:r>
              <a:rPr sz="850" b="0" i="0">
                <a:solidFill>
                  <a:srgbClr val="465266"/>
                </a:solidFill>
              </a:rPr>
              <a:t>Reads CSV/Excel/PDF/XML/URL into raw text</a:t>
            </a:r>
          </a:p>
        </p:txBody>
      </p:sp>
      <p:sp>
        <p:nvSpPr>
          <p:cNvPr id="13" name="Right Arrow 12"/>
          <p:cNvSpPr/>
          <p:nvPr/>
        </p:nvSpPr>
        <p:spPr>
          <a:xfrm>
            <a:off x="2340864" y="2811780"/>
            <a:ext cx="137160" cy="182880"/>
          </a:xfrm>
          <a:prstGeom prst="rightArrow">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82596"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82596" y="2240280"/>
            <a:ext cx="1696212"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1468" y="2423160"/>
            <a:ext cx="347472" cy="347472"/>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1468" y="2423160"/>
            <a:ext cx="347472" cy="347472"/>
          </a:xfrm>
          <a:prstGeom prst="rect">
            <a:avLst/>
          </a:prstGeom>
          <a:noFill/>
        </p:spPr>
        <p:txBody>
          <a:bodyPr wrap="square" lIns="0" tIns="0" rIns="0" bIns="0" anchor="ctr">
            <a:spAutoFit/>
          </a:bodyPr>
          <a:lstStyle/>
          <a:p>
            <a:pPr algn="ctr"/>
            <a:r>
              <a:rPr sz="1100" b="1" i="0">
                <a:solidFill>
                  <a:srgbClr val="FFFFFF"/>
                </a:solidFill>
              </a:rPr>
              <a:t>2</a:t>
            </a:r>
          </a:p>
        </p:txBody>
      </p:sp>
      <p:sp>
        <p:nvSpPr>
          <p:cNvPr id="18" name="TextBox 17"/>
          <p:cNvSpPr txBox="1"/>
          <p:nvPr/>
        </p:nvSpPr>
        <p:spPr>
          <a:xfrm>
            <a:off x="3031236" y="2423160"/>
            <a:ext cx="1010412" cy="320040"/>
          </a:xfrm>
          <a:prstGeom prst="rect">
            <a:avLst/>
          </a:prstGeom>
          <a:noFill/>
        </p:spPr>
        <p:txBody>
          <a:bodyPr wrap="square" lIns="0" tIns="0" rIns="0" bIns="0">
            <a:spAutoFit/>
          </a:bodyPr>
          <a:lstStyle/>
          <a:p>
            <a:pPr algn="l"/>
            <a:r>
              <a:rPr sz="1100" b="1" i="0">
                <a:solidFill>
                  <a:srgbClr val="142A4E"/>
                </a:solidFill>
              </a:rPr>
              <a:t>Intake</a:t>
            </a:r>
          </a:p>
        </p:txBody>
      </p:sp>
      <p:sp>
        <p:nvSpPr>
          <p:cNvPr id="19" name="TextBox 18"/>
          <p:cNvSpPr txBox="1"/>
          <p:nvPr/>
        </p:nvSpPr>
        <p:spPr>
          <a:xfrm>
            <a:off x="2647188" y="2834640"/>
            <a:ext cx="1367028" cy="640080"/>
          </a:xfrm>
          <a:prstGeom prst="rect">
            <a:avLst/>
          </a:prstGeom>
          <a:noFill/>
        </p:spPr>
        <p:txBody>
          <a:bodyPr wrap="square" lIns="0" tIns="0" rIns="0" bIns="0">
            <a:spAutoFit/>
          </a:bodyPr>
          <a:lstStyle/>
          <a:p>
            <a:pPr algn="l"/>
            <a:r>
              <a:rPr sz="850" b="0" i="0">
                <a:solidFill>
                  <a:srgbClr val="465266"/>
                </a:solidFill>
              </a:rPr>
              <a:t>Decides: is this electric? timezone?</a:t>
            </a:r>
          </a:p>
        </p:txBody>
      </p:sp>
      <p:sp>
        <p:nvSpPr>
          <p:cNvPr id="20" name="Right Arrow 19"/>
          <p:cNvSpPr/>
          <p:nvPr/>
        </p:nvSpPr>
        <p:spPr>
          <a:xfrm>
            <a:off x="4183380" y="2811780"/>
            <a:ext cx="137160" cy="182880"/>
          </a:xfrm>
          <a:prstGeom prst="rightArrow">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25112"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25112" y="2240280"/>
            <a:ext cx="1696212"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43984" y="2423160"/>
            <a:ext cx="347472" cy="347472"/>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3984" y="2423160"/>
            <a:ext cx="347472" cy="347472"/>
          </a:xfrm>
          <a:prstGeom prst="rect">
            <a:avLst/>
          </a:prstGeom>
          <a:noFill/>
        </p:spPr>
        <p:txBody>
          <a:bodyPr wrap="square" lIns="0" tIns="0" rIns="0" bIns="0" anchor="ctr">
            <a:spAutoFit/>
          </a:bodyPr>
          <a:lstStyle/>
          <a:p>
            <a:pPr algn="ctr"/>
            <a:r>
              <a:rPr sz="1100" b="1" i="0">
                <a:solidFill>
                  <a:srgbClr val="FFFFFF"/>
                </a:solidFill>
              </a:rPr>
              <a:t>3</a:t>
            </a:r>
          </a:p>
        </p:txBody>
      </p:sp>
      <p:sp>
        <p:nvSpPr>
          <p:cNvPr id="25" name="TextBox 24"/>
          <p:cNvSpPr txBox="1"/>
          <p:nvPr/>
        </p:nvSpPr>
        <p:spPr>
          <a:xfrm>
            <a:off x="4873752" y="2423160"/>
            <a:ext cx="1010412" cy="320040"/>
          </a:xfrm>
          <a:prstGeom prst="rect">
            <a:avLst/>
          </a:prstGeom>
          <a:noFill/>
        </p:spPr>
        <p:txBody>
          <a:bodyPr wrap="square" lIns="0" tIns="0" rIns="0" bIns="0">
            <a:spAutoFit/>
          </a:bodyPr>
          <a:lstStyle/>
          <a:p>
            <a:pPr algn="l"/>
            <a:r>
              <a:rPr sz="1100" b="1" i="0">
                <a:solidFill>
                  <a:srgbClr val="142A4E"/>
                </a:solidFill>
              </a:rPr>
              <a:t>Schema</a:t>
            </a:r>
          </a:p>
        </p:txBody>
      </p:sp>
      <p:sp>
        <p:nvSpPr>
          <p:cNvPr id="26" name="TextBox 25"/>
          <p:cNvSpPr txBox="1"/>
          <p:nvPr/>
        </p:nvSpPr>
        <p:spPr>
          <a:xfrm>
            <a:off x="4489704" y="2834640"/>
            <a:ext cx="1367028" cy="640080"/>
          </a:xfrm>
          <a:prstGeom prst="rect">
            <a:avLst/>
          </a:prstGeom>
          <a:noFill/>
        </p:spPr>
        <p:txBody>
          <a:bodyPr wrap="square" lIns="0" tIns="0" rIns="0" bIns="0">
            <a:spAutoFit/>
          </a:bodyPr>
          <a:lstStyle/>
          <a:p>
            <a:pPr algn="l"/>
            <a:r>
              <a:rPr sz="850" b="0" i="0">
                <a:solidFill>
                  <a:srgbClr val="465266"/>
                </a:solidFill>
              </a:rPr>
              <a:t>Plans which columns to extract</a:t>
            </a:r>
          </a:p>
        </p:txBody>
      </p:sp>
      <p:sp>
        <p:nvSpPr>
          <p:cNvPr id="27" name="Right Arrow 26"/>
          <p:cNvSpPr/>
          <p:nvPr/>
        </p:nvSpPr>
        <p:spPr>
          <a:xfrm>
            <a:off x="6025896" y="2811780"/>
            <a:ext cx="137160" cy="182880"/>
          </a:xfrm>
          <a:prstGeom prst="rightArrow">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67628"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67628" y="2240280"/>
            <a:ext cx="1696212"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86500" y="2423160"/>
            <a:ext cx="347472" cy="347472"/>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86500" y="2423160"/>
            <a:ext cx="347472" cy="347472"/>
          </a:xfrm>
          <a:prstGeom prst="rect">
            <a:avLst/>
          </a:prstGeom>
          <a:noFill/>
        </p:spPr>
        <p:txBody>
          <a:bodyPr wrap="square" lIns="0" tIns="0" rIns="0" bIns="0" anchor="ctr">
            <a:spAutoFit/>
          </a:bodyPr>
          <a:lstStyle/>
          <a:p>
            <a:pPr algn="ctr"/>
            <a:r>
              <a:rPr sz="1100" b="1" i="0">
                <a:solidFill>
                  <a:srgbClr val="FFFFFF"/>
                </a:solidFill>
              </a:rPr>
              <a:t>4</a:t>
            </a:r>
          </a:p>
        </p:txBody>
      </p:sp>
      <p:sp>
        <p:nvSpPr>
          <p:cNvPr id="32" name="TextBox 31"/>
          <p:cNvSpPr txBox="1"/>
          <p:nvPr/>
        </p:nvSpPr>
        <p:spPr>
          <a:xfrm>
            <a:off x="6716268" y="2423160"/>
            <a:ext cx="1010412" cy="320040"/>
          </a:xfrm>
          <a:prstGeom prst="rect">
            <a:avLst/>
          </a:prstGeom>
          <a:noFill/>
        </p:spPr>
        <p:txBody>
          <a:bodyPr wrap="square" lIns="0" tIns="0" rIns="0" bIns="0">
            <a:spAutoFit/>
          </a:bodyPr>
          <a:lstStyle/>
          <a:p>
            <a:pPr algn="l"/>
            <a:r>
              <a:rPr sz="1100" b="1" i="0">
                <a:solidFill>
                  <a:srgbClr val="142A4E"/>
                </a:solidFill>
              </a:rPr>
              <a:t>Extract</a:t>
            </a:r>
          </a:p>
        </p:txBody>
      </p:sp>
      <p:sp>
        <p:nvSpPr>
          <p:cNvPr id="33" name="TextBox 32"/>
          <p:cNvSpPr txBox="1"/>
          <p:nvPr/>
        </p:nvSpPr>
        <p:spPr>
          <a:xfrm>
            <a:off x="6332220" y="2834640"/>
            <a:ext cx="1367028" cy="640080"/>
          </a:xfrm>
          <a:prstGeom prst="rect">
            <a:avLst/>
          </a:prstGeom>
          <a:noFill/>
        </p:spPr>
        <p:txBody>
          <a:bodyPr wrap="square" lIns="0" tIns="0" rIns="0" bIns="0">
            <a:spAutoFit/>
          </a:bodyPr>
          <a:lstStyle/>
          <a:p>
            <a:pPr algn="l"/>
            <a:r>
              <a:rPr sz="850" b="0" i="0">
                <a:solidFill>
                  <a:srgbClr val="465266"/>
                </a:solidFill>
              </a:rPr>
              <a:t>Plain code first; AI as backup</a:t>
            </a:r>
          </a:p>
        </p:txBody>
      </p:sp>
      <p:sp>
        <p:nvSpPr>
          <p:cNvPr id="34" name="Right Arrow 33"/>
          <p:cNvSpPr/>
          <p:nvPr/>
        </p:nvSpPr>
        <p:spPr>
          <a:xfrm>
            <a:off x="7868412" y="2811780"/>
            <a:ext cx="137160" cy="182880"/>
          </a:xfrm>
          <a:prstGeom prst="rightArrow">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10144"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10144" y="2240280"/>
            <a:ext cx="1696212"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29016" y="2423160"/>
            <a:ext cx="347472" cy="347472"/>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29016" y="2423160"/>
            <a:ext cx="347472" cy="347472"/>
          </a:xfrm>
          <a:prstGeom prst="rect">
            <a:avLst/>
          </a:prstGeom>
          <a:noFill/>
        </p:spPr>
        <p:txBody>
          <a:bodyPr wrap="square" lIns="0" tIns="0" rIns="0" bIns="0" anchor="ctr">
            <a:spAutoFit/>
          </a:bodyPr>
          <a:lstStyle/>
          <a:p>
            <a:pPr algn="ctr"/>
            <a:r>
              <a:rPr sz="1100" b="1" i="0">
                <a:solidFill>
                  <a:srgbClr val="FFFFFF"/>
                </a:solidFill>
              </a:rPr>
              <a:t>5</a:t>
            </a:r>
          </a:p>
        </p:txBody>
      </p:sp>
      <p:sp>
        <p:nvSpPr>
          <p:cNvPr id="39" name="TextBox 38"/>
          <p:cNvSpPr txBox="1"/>
          <p:nvPr/>
        </p:nvSpPr>
        <p:spPr>
          <a:xfrm>
            <a:off x="8558784" y="2423160"/>
            <a:ext cx="1010412" cy="320040"/>
          </a:xfrm>
          <a:prstGeom prst="rect">
            <a:avLst/>
          </a:prstGeom>
          <a:noFill/>
        </p:spPr>
        <p:txBody>
          <a:bodyPr wrap="square" lIns="0" tIns="0" rIns="0" bIns="0">
            <a:spAutoFit/>
          </a:bodyPr>
          <a:lstStyle/>
          <a:p>
            <a:pPr algn="l"/>
            <a:r>
              <a:rPr sz="1100" b="1" i="0">
                <a:solidFill>
                  <a:srgbClr val="142A4E"/>
                </a:solidFill>
              </a:rPr>
              <a:t>Validate</a:t>
            </a:r>
          </a:p>
        </p:txBody>
      </p:sp>
      <p:sp>
        <p:nvSpPr>
          <p:cNvPr id="40" name="TextBox 39"/>
          <p:cNvSpPr txBox="1"/>
          <p:nvPr/>
        </p:nvSpPr>
        <p:spPr>
          <a:xfrm>
            <a:off x="8174736" y="2834640"/>
            <a:ext cx="1367028" cy="640080"/>
          </a:xfrm>
          <a:prstGeom prst="rect">
            <a:avLst/>
          </a:prstGeom>
          <a:noFill/>
        </p:spPr>
        <p:txBody>
          <a:bodyPr wrap="square" lIns="0" tIns="0" rIns="0" bIns="0">
            <a:spAutoFit/>
          </a:bodyPr>
          <a:lstStyle/>
          <a:p>
            <a:pPr algn="l"/>
            <a:r>
              <a:rPr sz="850" b="0" i="0">
                <a:solidFill>
                  <a:srgbClr val="465266"/>
                </a:solidFill>
              </a:rPr>
              <a:t>Scores result; lists what's wrong</a:t>
            </a:r>
          </a:p>
        </p:txBody>
      </p:sp>
      <p:sp>
        <p:nvSpPr>
          <p:cNvPr id="41" name="Right Arrow 40"/>
          <p:cNvSpPr/>
          <p:nvPr/>
        </p:nvSpPr>
        <p:spPr>
          <a:xfrm>
            <a:off x="9710928" y="2811780"/>
            <a:ext cx="137160" cy="182880"/>
          </a:xfrm>
          <a:prstGeom prst="rightArrow">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85266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852660" y="2240280"/>
            <a:ext cx="1696212" cy="64008"/>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971532" y="2423160"/>
            <a:ext cx="347472" cy="347472"/>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1532" y="2423160"/>
            <a:ext cx="347472" cy="347472"/>
          </a:xfrm>
          <a:prstGeom prst="rect">
            <a:avLst/>
          </a:prstGeom>
          <a:noFill/>
        </p:spPr>
        <p:txBody>
          <a:bodyPr wrap="square" lIns="0" tIns="0" rIns="0" bIns="0" anchor="ctr">
            <a:spAutoFit/>
          </a:bodyPr>
          <a:lstStyle/>
          <a:p>
            <a:pPr algn="ctr"/>
            <a:r>
              <a:rPr sz="1100" b="1" i="0">
                <a:solidFill>
                  <a:srgbClr val="FFFFFF"/>
                </a:solidFill>
              </a:rPr>
              <a:t>6</a:t>
            </a:r>
          </a:p>
        </p:txBody>
      </p:sp>
      <p:sp>
        <p:nvSpPr>
          <p:cNvPr id="46" name="TextBox 45"/>
          <p:cNvSpPr txBox="1"/>
          <p:nvPr/>
        </p:nvSpPr>
        <p:spPr>
          <a:xfrm>
            <a:off x="10401300" y="2423160"/>
            <a:ext cx="1010412" cy="320040"/>
          </a:xfrm>
          <a:prstGeom prst="rect">
            <a:avLst/>
          </a:prstGeom>
          <a:noFill/>
        </p:spPr>
        <p:txBody>
          <a:bodyPr wrap="square" lIns="0" tIns="0" rIns="0" bIns="0">
            <a:spAutoFit/>
          </a:bodyPr>
          <a:lstStyle/>
          <a:p>
            <a:pPr algn="l"/>
            <a:r>
              <a:rPr sz="1100" b="1" i="0">
                <a:solidFill>
                  <a:srgbClr val="142A4E"/>
                </a:solidFill>
              </a:rPr>
              <a:t>Reflection</a:t>
            </a:r>
          </a:p>
        </p:txBody>
      </p:sp>
      <p:sp>
        <p:nvSpPr>
          <p:cNvPr id="47" name="TextBox 46"/>
          <p:cNvSpPr txBox="1"/>
          <p:nvPr/>
        </p:nvSpPr>
        <p:spPr>
          <a:xfrm>
            <a:off x="10017252" y="2834640"/>
            <a:ext cx="1367028" cy="640080"/>
          </a:xfrm>
          <a:prstGeom prst="rect">
            <a:avLst/>
          </a:prstGeom>
          <a:noFill/>
        </p:spPr>
        <p:txBody>
          <a:bodyPr wrap="square" lIns="0" tIns="0" rIns="0" bIns="0">
            <a:spAutoFit/>
          </a:bodyPr>
          <a:lstStyle/>
          <a:p>
            <a:pPr algn="l"/>
            <a:r>
              <a:rPr sz="850" b="0" i="0">
                <a:solidFill>
                  <a:srgbClr val="465266"/>
                </a:solidFill>
              </a:rPr>
              <a:t>Retries with problems fed back (max 2)</a:t>
            </a:r>
          </a:p>
        </p:txBody>
      </p:sp>
      <p:sp>
        <p:nvSpPr>
          <p:cNvPr id="48" name="Rounded Rectangle 47"/>
          <p:cNvSpPr/>
          <p:nvPr/>
        </p:nvSpPr>
        <p:spPr>
          <a:xfrm>
            <a:off x="640080" y="3840480"/>
            <a:ext cx="6583680"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40080" y="3840480"/>
            <a:ext cx="73152" cy="2423160"/>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023360"/>
            <a:ext cx="6126480" cy="320040"/>
          </a:xfrm>
          <a:prstGeom prst="rect">
            <a:avLst/>
          </a:prstGeom>
          <a:noFill/>
        </p:spPr>
        <p:txBody>
          <a:bodyPr wrap="square" lIns="0" tIns="0" rIns="0" bIns="0">
            <a:spAutoFit/>
          </a:bodyPr>
          <a:lstStyle/>
          <a:p>
            <a:pPr algn="l"/>
            <a:r>
              <a:rPr sz="1100" b="1" i="0">
                <a:solidFill>
                  <a:srgbClr val="142A4E"/>
                </a:solidFill>
              </a:rPr>
              <a:t>WHAT EACH PART DOES</a:t>
            </a:r>
          </a:p>
        </p:txBody>
      </p:sp>
      <p:sp>
        <p:nvSpPr>
          <p:cNvPr id="51" name="TextBox 50"/>
          <p:cNvSpPr txBox="1"/>
          <p:nvPr/>
        </p:nvSpPr>
        <p:spPr>
          <a:xfrm>
            <a:off x="914400" y="4389120"/>
            <a:ext cx="6126480" cy="1737360"/>
          </a:xfrm>
          <a:prstGeom prst="rect">
            <a:avLst/>
          </a:prstGeom>
          <a:noFill/>
        </p:spPr>
        <p:txBody>
          <a:bodyPr wrap="square" lIns="0" tIns="0" rIns="0" bIns="0">
            <a:spAutoFit/>
          </a:bodyPr>
          <a:lstStyle/>
          <a:p>
            <a:pPr>
              <a:spcAft>
                <a:spcPts val="400"/>
              </a:spcAft>
            </a:pPr>
            <a:r>
              <a:rPr sz="1100" b="1">
                <a:solidFill>
                  <a:srgbClr val="142A4E"/>
                </a:solidFill>
              </a:rPr>
              <a:t>File Reader  </a:t>
            </a:r>
            <a:r>
              <a:rPr sz="1050">
                <a:solidFill>
                  <a:srgbClr val="465266"/>
                </a:solidFill>
              </a:rPr>
              <a:t> — plain code. Handles CSV, Excel, PDF, XML, HTML, URLs. No AI call.</a:t>
            </a:r>
          </a:p>
          <a:p>
            <a:pPr>
              <a:spcAft>
                <a:spcPts val="400"/>
              </a:spcAft>
            </a:pPr>
            <a:r>
              <a:rPr sz="1100" b="1">
                <a:solidFill>
                  <a:srgbClr val="142A4E"/>
                </a:solidFill>
              </a:rPr>
              <a:t>Intake Agent  </a:t>
            </a:r>
            <a:r>
              <a:rPr sz="1050">
                <a:solidFill>
                  <a:srgbClr val="465266"/>
                </a:solidFill>
              </a:rPr>
              <a:t> — Gemini reads a smart sample. Decides: is it electric? what utility? timezone? interval?</a:t>
            </a:r>
          </a:p>
          <a:p>
            <a:pPr>
              <a:spcAft>
                <a:spcPts val="400"/>
              </a:spcAft>
            </a:pPr>
            <a:r>
              <a:rPr sz="1100" b="1">
                <a:solidFill>
                  <a:srgbClr val="142A4E"/>
                </a:solidFill>
              </a:rPr>
              <a:t>Schema Discovery Agent  </a:t>
            </a:r>
            <a:r>
              <a:rPr sz="1050">
                <a:solidFill>
                  <a:srgbClr val="465266"/>
                </a:solidFill>
              </a:rPr>
              <a:t> — Gemini builds an extraction plan (column mappings, units, date format, ESPI config for Green Button XML).</a:t>
            </a:r>
          </a:p>
          <a:p>
            <a:pPr>
              <a:spcAft>
                <a:spcPts val="400"/>
              </a:spcAft>
            </a:pPr>
            <a:r>
              <a:rPr sz="1100" b="1">
                <a:solidFill>
                  <a:srgbClr val="142A4E"/>
                </a:solidFill>
              </a:rPr>
              <a:t>Extraction Agent  </a:t>
            </a:r>
            <a:r>
              <a:rPr sz="1050">
                <a:solidFill>
                  <a:srgbClr val="465266"/>
                </a:solidFill>
              </a:rPr>
              <a:t> — tries pandas/lxml first. Only if row count is too low does it ask the AI for a sample — then pandas still parses the bulk.</a:t>
            </a:r>
          </a:p>
          <a:p>
            <a:pPr>
              <a:spcAft>
                <a:spcPts val="400"/>
              </a:spcAft>
            </a:pPr>
            <a:r>
              <a:rPr sz="1100" b="1">
                <a:solidFill>
                  <a:srgbClr val="142A4E"/>
                </a:solidFill>
              </a:rPr>
              <a:t>Validation Agent  </a:t>
            </a:r>
            <a:r>
              <a:rPr sz="1050">
                <a:solidFill>
                  <a:srgbClr val="465266"/>
                </a:solidFill>
              </a:rPr>
              <a:t> — deterministic checks (no AI). Scores schema, timestamps, ranges, coverage.</a:t>
            </a:r>
          </a:p>
          <a:p>
            <a:pPr>
              <a:spcAft>
                <a:spcPts val="400"/>
              </a:spcAft>
            </a:pPr>
            <a:r>
              <a:rPr sz="1100" b="1">
                <a:solidFill>
                  <a:srgbClr val="142A4E"/>
                </a:solidFill>
              </a:rPr>
              <a:t>Orchestrator  </a:t>
            </a:r>
            <a:r>
              <a:rPr sz="1050">
                <a:solidFill>
                  <a:srgbClr val="465266"/>
                </a:solidFill>
              </a:rPr>
              <a:t> — runs up to 3 attempts. Always keeps the best attempt — never throws it away.</a:t>
            </a:r>
          </a:p>
        </p:txBody>
      </p:sp>
      <p:sp>
        <p:nvSpPr>
          <p:cNvPr id="52" name="Rounded Rectangle 51"/>
          <p:cNvSpPr/>
          <p:nvPr/>
        </p:nvSpPr>
        <p:spPr>
          <a:xfrm>
            <a:off x="7452360" y="3840480"/>
            <a:ext cx="4096512"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452360" y="3840480"/>
            <a:ext cx="73152" cy="2423160"/>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26680" y="4023360"/>
            <a:ext cx="3639312" cy="320040"/>
          </a:xfrm>
          <a:prstGeom prst="rect">
            <a:avLst/>
          </a:prstGeom>
          <a:noFill/>
        </p:spPr>
        <p:txBody>
          <a:bodyPr wrap="square" lIns="0" tIns="0" rIns="0" bIns="0">
            <a:spAutoFit/>
          </a:bodyPr>
          <a:lstStyle/>
          <a:p>
            <a:pPr algn="l"/>
            <a:r>
              <a:rPr sz="1100" b="1" i="0">
                <a:solidFill>
                  <a:srgbClr val="142A4E"/>
                </a:solidFill>
              </a:rPr>
              <a:t>TECH STACK</a:t>
            </a:r>
          </a:p>
        </p:txBody>
      </p:sp>
      <p:sp>
        <p:nvSpPr>
          <p:cNvPr id="55" name="TextBox 54"/>
          <p:cNvSpPr txBox="1"/>
          <p:nvPr/>
        </p:nvSpPr>
        <p:spPr>
          <a:xfrm>
            <a:off x="7726680" y="4389120"/>
            <a:ext cx="3639312" cy="1737360"/>
          </a:xfrm>
          <a:prstGeom prst="rect">
            <a:avLst/>
          </a:prstGeom>
          <a:noFill/>
        </p:spPr>
        <p:txBody>
          <a:bodyPr wrap="square" lIns="0" tIns="0" rIns="0" bIns="0">
            <a:spAutoFit/>
          </a:bodyPr>
          <a:lstStyle/>
          <a:p>
            <a:pPr>
              <a:spcAft>
                <a:spcPts val="500"/>
              </a:spcAft>
            </a:pPr>
            <a:r>
              <a:rPr sz="1000" b="1">
                <a:solidFill>
                  <a:srgbClr val="142A4E"/>
                </a:solidFill>
              </a:rPr>
              <a:t>Language &amp; framework
</a:t>
            </a:r>
            <a:r>
              <a:rPr sz="1000">
                <a:solidFill>
                  <a:srgbClr val="1C2436"/>
                </a:solidFill>
              </a:rPr>
              <a:t>Python · FastAPI · Pydantic</a:t>
            </a:r>
          </a:p>
          <a:p>
            <a:pPr>
              <a:spcAft>
                <a:spcPts val="500"/>
              </a:spcAft>
            </a:pPr>
            <a:r>
              <a:rPr sz="1000" b="1">
                <a:solidFill>
                  <a:srgbClr val="142A4E"/>
                </a:solidFill>
              </a:rPr>
              <a:t>AI
</a:t>
            </a:r>
            <a:r>
              <a:rPr sz="1000">
                <a:solidFill>
                  <a:srgbClr val="1C2436"/>
                </a:solidFill>
              </a:rPr>
              <a:t>Vertex AI · Gemini 2.0 Flash (google-genai SDK)</a:t>
            </a:r>
          </a:p>
          <a:p>
            <a:pPr>
              <a:spcAft>
                <a:spcPts val="500"/>
              </a:spcAft>
            </a:pPr>
            <a:r>
              <a:rPr sz="1000" b="1">
                <a:solidFill>
                  <a:srgbClr val="142A4E"/>
                </a:solidFill>
              </a:rPr>
              <a:t>Storage
</a:t>
            </a:r>
            <a:r>
              <a:rPr sz="1000">
                <a:solidFill>
                  <a:srgbClr val="1C2436"/>
                </a:solidFill>
              </a:rPr>
              <a:t>Cloud Storage · BigQuery (MERGE = safe re-runs)</a:t>
            </a:r>
          </a:p>
          <a:p>
            <a:pPr>
              <a:spcAft>
                <a:spcPts val="500"/>
              </a:spcAft>
            </a:pPr>
            <a:r>
              <a:rPr sz="1000" b="1">
                <a:solidFill>
                  <a:srgbClr val="142A4E"/>
                </a:solidFill>
              </a:rPr>
              <a:t>Deployment
</a:t>
            </a:r>
            <a:r>
              <a:rPr sz="1000">
                <a:solidFill>
                  <a:srgbClr val="1C2436"/>
                </a:solidFill>
              </a:rPr>
              <a:t>Docker · Cloud Run · Terraform</a:t>
            </a:r>
          </a:p>
        </p:txBody>
      </p:sp>
      <p:sp>
        <p:nvSpPr>
          <p:cNvPr id="56" name="Rectangle 55"/>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8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3498A2"/>
                </a:solidFill>
              </a:rPr>
              <a:t>STORY 3 OF 5</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V2G — using Ford EVs as a fleet power source for the grid</a:t>
            </a:r>
          </a:p>
        </p:txBody>
      </p:sp>
      <p:sp>
        <p:nvSpPr>
          <p:cNvPr id="5" name="Rounded Rectangle 4"/>
          <p:cNvSpPr/>
          <p:nvPr/>
        </p:nvSpPr>
        <p:spPr>
          <a:xfrm>
            <a:off x="640080"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03120"/>
            <a:ext cx="3483864"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2377440"/>
            <a:ext cx="411480" cy="411480"/>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377440"/>
            <a:ext cx="411480" cy="411480"/>
          </a:xfrm>
          <a:prstGeom prst="rect">
            <a:avLst/>
          </a:prstGeom>
          <a:noFill/>
        </p:spPr>
        <p:txBody>
          <a:bodyPr wrap="square" lIns="0" tIns="0" rIns="0" bIns="0" anchor="ctr">
            <a:spAutoFit/>
          </a:bodyPr>
          <a:lstStyle/>
          <a:p>
            <a:pPr algn="ctr"/>
            <a:r>
              <a:rPr sz="1400" b="1" i="0">
                <a:solidFill>
                  <a:srgbClr val="FFFFFF"/>
                </a:solidFill>
              </a:rPr>
              <a:t>1</a:t>
            </a:r>
          </a:p>
        </p:txBody>
      </p:sp>
      <p:sp>
        <p:nvSpPr>
          <p:cNvPr id="9" name="TextBox 8"/>
          <p:cNvSpPr txBox="1"/>
          <p:nvPr/>
        </p:nvSpPr>
        <p:spPr>
          <a:xfrm>
            <a:off x="1508760" y="2414016"/>
            <a:ext cx="2478024" cy="365760"/>
          </a:xfrm>
          <a:prstGeom prst="rect">
            <a:avLst/>
          </a:prstGeom>
          <a:noFill/>
        </p:spPr>
        <p:txBody>
          <a:bodyPr wrap="square" lIns="0" tIns="0" rIns="0" bIns="0">
            <a:spAutoFit/>
          </a:bodyPr>
          <a:lstStyle/>
          <a:p>
            <a:pPr algn="l"/>
            <a:r>
              <a:rPr sz="1100" b="1" i="0">
                <a:solidFill>
                  <a:srgbClr val="E86050"/>
                </a:solidFill>
              </a:rPr>
              <a:t>THE PROBLEM</a:t>
            </a:r>
          </a:p>
        </p:txBody>
      </p:sp>
      <p:sp>
        <p:nvSpPr>
          <p:cNvPr id="10" name="TextBox 9"/>
          <p:cNvSpPr txBox="1"/>
          <p:nvPr/>
        </p:nvSpPr>
        <p:spPr>
          <a:xfrm>
            <a:off x="960120" y="2971800"/>
            <a:ext cx="2843784" cy="2377440"/>
          </a:xfrm>
          <a:prstGeom prst="rect">
            <a:avLst/>
          </a:prstGeom>
          <a:noFill/>
        </p:spPr>
        <p:txBody>
          <a:bodyPr wrap="square" lIns="0" tIns="0" rIns="0" bIns="0">
            <a:spAutoFit/>
          </a:bodyPr>
          <a:lstStyle/>
          <a:p>
            <a:pPr algn="l"/>
            <a:r>
              <a:rPr sz="1300" b="0" i="0">
                <a:solidFill>
                  <a:srgbClr val="1C2436"/>
                </a:solidFill>
              </a:rPr>
              <a:t>When the power grid needs extra electricity (peak hours, hot evenings), Ford's EVs could sell some back from their batteries (this is V2G — vehicle-to-grid). The hard part: how do you commit a fixed amount of power to the grid hours ahead, when you don't know which cars will be home, plugged in, and charged enough? Guess wrong and Ford pays a penalty. Guess too conservatively and you leave money on the table.</a:t>
            </a:r>
          </a:p>
        </p:txBody>
      </p:sp>
      <p:sp>
        <p:nvSpPr>
          <p:cNvPr id="11" name="Rounded Rectangle 10"/>
          <p:cNvSpPr/>
          <p:nvPr/>
        </p:nvSpPr>
        <p:spPr>
          <a:xfrm>
            <a:off x="4352544"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2103120"/>
            <a:ext cx="3483864"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72584" y="2377440"/>
            <a:ext cx="411480" cy="411480"/>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72584" y="2377440"/>
            <a:ext cx="411480" cy="411480"/>
          </a:xfrm>
          <a:prstGeom prst="rect">
            <a:avLst/>
          </a:prstGeom>
          <a:noFill/>
        </p:spPr>
        <p:txBody>
          <a:bodyPr wrap="square" lIns="0" tIns="0" rIns="0" bIns="0" anchor="ctr">
            <a:spAutoFit/>
          </a:bodyPr>
          <a:lstStyle/>
          <a:p>
            <a:pPr algn="ctr"/>
            <a:r>
              <a:rPr sz="1400" b="1" i="0">
                <a:solidFill>
                  <a:srgbClr val="FFFFFF"/>
                </a:solidFill>
              </a:rPr>
              <a:t>2</a:t>
            </a:r>
          </a:p>
        </p:txBody>
      </p:sp>
      <p:sp>
        <p:nvSpPr>
          <p:cNvPr id="15" name="TextBox 14"/>
          <p:cNvSpPr txBox="1"/>
          <p:nvPr/>
        </p:nvSpPr>
        <p:spPr>
          <a:xfrm>
            <a:off x="5221224" y="2414016"/>
            <a:ext cx="2478024" cy="365760"/>
          </a:xfrm>
          <a:prstGeom prst="rect">
            <a:avLst/>
          </a:prstGeom>
          <a:noFill/>
        </p:spPr>
        <p:txBody>
          <a:bodyPr wrap="square" lIns="0" tIns="0" rIns="0" bIns="0">
            <a:spAutoFit/>
          </a:bodyPr>
          <a:lstStyle/>
          <a:p>
            <a:pPr algn="l"/>
            <a:r>
              <a:rPr sz="1100" b="1" i="0">
                <a:solidFill>
                  <a:srgbClr val="142A4E"/>
                </a:solidFill>
              </a:rPr>
              <a:t>WHAT I BUILT</a:t>
            </a:r>
          </a:p>
        </p:txBody>
      </p:sp>
      <p:sp>
        <p:nvSpPr>
          <p:cNvPr id="16" name="TextBox 15"/>
          <p:cNvSpPr txBox="1"/>
          <p:nvPr/>
        </p:nvSpPr>
        <p:spPr>
          <a:xfrm>
            <a:off x="4672584" y="2971800"/>
            <a:ext cx="2843784" cy="2377440"/>
          </a:xfrm>
          <a:prstGeom prst="rect">
            <a:avLst/>
          </a:prstGeom>
          <a:noFill/>
        </p:spPr>
        <p:txBody>
          <a:bodyPr wrap="square" lIns="0" tIns="0" rIns="0" bIns="0">
            <a:spAutoFit/>
          </a:bodyPr>
          <a:lstStyle/>
          <a:p>
            <a:pPr algn="l"/>
            <a:r>
              <a:rPr sz="1300" b="0" i="0">
                <a:solidFill>
                  <a:srgbClr val="1C2436"/>
                </a:solidFill>
              </a:rPr>
              <a:t>I built an end-to-end real-time V2G dispatch system. It pulls live ERCOT electricity prices, predicts which cars will be home using a forecasting ensemble I trained (Chronos-2 + iTransformer + Copy-Last-Week, best model picked per car), runs ~3,000 Monte Carlo scenarios per dispatch cycle, and picks the smallest car pool that meets the commitment at 90% confidence — with a Dropout Compensator that instantly redistributes load if a car leaves.</a:t>
            </a:r>
          </a:p>
        </p:txBody>
      </p:sp>
      <p:sp>
        <p:nvSpPr>
          <p:cNvPr id="17" name="Rounded Rectangle 16"/>
          <p:cNvSpPr/>
          <p:nvPr/>
        </p:nvSpPr>
        <p:spPr>
          <a:xfrm>
            <a:off x="8065008"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5008" y="2103120"/>
            <a:ext cx="3483864"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85048" y="2377440"/>
            <a:ext cx="411480" cy="411480"/>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5048" y="2377440"/>
            <a:ext cx="411480" cy="411480"/>
          </a:xfrm>
          <a:prstGeom prst="rect">
            <a:avLst/>
          </a:prstGeom>
          <a:noFill/>
        </p:spPr>
        <p:txBody>
          <a:bodyPr wrap="square" lIns="0" tIns="0" rIns="0" bIns="0" anchor="ctr">
            <a:spAutoFit/>
          </a:bodyPr>
          <a:lstStyle/>
          <a:p>
            <a:pPr algn="ctr"/>
            <a:r>
              <a:rPr sz="1400" b="1" i="0">
                <a:solidFill>
                  <a:srgbClr val="FFFFFF"/>
                </a:solidFill>
              </a:rPr>
              <a:t>3</a:t>
            </a:r>
          </a:p>
        </p:txBody>
      </p:sp>
      <p:sp>
        <p:nvSpPr>
          <p:cNvPr id="21" name="TextBox 20"/>
          <p:cNvSpPr txBox="1"/>
          <p:nvPr/>
        </p:nvSpPr>
        <p:spPr>
          <a:xfrm>
            <a:off x="8933688" y="2414016"/>
            <a:ext cx="2478024" cy="365760"/>
          </a:xfrm>
          <a:prstGeom prst="rect">
            <a:avLst/>
          </a:prstGeom>
          <a:noFill/>
        </p:spPr>
        <p:txBody>
          <a:bodyPr wrap="square" lIns="0" tIns="0" rIns="0" bIns="0">
            <a:spAutoFit/>
          </a:bodyPr>
          <a:lstStyle/>
          <a:p>
            <a:pPr algn="l"/>
            <a:r>
              <a:rPr sz="1100" b="1" i="0">
                <a:solidFill>
                  <a:srgbClr val="3498A2"/>
                </a:solidFill>
              </a:rPr>
              <a:t>WHAT CHANGED</a:t>
            </a:r>
          </a:p>
        </p:txBody>
      </p:sp>
      <p:sp>
        <p:nvSpPr>
          <p:cNvPr id="22" name="TextBox 21"/>
          <p:cNvSpPr txBox="1"/>
          <p:nvPr/>
        </p:nvSpPr>
        <p:spPr>
          <a:xfrm>
            <a:off x="8385048" y="2971800"/>
            <a:ext cx="2843784" cy="2377440"/>
          </a:xfrm>
          <a:prstGeom prst="rect">
            <a:avLst/>
          </a:prstGeom>
          <a:noFill/>
        </p:spPr>
        <p:txBody>
          <a:bodyPr wrap="square" lIns="0" tIns="0" rIns="0" bIns="0">
            <a:spAutoFit/>
          </a:bodyPr>
          <a:lstStyle/>
          <a:p>
            <a:pPr algn="l"/>
            <a:r>
              <a:rPr sz="1300" b="0" i="0">
                <a:solidFill>
                  <a:srgbClr val="1C2436"/>
                </a:solidFill>
              </a:rPr>
              <a:t>Sub-second dispatch decisions. Commitment held even when cars drop out. Forecasts 10% better than baseline. Training 40% faster. Answers 'I need 30 kWh/hr from 6-10pm — which cars?' with a ranked VIN list and the reasoning.</a:t>
            </a:r>
          </a:p>
        </p:txBody>
      </p:sp>
      <p:sp>
        <p:nvSpPr>
          <p:cNvPr id="23" name="TextBox 22"/>
          <p:cNvSpPr txBox="1"/>
          <p:nvPr/>
        </p:nvSpPr>
        <p:spPr>
          <a:xfrm>
            <a:off x="0" y="5669280"/>
            <a:ext cx="12191695" cy="320040"/>
          </a:xfrm>
          <a:prstGeom prst="rect">
            <a:avLst/>
          </a:prstGeom>
          <a:noFill/>
        </p:spPr>
        <p:txBody>
          <a:bodyPr wrap="square" lIns="0" tIns="0" rIns="0" bIns="0">
            <a:spAutoFit/>
          </a:bodyPr>
          <a:lstStyle/>
          <a:p>
            <a:pPr algn="ctr"/>
            <a:r>
              <a:rPr sz="1100" b="0" i="1">
                <a:solidFill>
                  <a:srgbClr val="3498A2"/>
                </a:solidFill>
              </a:rPr>
              <a:t>Next slide: how it actually works  ↓</a:t>
            </a:r>
          </a:p>
        </p:txBody>
      </p:sp>
      <p:sp>
        <p:nvSpPr>
          <p:cNvPr id="24" name="Rectangle 23"/>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9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3498A2"/>
                </a:solidFill>
              </a:rPr>
              <a:t>STORY 3 · UNDER THE HOOD</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V2G — using Ford EVs as a fleet power source for the grid</a:t>
            </a:r>
          </a:p>
        </p:txBody>
      </p:sp>
      <p:sp>
        <p:nvSpPr>
          <p:cNvPr id="5" name="TextBox 4"/>
          <p:cNvSpPr txBox="1"/>
          <p:nvPr/>
        </p:nvSpPr>
        <p:spPr>
          <a:xfrm>
            <a:off x="640080" y="1801368"/>
            <a:ext cx="10972800" cy="411480"/>
          </a:xfrm>
          <a:prstGeom prst="rect">
            <a:avLst/>
          </a:prstGeom>
          <a:noFill/>
        </p:spPr>
        <p:txBody>
          <a:bodyPr wrap="square" lIns="0" tIns="0" rIns="0" bIns="0">
            <a:spAutoFit/>
          </a:bodyPr>
          <a:lstStyle/>
          <a:p>
            <a:pPr algn="l"/>
            <a:r>
              <a:rPr sz="1400" b="0" i="0">
                <a:solidFill>
                  <a:srgbClr val="465266"/>
                </a:solidFill>
              </a:rPr>
              <a:t>How it works inside, in plain English.</a:t>
            </a:r>
          </a:p>
        </p:txBody>
      </p:sp>
      <p:sp>
        <p:nvSpPr>
          <p:cNvPr id="6" name="TextBox 5"/>
          <p:cNvSpPr txBox="1"/>
          <p:nvPr/>
        </p:nvSpPr>
        <p:spPr>
          <a:xfrm>
            <a:off x="640080" y="1965960"/>
            <a:ext cx="7315200" cy="274320"/>
          </a:xfrm>
          <a:prstGeom prst="rect">
            <a:avLst/>
          </a:prstGeom>
          <a:noFill/>
        </p:spPr>
        <p:txBody>
          <a:bodyPr wrap="square" lIns="0" tIns="0" rIns="0" bIns="0">
            <a:spAutoFit/>
          </a:bodyPr>
          <a:lstStyle/>
          <a:p>
            <a:pPr algn="l"/>
            <a:r>
              <a:rPr sz="1100" b="1" i="0">
                <a:solidFill>
                  <a:srgbClr val="3498A2"/>
                </a:solidFill>
              </a:rPr>
              <a:t>THE WORKFLOW</a:t>
            </a:r>
          </a:p>
        </p:txBody>
      </p:sp>
      <p:sp>
        <p:nvSpPr>
          <p:cNvPr id="7" name="Rounded Rectangle 6"/>
          <p:cNvSpPr/>
          <p:nvPr/>
        </p:nvSpPr>
        <p:spPr>
          <a:xfrm>
            <a:off x="64008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40280"/>
            <a:ext cx="1696212"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2423160"/>
            <a:ext cx="347472" cy="347472"/>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47472" cy="347472"/>
          </a:xfrm>
          <a:prstGeom prst="rect">
            <a:avLst/>
          </a:prstGeom>
          <a:noFill/>
        </p:spPr>
        <p:txBody>
          <a:bodyPr wrap="square" lIns="0" tIns="0" rIns="0" bIns="0" anchor="ctr">
            <a:spAutoFit/>
          </a:bodyPr>
          <a:lstStyle/>
          <a:p>
            <a:pPr algn="ctr"/>
            <a:r>
              <a:rPr sz="1100" b="1" i="0">
                <a:solidFill>
                  <a:srgbClr val="FFFFFF"/>
                </a:solidFill>
              </a:rPr>
              <a:t>1</a:t>
            </a:r>
          </a:p>
        </p:txBody>
      </p:sp>
      <p:sp>
        <p:nvSpPr>
          <p:cNvPr id="11" name="TextBox 10"/>
          <p:cNvSpPr txBox="1"/>
          <p:nvPr/>
        </p:nvSpPr>
        <p:spPr>
          <a:xfrm>
            <a:off x="1188720" y="2423160"/>
            <a:ext cx="1010412" cy="320040"/>
          </a:xfrm>
          <a:prstGeom prst="rect">
            <a:avLst/>
          </a:prstGeom>
          <a:noFill/>
        </p:spPr>
        <p:txBody>
          <a:bodyPr wrap="square" lIns="0" tIns="0" rIns="0" bIns="0">
            <a:spAutoFit/>
          </a:bodyPr>
          <a:lstStyle/>
          <a:p>
            <a:pPr algn="l"/>
            <a:r>
              <a:rPr sz="1100" b="1" i="0">
                <a:solidFill>
                  <a:srgbClr val="142A4E"/>
                </a:solidFill>
              </a:rPr>
              <a:t>Market Feed</a:t>
            </a:r>
          </a:p>
        </p:txBody>
      </p:sp>
      <p:sp>
        <p:nvSpPr>
          <p:cNvPr id="12" name="TextBox 11"/>
          <p:cNvSpPr txBox="1"/>
          <p:nvPr/>
        </p:nvSpPr>
        <p:spPr>
          <a:xfrm>
            <a:off x="804672" y="2834640"/>
            <a:ext cx="1367028" cy="640080"/>
          </a:xfrm>
          <a:prstGeom prst="rect">
            <a:avLst/>
          </a:prstGeom>
          <a:noFill/>
        </p:spPr>
        <p:txBody>
          <a:bodyPr wrap="square" lIns="0" tIns="0" rIns="0" bIns="0">
            <a:spAutoFit/>
          </a:bodyPr>
          <a:lstStyle/>
          <a:p>
            <a:pPr algn="l"/>
            <a:r>
              <a:rPr sz="850" b="0" i="0">
                <a:solidFill>
                  <a:srgbClr val="465266"/>
                </a:solidFill>
              </a:rPr>
              <a:t>Live ERCOT prices via gridstatus</a:t>
            </a:r>
          </a:p>
        </p:txBody>
      </p:sp>
      <p:sp>
        <p:nvSpPr>
          <p:cNvPr id="13" name="Right Arrow 12"/>
          <p:cNvSpPr/>
          <p:nvPr/>
        </p:nvSpPr>
        <p:spPr>
          <a:xfrm>
            <a:off x="2340864" y="2811780"/>
            <a:ext cx="137160" cy="182880"/>
          </a:xfrm>
          <a:prstGeom prst="rightArrow">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82596"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82596" y="2240280"/>
            <a:ext cx="1696212"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1468" y="2423160"/>
            <a:ext cx="347472" cy="347472"/>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1468" y="2423160"/>
            <a:ext cx="347472" cy="347472"/>
          </a:xfrm>
          <a:prstGeom prst="rect">
            <a:avLst/>
          </a:prstGeom>
          <a:noFill/>
        </p:spPr>
        <p:txBody>
          <a:bodyPr wrap="square" lIns="0" tIns="0" rIns="0" bIns="0" anchor="ctr">
            <a:spAutoFit/>
          </a:bodyPr>
          <a:lstStyle/>
          <a:p>
            <a:pPr algn="ctr"/>
            <a:r>
              <a:rPr sz="1100" b="1" i="0">
                <a:solidFill>
                  <a:srgbClr val="FFFFFF"/>
                </a:solidFill>
              </a:rPr>
              <a:t>2</a:t>
            </a:r>
          </a:p>
        </p:txBody>
      </p:sp>
      <p:sp>
        <p:nvSpPr>
          <p:cNvPr id="18" name="TextBox 17"/>
          <p:cNvSpPr txBox="1"/>
          <p:nvPr/>
        </p:nvSpPr>
        <p:spPr>
          <a:xfrm>
            <a:off x="3031236" y="2423160"/>
            <a:ext cx="1010412" cy="320040"/>
          </a:xfrm>
          <a:prstGeom prst="rect">
            <a:avLst/>
          </a:prstGeom>
          <a:noFill/>
        </p:spPr>
        <p:txBody>
          <a:bodyPr wrap="square" lIns="0" tIns="0" rIns="0" bIns="0">
            <a:spAutoFit/>
          </a:bodyPr>
          <a:lstStyle/>
          <a:p>
            <a:pPr algn="l"/>
            <a:r>
              <a:rPr sz="1100" b="1" i="0">
                <a:solidFill>
                  <a:srgbClr val="142A4E"/>
                </a:solidFill>
              </a:rPr>
              <a:t>Forecast</a:t>
            </a:r>
          </a:p>
        </p:txBody>
      </p:sp>
      <p:sp>
        <p:nvSpPr>
          <p:cNvPr id="19" name="TextBox 18"/>
          <p:cNvSpPr txBox="1"/>
          <p:nvPr/>
        </p:nvSpPr>
        <p:spPr>
          <a:xfrm>
            <a:off x="2647188" y="2834640"/>
            <a:ext cx="1367028" cy="640080"/>
          </a:xfrm>
          <a:prstGeom prst="rect">
            <a:avLst/>
          </a:prstGeom>
          <a:noFill/>
        </p:spPr>
        <p:txBody>
          <a:bodyPr wrap="square" lIns="0" tIns="0" rIns="0" bIns="0">
            <a:spAutoFit/>
          </a:bodyPr>
          <a:lstStyle/>
          <a:p>
            <a:pPr algn="l"/>
            <a:r>
              <a:rPr sz="850" b="0" i="0">
                <a:solidFill>
                  <a:srgbClr val="465266"/>
                </a:solidFill>
              </a:rPr>
              <a:t>Predict which cars are home (Chronos-2 + iTransformer + TFT)</a:t>
            </a:r>
          </a:p>
        </p:txBody>
      </p:sp>
      <p:sp>
        <p:nvSpPr>
          <p:cNvPr id="20" name="Right Arrow 19"/>
          <p:cNvSpPr/>
          <p:nvPr/>
        </p:nvSpPr>
        <p:spPr>
          <a:xfrm>
            <a:off x="4183380" y="2811780"/>
            <a:ext cx="137160" cy="182880"/>
          </a:xfrm>
          <a:prstGeom prst="rightArrow">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25112"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25112" y="2240280"/>
            <a:ext cx="1696212"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43984" y="2423160"/>
            <a:ext cx="347472" cy="347472"/>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3984" y="2423160"/>
            <a:ext cx="347472" cy="347472"/>
          </a:xfrm>
          <a:prstGeom prst="rect">
            <a:avLst/>
          </a:prstGeom>
          <a:noFill/>
        </p:spPr>
        <p:txBody>
          <a:bodyPr wrap="square" lIns="0" tIns="0" rIns="0" bIns="0" anchor="ctr">
            <a:spAutoFit/>
          </a:bodyPr>
          <a:lstStyle/>
          <a:p>
            <a:pPr algn="ctr"/>
            <a:r>
              <a:rPr sz="1100" b="1" i="0">
                <a:solidFill>
                  <a:srgbClr val="FFFFFF"/>
                </a:solidFill>
              </a:rPr>
              <a:t>3</a:t>
            </a:r>
          </a:p>
        </p:txBody>
      </p:sp>
      <p:sp>
        <p:nvSpPr>
          <p:cNvPr id="25" name="TextBox 24"/>
          <p:cNvSpPr txBox="1"/>
          <p:nvPr/>
        </p:nvSpPr>
        <p:spPr>
          <a:xfrm>
            <a:off x="4873752" y="2423160"/>
            <a:ext cx="1010412" cy="320040"/>
          </a:xfrm>
          <a:prstGeom prst="rect">
            <a:avLst/>
          </a:prstGeom>
          <a:noFill/>
        </p:spPr>
        <p:txBody>
          <a:bodyPr wrap="square" lIns="0" tIns="0" rIns="0" bIns="0">
            <a:spAutoFit/>
          </a:bodyPr>
          <a:lstStyle/>
          <a:p>
            <a:pPr algn="l"/>
            <a:r>
              <a:rPr sz="1100" b="1" i="0">
                <a:solidFill>
                  <a:srgbClr val="142A4E"/>
                </a:solidFill>
              </a:rPr>
              <a:t>Monte Carlo</a:t>
            </a:r>
          </a:p>
        </p:txBody>
      </p:sp>
      <p:sp>
        <p:nvSpPr>
          <p:cNvPr id="26" name="TextBox 25"/>
          <p:cNvSpPr txBox="1"/>
          <p:nvPr/>
        </p:nvSpPr>
        <p:spPr>
          <a:xfrm>
            <a:off x="4489704" y="2834640"/>
            <a:ext cx="1367028" cy="640080"/>
          </a:xfrm>
          <a:prstGeom prst="rect">
            <a:avLst/>
          </a:prstGeom>
          <a:noFill/>
        </p:spPr>
        <p:txBody>
          <a:bodyPr wrap="square" lIns="0" tIns="0" rIns="0" bIns="0">
            <a:spAutoFit/>
          </a:bodyPr>
          <a:lstStyle/>
          <a:p>
            <a:pPr algn="l"/>
            <a:r>
              <a:rPr sz="850" b="0" i="0">
                <a:solidFill>
                  <a:srgbClr val="465266"/>
                </a:solidFill>
              </a:rPr>
              <a:t>~3,000 scenarios → P50/P90 capacity</a:t>
            </a:r>
          </a:p>
        </p:txBody>
      </p:sp>
      <p:sp>
        <p:nvSpPr>
          <p:cNvPr id="27" name="Right Arrow 26"/>
          <p:cNvSpPr/>
          <p:nvPr/>
        </p:nvSpPr>
        <p:spPr>
          <a:xfrm>
            <a:off x="6025896" y="2811780"/>
            <a:ext cx="137160" cy="182880"/>
          </a:xfrm>
          <a:prstGeom prst="rightArrow">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67628"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67628" y="2240280"/>
            <a:ext cx="1696212"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86500" y="2423160"/>
            <a:ext cx="347472" cy="347472"/>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86500" y="2423160"/>
            <a:ext cx="347472" cy="347472"/>
          </a:xfrm>
          <a:prstGeom prst="rect">
            <a:avLst/>
          </a:prstGeom>
          <a:noFill/>
        </p:spPr>
        <p:txBody>
          <a:bodyPr wrap="square" lIns="0" tIns="0" rIns="0" bIns="0" anchor="ctr">
            <a:spAutoFit/>
          </a:bodyPr>
          <a:lstStyle/>
          <a:p>
            <a:pPr algn="ctr"/>
            <a:r>
              <a:rPr sz="1100" b="1" i="0">
                <a:solidFill>
                  <a:srgbClr val="FFFFFF"/>
                </a:solidFill>
              </a:rPr>
              <a:t>4</a:t>
            </a:r>
          </a:p>
        </p:txBody>
      </p:sp>
      <p:sp>
        <p:nvSpPr>
          <p:cNvPr id="32" name="TextBox 31"/>
          <p:cNvSpPr txBox="1"/>
          <p:nvPr/>
        </p:nvSpPr>
        <p:spPr>
          <a:xfrm>
            <a:off x="6716268" y="2423160"/>
            <a:ext cx="1010412" cy="320040"/>
          </a:xfrm>
          <a:prstGeom prst="rect">
            <a:avLst/>
          </a:prstGeom>
          <a:noFill/>
        </p:spPr>
        <p:txBody>
          <a:bodyPr wrap="square" lIns="0" tIns="0" rIns="0" bIns="0">
            <a:spAutoFit/>
          </a:bodyPr>
          <a:lstStyle/>
          <a:p>
            <a:pPr algn="l"/>
            <a:r>
              <a:rPr sz="1100" b="1" i="0">
                <a:solidFill>
                  <a:srgbClr val="142A4E"/>
                </a:solidFill>
              </a:rPr>
              <a:t>Bid Optimizer</a:t>
            </a:r>
          </a:p>
        </p:txBody>
      </p:sp>
      <p:sp>
        <p:nvSpPr>
          <p:cNvPr id="33" name="TextBox 32"/>
          <p:cNvSpPr txBox="1"/>
          <p:nvPr/>
        </p:nvSpPr>
        <p:spPr>
          <a:xfrm>
            <a:off x="6332220" y="2834640"/>
            <a:ext cx="1367028" cy="640080"/>
          </a:xfrm>
          <a:prstGeom prst="rect">
            <a:avLst/>
          </a:prstGeom>
          <a:noFill/>
        </p:spPr>
        <p:txBody>
          <a:bodyPr wrap="square" lIns="0" tIns="0" rIns="0" bIns="0">
            <a:spAutoFit/>
          </a:bodyPr>
          <a:lstStyle/>
          <a:p>
            <a:pPr algn="l"/>
            <a:r>
              <a:rPr sz="850" b="0" i="0">
                <a:solidFill>
                  <a:srgbClr val="465266"/>
                </a:solidFill>
              </a:rPr>
              <a:t>Pick smallest VIN pool that meets target at 90%</a:t>
            </a:r>
          </a:p>
        </p:txBody>
      </p:sp>
      <p:sp>
        <p:nvSpPr>
          <p:cNvPr id="34" name="Right Arrow 33"/>
          <p:cNvSpPr/>
          <p:nvPr/>
        </p:nvSpPr>
        <p:spPr>
          <a:xfrm>
            <a:off x="7868412" y="2811780"/>
            <a:ext cx="137160" cy="182880"/>
          </a:xfrm>
          <a:prstGeom prst="rightArrow">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10144"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10144" y="2240280"/>
            <a:ext cx="1696212"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29016" y="2423160"/>
            <a:ext cx="347472" cy="347472"/>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29016" y="2423160"/>
            <a:ext cx="347472" cy="347472"/>
          </a:xfrm>
          <a:prstGeom prst="rect">
            <a:avLst/>
          </a:prstGeom>
          <a:noFill/>
        </p:spPr>
        <p:txBody>
          <a:bodyPr wrap="square" lIns="0" tIns="0" rIns="0" bIns="0" anchor="ctr">
            <a:spAutoFit/>
          </a:bodyPr>
          <a:lstStyle/>
          <a:p>
            <a:pPr algn="ctr"/>
            <a:r>
              <a:rPr sz="1100" b="1" i="0">
                <a:solidFill>
                  <a:srgbClr val="FFFFFF"/>
                </a:solidFill>
              </a:rPr>
              <a:t>5</a:t>
            </a:r>
          </a:p>
        </p:txBody>
      </p:sp>
      <p:sp>
        <p:nvSpPr>
          <p:cNvPr id="39" name="TextBox 38"/>
          <p:cNvSpPr txBox="1"/>
          <p:nvPr/>
        </p:nvSpPr>
        <p:spPr>
          <a:xfrm>
            <a:off x="8558784" y="2423160"/>
            <a:ext cx="1010412" cy="320040"/>
          </a:xfrm>
          <a:prstGeom prst="rect">
            <a:avLst/>
          </a:prstGeom>
          <a:noFill/>
        </p:spPr>
        <p:txBody>
          <a:bodyPr wrap="square" lIns="0" tIns="0" rIns="0" bIns="0">
            <a:spAutoFit/>
          </a:bodyPr>
          <a:lstStyle/>
          <a:p>
            <a:pPr algn="l"/>
            <a:r>
              <a:rPr sz="1100" b="1" i="0">
                <a:solidFill>
                  <a:srgbClr val="142A4E"/>
                </a:solidFill>
              </a:rPr>
              <a:t>Power Control</a:t>
            </a:r>
          </a:p>
        </p:txBody>
      </p:sp>
      <p:sp>
        <p:nvSpPr>
          <p:cNvPr id="40" name="TextBox 39"/>
          <p:cNvSpPr txBox="1"/>
          <p:nvPr/>
        </p:nvSpPr>
        <p:spPr>
          <a:xfrm>
            <a:off x="8174736" y="2834640"/>
            <a:ext cx="1367028" cy="640080"/>
          </a:xfrm>
          <a:prstGeom prst="rect">
            <a:avLst/>
          </a:prstGeom>
          <a:noFill/>
        </p:spPr>
        <p:txBody>
          <a:bodyPr wrap="square" lIns="0" tIns="0" rIns="0" bIns="0">
            <a:spAutoFit/>
          </a:bodyPr>
          <a:lstStyle/>
          <a:p>
            <a:pPr algn="l"/>
            <a:r>
              <a:rPr sz="850" b="0" i="0">
                <a:solidFill>
                  <a:srgbClr val="465266"/>
                </a:solidFill>
              </a:rPr>
              <a:t>Send per-car kW commands</a:t>
            </a:r>
          </a:p>
        </p:txBody>
      </p:sp>
      <p:sp>
        <p:nvSpPr>
          <p:cNvPr id="41" name="Right Arrow 40"/>
          <p:cNvSpPr/>
          <p:nvPr/>
        </p:nvSpPr>
        <p:spPr>
          <a:xfrm>
            <a:off x="9710928" y="2811780"/>
            <a:ext cx="137160" cy="182880"/>
          </a:xfrm>
          <a:prstGeom prst="rightArrow">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85266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852660" y="2240280"/>
            <a:ext cx="1696212" cy="64008"/>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971532" y="2423160"/>
            <a:ext cx="347472" cy="347472"/>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1532" y="2423160"/>
            <a:ext cx="347472" cy="347472"/>
          </a:xfrm>
          <a:prstGeom prst="rect">
            <a:avLst/>
          </a:prstGeom>
          <a:noFill/>
        </p:spPr>
        <p:txBody>
          <a:bodyPr wrap="square" lIns="0" tIns="0" rIns="0" bIns="0" anchor="ctr">
            <a:spAutoFit/>
          </a:bodyPr>
          <a:lstStyle/>
          <a:p>
            <a:pPr algn="ctr"/>
            <a:r>
              <a:rPr sz="1100" b="1" i="0">
                <a:solidFill>
                  <a:srgbClr val="FFFFFF"/>
                </a:solidFill>
              </a:rPr>
              <a:t>6</a:t>
            </a:r>
          </a:p>
        </p:txBody>
      </p:sp>
      <p:sp>
        <p:nvSpPr>
          <p:cNvPr id="46" name="TextBox 45"/>
          <p:cNvSpPr txBox="1"/>
          <p:nvPr/>
        </p:nvSpPr>
        <p:spPr>
          <a:xfrm>
            <a:off x="10401300" y="2423160"/>
            <a:ext cx="1010412" cy="320040"/>
          </a:xfrm>
          <a:prstGeom prst="rect">
            <a:avLst/>
          </a:prstGeom>
          <a:noFill/>
        </p:spPr>
        <p:txBody>
          <a:bodyPr wrap="square" lIns="0" tIns="0" rIns="0" bIns="0">
            <a:spAutoFit/>
          </a:bodyPr>
          <a:lstStyle/>
          <a:p>
            <a:pPr algn="l"/>
            <a:r>
              <a:rPr sz="1100" b="1" i="0">
                <a:solidFill>
                  <a:srgbClr val="142A4E"/>
                </a:solidFill>
              </a:rPr>
              <a:t>Compensate</a:t>
            </a:r>
          </a:p>
        </p:txBody>
      </p:sp>
      <p:sp>
        <p:nvSpPr>
          <p:cNvPr id="47" name="TextBox 46"/>
          <p:cNvSpPr txBox="1"/>
          <p:nvPr/>
        </p:nvSpPr>
        <p:spPr>
          <a:xfrm>
            <a:off x="10017252" y="2834640"/>
            <a:ext cx="1367028" cy="640080"/>
          </a:xfrm>
          <a:prstGeom prst="rect">
            <a:avLst/>
          </a:prstGeom>
          <a:noFill/>
        </p:spPr>
        <p:txBody>
          <a:bodyPr wrap="square" lIns="0" tIns="0" rIns="0" bIns="0">
            <a:spAutoFit/>
          </a:bodyPr>
          <a:lstStyle/>
          <a:p>
            <a:pPr algn="l"/>
            <a:r>
              <a:rPr sz="850" b="0" i="0">
                <a:solidFill>
                  <a:srgbClr val="465266"/>
                </a:solidFill>
              </a:rPr>
              <a:t>Redistribute instantly when a car drops out</a:t>
            </a:r>
          </a:p>
        </p:txBody>
      </p:sp>
      <p:sp>
        <p:nvSpPr>
          <p:cNvPr id="48" name="Rounded Rectangle 47"/>
          <p:cNvSpPr/>
          <p:nvPr/>
        </p:nvSpPr>
        <p:spPr>
          <a:xfrm>
            <a:off x="640080" y="3840480"/>
            <a:ext cx="6583680"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40080" y="3840480"/>
            <a:ext cx="73152" cy="2423160"/>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023360"/>
            <a:ext cx="6126480" cy="320040"/>
          </a:xfrm>
          <a:prstGeom prst="rect">
            <a:avLst/>
          </a:prstGeom>
          <a:noFill/>
        </p:spPr>
        <p:txBody>
          <a:bodyPr wrap="square" lIns="0" tIns="0" rIns="0" bIns="0">
            <a:spAutoFit/>
          </a:bodyPr>
          <a:lstStyle/>
          <a:p>
            <a:pPr algn="l"/>
            <a:r>
              <a:rPr sz="1100" b="1" i="0">
                <a:solidFill>
                  <a:srgbClr val="3498A2"/>
                </a:solidFill>
              </a:rPr>
              <a:t>WHAT EACH PART DOES</a:t>
            </a:r>
          </a:p>
        </p:txBody>
      </p:sp>
      <p:sp>
        <p:nvSpPr>
          <p:cNvPr id="51" name="TextBox 50"/>
          <p:cNvSpPr txBox="1"/>
          <p:nvPr/>
        </p:nvSpPr>
        <p:spPr>
          <a:xfrm>
            <a:off x="914400" y="4389120"/>
            <a:ext cx="6126480" cy="1737360"/>
          </a:xfrm>
          <a:prstGeom prst="rect">
            <a:avLst/>
          </a:prstGeom>
          <a:noFill/>
        </p:spPr>
        <p:txBody>
          <a:bodyPr wrap="square" lIns="0" tIns="0" rIns="0" bIns="0">
            <a:spAutoFit/>
          </a:bodyPr>
          <a:lstStyle/>
          <a:p>
            <a:pPr>
              <a:spcAft>
                <a:spcPts val="400"/>
              </a:spcAft>
            </a:pPr>
            <a:r>
              <a:rPr sz="1100" b="1">
                <a:solidFill>
                  <a:srgbClr val="142A4E"/>
                </a:solidFill>
              </a:rPr>
              <a:t>MarketFeed  </a:t>
            </a:r>
            <a:r>
              <a:rPr sz="1050">
                <a:solidFill>
                  <a:srgbClr val="465266"/>
                </a:solidFill>
              </a:rPr>
              <a:t> — pulls live ERCOT prices via the gridstatus library. Synthetic-prices fallback for offline runs.</a:t>
            </a:r>
          </a:p>
          <a:p>
            <a:pPr>
              <a:spcAft>
                <a:spcPts val="400"/>
              </a:spcAft>
            </a:pPr>
            <a:r>
              <a:rPr sz="1100" b="1">
                <a:solidFill>
                  <a:srgbClr val="142A4E"/>
                </a:solidFill>
              </a:rPr>
              <a:t>Forecasting ensemble  </a:t>
            </a:r>
            <a:r>
              <a:rPr sz="1050">
                <a:solidFill>
                  <a:srgbClr val="465266"/>
                </a:solidFill>
              </a:rPr>
              <a:t> — Chronos-2 + iTransformer + Copy-Last-Week + my trained TFT (TFT/Autoformer trained on 444 cars with Optuna on Vertex AI V100s). Picks the best model per car. Outputs 9 quantile forecasts, 168 hours ahead.</a:t>
            </a:r>
          </a:p>
          <a:p>
            <a:pPr>
              <a:spcAft>
                <a:spcPts val="400"/>
              </a:spcAft>
            </a:pPr>
            <a:r>
              <a:rPr sz="1100" b="1">
                <a:solidFill>
                  <a:srgbClr val="142A4E"/>
                </a:solidFill>
              </a:rPr>
              <a:t>BidOptimizer  </a:t>
            </a:r>
            <a:r>
              <a:rPr sz="1050">
                <a:solidFill>
                  <a:srgbClr val="465266"/>
                </a:solidFill>
              </a:rPr>
              <a:t> — turns 'I need 30 kWh from 6-10pm at 90% confidence' into a ranked car list. Greedy selection + Monte Carlo scoring (~3k scenarios per cycle).</a:t>
            </a:r>
          </a:p>
          <a:p>
            <a:pPr>
              <a:spcAft>
                <a:spcPts val="400"/>
              </a:spcAft>
            </a:pPr>
            <a:r>
              <a:rPr sz="1100" b="1">
                <a:solidFill>
                  <a:srgbClr val="142A4E"/>
                </a:solidFill>
              </a:rPr>
              <a:t>PowerController + FleetMonitor  </a:t>
            </a:r>
            <a:r>
              <a:rPr sz="1050">
                <a:solidFill>
                  <a:srgbClr val="465266"/>
                </a:solidFill>
              </a:rPr>
              <a:t> — sends per-VIN kW commands; watches aggregated + per-car output every tick; flags deviation.</a:t>
            </a:r>
          </a:p>
          <a:p>
            <a:pPr>
              <a:spcAft>
                <a:spcPts val="400"/>
              </a:spcAft>
            </a:pPr>
            <a:r>
              <a:rPr sz="1100" b="1">
                <a:solidFill>
                  <a:srgbClr val="142A4E"/>
                </a:solidFill>
              </a:rPr>
              <a:t>DropoutCompensator  </a:t>
            </a:r>
            <a:r>
              <a:rPr sz="1050">
                <a:solidFill>
                  <a:srgbClr val="465266"/>
                </a:solidFill>
              </a:rPr>
              <a:t> — when a car unexpectedly leaves, instantly redistributes load or pulls in reserve cars. Keeps the grid commitment alive.</a:t>
            </a:r>
          </a:p>
        </p:txBody>
      </p:sp>
      <p:sp>
        <p:nvSpPr>
          <p:cNvPr id="52" name="Rounded Rectangle 51"/>
          <p:cNvSpPr/>
          <p:nvPr/>
        </p:nvSpPr>
        <p:spPr>
          <a:xfrm>
            <a:off x="7452360" y="3840480"/>
            <a:ext cx="4096512"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452360" y="3840480"/>
            <a:ext cx="73152" cy="2423160"/>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26680" y="4023360"/>
            <a:ext cx="3639312" cy="320040"/>
          </a:xfrm>
          <a:prstGeom prst="rect">
            <a:avLst/>
          </a:prstGeom>
          <a:noFill/>
        </p:spPr>
        <p:txBody>
          <a:bodyPr wrap="square" lIns="0" tIns="0" rIns="0" bIns="0">
            <a:spAutoFit/>
          </a:bodyPr>
          <a:lstStyle/>
          <a:p>
            <a:pPr algn="l"/>
            <a:r>
              <a:rPr sz="1100" b="1" i="0">
                <a:solidFill>
                  <a:srgbClr val="3498A2"/>
                </a:solidFill>
              </a:rPr>
              <a:t>TECH STACK</a:t>
            </a:r>
          </a:p>
        </p:txBody>
      </p:sp>
      <p:sp>
        <p:nvSpPr>
          <p:cNvPr id="55" name="TextBox 54"/>
          <p:cNvSpPr txBox="1"/>
          <p:nvPr/>
        </p:nvSpPr>
        <p:spPr>
          <a:xfrm>
            <a:off x="7726680" y="4389120"/>
            <a:ext cx="3639312" cy="1737360"/>
          </a:xfrm>
          <a:prstGeom prst="rect">
            <a:avLst/>
          </a:prstGeom>
          <a:noFill/>
        </p:spPr>
        <p:txBody>
          <a:bodyPr wrap="square" lIns="0" tIns="0" rIns="0" bIns="0">
            <a:spAutoFit/>
          </a:bodyPr>
          <a:lstStyle/>
          <a:p>
            <a:pPr>
              <a:spcAft>
                <a:spcPts val="500"/>
              </a:spcAft>
            </a:pPr>
            <a:r>
              <a:rPr sz="1000" b="1">
                <a:solidFill>
                  <a:srgbClr val="3498A2"/>
                </a:solidFill>
              </a:rPr>
              <a:t>Language &amp; framework
</a:t>
            </a:r>
            <a:r>
              <a:rPr sz="1000">
                <a:solidFill>
                  <a:srgbClr val="1C2436"/>
                </a:solidFill>
              </a:rPr>
              <a:t>Python · PyTorch · CUDA</a:t>
            </a:r>
          </a:p>
          <a:p>
            <a:pPr>
              <a:spcAft>
                <a:spcPts val="500"/>
              </a:spcAft>
            </a:pPr>
            <a:r>
              <a:rPr sz="1000" b="1">
                <a:solidFill>
                  <a:srgbClr val="3498A2"/>
                </a:solidFill>
              </a:rPr>
              <a:t>Forecasting models
</a:t>
            </a:r>
            <a:r>
              <a:rPr sz="1000">
                <a:solidFill>
                  <a:srgbClr val="1C2436"/>
                </a:solidFill>
              </a:rPr>
              <a:t>Chronos-2 · iTransformer · GluonTS TFT · Autoformer</a:t>
            </a:r>
          </a:p>
          <a:p>
            <a:pPr>
              <a:spcAft>
                <a:spcPts val="500"/>
              </a:spcAft>
            </a:pPr>
            <a:r>
              <a:rPr sz="1000" b="1">
                <a:solidFill>
                  <a:srgbClr val="3498A2"/>
                </a:solidFill>
              </a:rPr>
              <a:t>Market &amp; decisioning
</a:t>
            </a:r>
            <a:r>
              <a:rPr sz="1000">
                <a:solidFill>
                  <a:srgbClr val="1C2436"/>
                </a:solidFill>
              </a:rPr>
              <a:t>gridstatus (ERCOT) · Monte Carlo (~3k/cycle) · P50/P90</a:t>
            </a:r>
          </a:p>
          <a:p>
            <a:pPr>
              <a:spcAft>
                <a:spcPts val="500"/>
              </a:spcAft>
            </a:pPr>
            <a:r>
              <a:rPr sz="1000" b="1">
                <a:solidFill>
                  <a:srgbClr val="3498A2"/>
                </a:solidFill>
              </a:rPr>
              <a:t>Cloud &amp; data
</a:t>
            </a:r>
            <a:r>
              <a:rPr sz="1000">
                <a:solidFill>
                  <a:srgbClr val="1C2436"/>
                </a:solidFill>
              </a:rPr>
              <a:t>Vertex AI Workbench (V100 GPU) · BigQuery · Optuna</a:t>
            </a:r>
          </a:p>
        </p:txBody>
      </p:sp>
      <p:sp>
        <p:nvSpPr>
          <p:cNvPr id="56" name="Rectangle 55"/>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10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965A9E"/>
                </a:solidFill>
              </a:rPr>
              <a:t>STORY 4 OF 5</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CPA Action Prioritizer — a smart business assistant</a:t>
            </a:r>
          </a:p>
        </p:txBody>
      </p:sp>
      <p:sp>
        <p:nvSpPr>
          <p:cNvPr id="5" name="Rounded Rectangle 4"/>
          <p:cNvSpPr/>
          <p:nvPr/>
        </p:nvSpPr>
        <p:spPr>
          <a:xfrm>
            <a:off x="640080"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03120"/>
            <a:ext cx="3483864"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2377440"/>
            <a:ext cx="411480" cy="411480"/>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377440"/>
            <a:ext cx="411480" cy="411480"/>
          </a:xfrm>
          <a:prstGeom prst="rect">
            <a:avLst/>
          </a:prstGeom>
          <a:noFill/>
        </p:spPr>
        <p:txBody>
          <a:bodyPr wrap="square" lIns="0" tIns="0" rIns="0" bIns="0" anchor="ctr">
            <a:spAutoFit/>
          </a:bodyPr>
          <a:lstStyle/>
          <a:p>
            <a:pPr algn="ctr"/>
            <a:r>
              <a:rPr sz="1400" b="1" i="0">
                <a:solidFill>
                  <a:srgbClr val="FFFFFF"/>
                </a:solidFill>
              </a:rPr>
              <a:t>1</a:t>
            </a:r>
          </a:p>
        </p:txBody>
      </p:sp>
      <p:sp>
        <p:nvSpPr>
          <p:cNvPr id="9" name="TextBox 8"/>
          <p:cNvSpPr txBox="1"/>
          <p:nvPr/>
        </p:nvSpPr>
        <p:spPr>
          <a:xfrm>
            <a:off x="1508760" y="2414016"/>
            <a:ext cx="2478024" cy="365760"/>
          </a:xfrm>
          <a:prstGeom prst="rect">
            <a:avLst/>
          </a:prstGeom>
          <a:noFill/>
        </p:spPr>
        <p:txBody>
          <a:bodyPr wrap="square" lIns="0" tIns="0" rIns="0" bIns="0">
            <a:spAutoFit/>
          </a:bodyPr>
          <a:lstStyle/>
          <a:p>
            <a:pPr algn="l"/>
            <a:r>
              <a:rPr sz="1100" b="1" i="0">
                <a:solidFill>
                  <a:srgbClr val="E86050"/>
                </a:solidFill>
              </a:rPr>
              <a:t>THE PROBLEM</a:t>
            </a:r>
          </a:p>
        </p:txBody>
      </p:sp>
      <p:sp>
        <p:nvSpPr>
          <p:cNvPr id="10" name="TextBox 9"/>
          <p:cNvSpPr txBox="1"/>
          <p:nvPr/>
        </p:nvSpPr>
        <p:spPr>
          <a:xfrm>
            <a:off x="960120" y="2971800"/>
            <a:ext cx="2843784" cy="2377440"/>
          </a:xfrm>
          <a:prstGeom prst="rect">
            <a:avLst/>
          </a:prstGeom>
          <a:noFill/>
        </p:spPr>
        <p:txBody>
          <a:bodyPr wrap="square" lIns="0" tIns="0" rIns="0" bIns="0">
            <a:spAutoFit/>
          </a:bodyPr>
          <a:lstStyle/>
          <a:p>
            <a:pPr algn="l"/>
            <a:r>
              <a:rPr sz="1300" b="0" i="0">
                <a:solidFill>
                  <a:srgbClr val="1C2436"/>
                </a:solidFill>
              </a:rPr>
              <a:t>When you've got a business spreadsheet and a scoring rubric, deciding which actions to take first is hard. Doing it in Excel is slow, inconsistent, and easy to get wrong. Teams need a way to score actions against a rubric in plain English — and they need to approve the plan before any analysis runs.</a:t>
            </a:r>
          </a:p>
        </p:txBody>
      </p:sp>
      <p:sp>
        <p:nvSpPr>
          <p:cNvPr id="11" name="Rounded Rectangle 10"/>
          <p:cNvSpPr/>
          <p:nvPr/>
        </p:nvSpPr>
        <p:spPr>
          <a:xfrm>
            <a:off x="4352544"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2103120"/>
            <a:ext cx="3483864"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72584" y="2377440"/>
            <a:ext cx="411480" cy="411480"/>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72584" y="2377440"/>
            <a:ext cx="411480" cy="411480"/>
          </a:xfrm>
          <a:prstGeom prst="rect">
            <a:avLst/>
          </a:prstGeom>
          <a:noFill/>
        </p:spPr>
        <p:txBody>
          <a:bodyPr wrap="square" lIns="0" tIns="0" rIns="0" bIns="0" anchor="ctr">
            <a:spAutoFit/>
          </a:bodyPr>
          <a:lstStyle/>
          <a:p>
            <a:pPr algn="ctr"/>
            <a:r>
              <a:rPr sz="1400" b="1" i="0">
                <a:solidFill>
                  <a:srgbClr val="FFFFFF"/>
                </a:solidFill>
              </a:rPr>
              <a:t>2</a:t>
            </a:r>
          </a:p>
        </p:txBody>
      </p:sp>
      <p:sp>
        <p:nvSpPr>
          <p:cNvPr id="15" name="TextBox 14"/>
          <p:cNvSpPr txBox="1"/>
          <p:nvPr/>
        </p:nvSpPr>
        <p:spPr>
          <a:xfrm>
            <a:off x="5221224" y="2414016"/>
            <a:ext cx="2478024" cy="365760"/>
          </a:xfrm>
          <a:prstGeom prst="rect">
            <a:avLst/>
          </a:prstGeom>
          <a:noFill/>
        </p:spPr>
        <p:txBody>
          <a:bodyPr wrap="square" lIns="0" tIns="0" rIns="0" bIns="0">
            <a:spAutoFit/>
          </a:bodyPr>
          <a:lstStyle/>
          <a:p>
            <a:pPr algn="l"/>
            <a:r>
              <a:rPr sz="1100" b="1" i="0">
                <a:solidFill>
                  <a:srgbClr val="142A4E"/>
                </a:solidFill>
              </a:rPr>
              <a:t>WHAT I BUILT</a:t>
            </a:r>
          </a:p>
        </p:txBody>
      </p:sp>
      <p:sp>
        <p:nvSpPr>
          <p:cNvPr id="16" name="TextBox 15"/>
          <p:cNvSpPr txBox="1"/>
          <p:nvPr/>
        </p:nvSpPr>
        <p:spPr>
          <a:xfrm>
            <a:off x="4672584" y="2971800"/>
            <a:ext cx="2843784" cy="2377440"/>
          </a:xfrm>
          <a:prstGeom prst="rect">
            <a:avLst/>
          </a:prstGeom>
          <a:noFill/>
        </p:spPr>
        <p:txBody>
          <a:bodyPr wrap="square" lIns="0" tIns="0" rIns="0" bIns="0">
            <a:spAutoFit/>
          </a:bodyPr>
          <a:lstStyle/>
          <a:p>
            <a:pPr algn="l"/>
            <a:r>
              <a:rPr sz="1300" b="0" i="0">
                <a:solidFill>
                  <a:srgbClr val="1C2436"/>
                </a:solidFill>
              </a:rPr>
              <a:t>I built a 4-stage agent app on Google's ADK. The user uploads files (Excel, CSV, Word) and a rubric. The Input agent reads them. The Planning agent proposes a scoring plan and WAITS for user approval. The Execution agent walks the plan as a checklist, calling a Pandas helper agent (PandasAI on local dataframes) for the actual analysis. The Report agent writes a 9-section markdown report and uploads it to Cloud Storage via an MCP server.</a:t>
            </a:r>
          </a:p>
        </p:txBody>
      </p:sp>
      <p:sp>
        <p:nvSpPr>
          <p:cNvPr id="17" name="Rounded Rectangle 16"/>
          <p:cNvSpPr/>
          <p:nvPr/>
        </p:nvSpPr>
        <p:spPr>
          <a:xfrm>
            <a:off x="8065008"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5008" y="2103120"/>
            <a:ext cx="3483864"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85048" y="2377440"/>
            <a:ext cx="411480" cy="411480"/>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5048" y="2377440"/>
            <a:ext cx="411480" cy="411480"/>
          </a:xfrm>
          <a:prstGeom prst="rect">
            <a:avLst/>
          </a:prstGeom>
          <a:noFill/>
        </p:spPr>
        <p:txBody>
          <a:bodyPr wrap="square" lIns="0" tIns="0" rIns="0" bIns="0" anchor="ctr">
            <a:spAutoFit/>
          </a:bodyPr>
          <a:lstStyle/>
          <a:p>
            <a:pPr algn="ctr"/>
            <a:r>
              <a:rPr sz="1400" b="1" i="0">
                <a:solidFill>
                  <a:srgbClr val="FFFFFF"/>
                </a:solidFill>
              </a:rPr>
              <a:t>3</a:t>
            </a:r>
          </a:p>
        </p:txBody>
      </p:sp>
      <p:sp>
        <p:nvSpPr>
          <p:cNvPr id="21" name="TextBox 20"/>
          <p:cNvSpPr txBox="1"/>
          <p:nvPr/>
        </p:nvSpPr>
        <p:spPr>
          <a:xfrm>
            <a:off x="8933688" y="2414016"/>
            <a:ext cx="2478024" cy="365760"/>
          </a:xfrm>
          <a:prstGeom prst="rect">
            <a:avLst/>
          </a:prstGeom>
          <a:noFill/>
        </p:spPr>
        <p:txBody>
          <a:bodyPr wrap="square" lIns="0" tIns="0" rIns="0" bIns="0">
            <a:spAutoFit/>
          </a:bodyPr>
          <a:lstStyle/>
          <a:p>
            <a:pPr algn="l"/>
            <a:r>
              <a:rPr sz="1100" b="1" i="0">
                <a:solidFill>
                  <a:srgbClr val="3498A2"/>
                </a:solidFill>
              </a:rPr>
              <a:t>WHAT CHANGED</a:t>
            </a:r>
          </a:p>
        </p:txBody>
      </p:sp>
      <p:sp>
        <p:nvSpPr>
          <p:cNvPr id="22" name="TextBox 21"/>
          <p:cNvSpPr txBox="1"/>
          <p:nvPr/>
        </p:nvSpPr>
        <p:spPr>
          <a:xfrm>
            <a:off x="8385048" y="2971800"/>
            <a:ext cx="2843784" cy="2377440"/>
          </a:xfrm>
          <a:prstGeom prst="rect">
            <a:avLst/>
          </a:prstGeom>
          <a:noFill/>
        </p:spPr>
        <p:txBody>
          <a:bodyPr wrap="square" lIns="0" tIns="0" rIns="0" bIns="0">
            <a:spAutoFit/>
          </a:bodyPr>
          <a:lstStyle/>
          <a:p>
            <a:pPr algn="l"/>
            <a:r>
              <a:rPr sz="1300" b="0" i="0">
                <a:solidFill>
                  <a:srgbClr val="1C2436"/>
                </a:solidFill>
              </a:rPr>
              <a:t>Teams get a ranked list of actions with the reasoning behind every score. Works on any rubric. Hard user-approval gate before anything runs — nothing happens until you say go.</a:t>
            </a:r>
          </a:p>
        </p:txBody>
      </p:sp>
      <p:sp>
        <p:nvSpPr>
          <p:cNvPr id="23" name="TextBox 22"/>
          <p:cNvSpPr txBox="1"/>
          <p:nvPr/>
        </p:nvSpPr>
        <p:spPr>
          <a:xfrm>
            <a:off x="0" y="5669280"/>
            <a:ext cx="12191695" cy="320040"/>
          </a:xfrm>
          <a:prstGeom prst="rect">
            <a:avLst/>
          </a:prstGeom>
          <a:noFill/>
        </p:spPr>
        <p:txBody>
          <a:bodyPr wrap="square" lIns="0" tIns="0" rIns="0" bIns="0">
            <a:spAutoFit/>
          </a:bodyPr>
          <a:lstStyle/>
          <a:p>
            <a:pPr algn="ctr"/>
            <a:r>
              <a:rPr sz="1100" b="0" i="1">
                <a:solidFill>
                  <a:srgbClr val="965A9E"/>
                </a:solidFill>
              </a:rPr>
              <a:t>Next slide: how it actually works  ↓</a:t>
            </a:r>
          </a:p>
        </p:txBody>
      </p:sp>
      <p:sp>
        <p:nvSpPr>
          <p:cNvPr id="24" name="Rectangle 23"/>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11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965A9E"/>
                </a:solidFill>
              </a:rPr>
              <a:t>STORY 4 · UNDER THE HOOD</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CPA Action Prioritizer — a smart business assistant</a:t>
            </a:r>
          </a:p>
        </p:txBody>
      </p:sp>
      <p:sp>
        <p:nvSpPr>
          <p:cNvPr id="5" name="TextBox 4"/>
          <p:cNvSpPr txBox="1"/>
          <p:nvPr/>
        </p:nvSpPr>
        <p:spPr>
          <a:xfrm>
            <a:off x="640080" y="1801368"/>
            <a:ext cx="10972800" cy="411480"/>
          </a:xfrm>
          <a:prstGeom prst="rect">
            <a:avLst/>
          </a:prstGeom>
          <a:noFill/>
        </p:spPr>
        <p:txBody>
          <a:bodyPr wrap="square" lIns="0" tIns="0" rIns="0" bIns="0">
            <a:spAutoFit/>
          </a:bodyPr>
          <a:lstStyle/>
          <a:p>
            <a:pPr algn="l"/>
            <a:r>
              <a:rPr sz="1400" b="0" i="0">
                <a:solidFill>
                  <a:srgbClr val="465266"/>
                </a:solidFill>
              </a:rPr>
              <a:t>How it works inside, in plain English.</a:t>
            </a:r>
          </a:p>
        </p:txBody>
      </p:sp>
      <p:sp>
        <p:nvSpPr>
          <p:cNvPr id="6" name="TextBox 5"/>
          <p:cNvSpPr txBox="1"/>
          <p:nvPr/>
        </p:nvSpPr>
        <p:spPr>
          <a:xfrm>
            <a:off x="640080" y="1965960"/>
            <a:ext cx="7315200" cy="274320"/>
          </a:xfrm>
          <a:prstGeom prst="rect">
            <a:avLst/>
          </a:prstGeom>
          <a:noFill/>
        </p:spPr>
        <p:txBody>
          <a:bodyPr wrap="square" lIns="0" tIns="0" rIns="0" bIns="0">
            <a:spAutoFit/>
          </a:bodyPr>
          <a:lstStyle/>
          <a:p>
            <a:pPr algn="l"/>
            <a:r>
              <a:rPr sz="1100" b="1" i="0">
                <a:solidFill>
                  <a:srgbClr val="965A9E"/>
                </a:solidFill>
              </a:rPr>
              <a:t>THE WORKFLOW</a:t>
            </a:r>
          </a:p>
        </p:txBody>
      </p:sp>
      <p:sp>
        <p:nvSpPr>
          <p:cNvPr id="7" name="Rounded Rectangle 6"/>
          <p:cNvSpPr/>
          <p:nvPr/>
        </p:nvSpPr>
        <p:spPr>
          <a:xfrm>
            <a:off x="64008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40280"/>
            <a:ext cx="1696212"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2423160"/>
            <a:ext cx="347472" cy="347472"/>
          </a:xfrm>
          <a:prstGeom prst="roundRect">
            <a:avLst>
              <a:gd name="adj" fmla="val 50000"/>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47472" cy="347472"/>
          </a:xfrm>
          <a:prstGeom prst="rect">
            <a:avLst/>
          </a:prstGeom>
          <a:noFill/>
        </p:spPr>
        <p:txBody>
          <a:bodyPr wrap="square" lIns="0" tIns="0" rIns="0" bIns="0" anchor="ctr">
            <a:spAutoFit/>
          </a:bodyPr>
          <a:lstStyle/>
          <a:p>
            <a:pPr algn="ctr"/>
            <a:r>
              <a:rPr sz="1100" b="1" i="0">
                <a:solidFill>
                  <a:srgbClr val="FFFFFF"/>
                </a:solidFill>
              </a:rPr>
              <a:t>1</a:t>
            </a:r>
          </a:p>
        </p:txBody>
      </p:sp>
      <p:sp>
        <p:nvSpPr>
          <p:cNvPr id="11" name="TextBox 10"/>
          <p:cNvSpPr txBox="1"/>
          <p:nvPr/>
        </p:nvSpPr>
        <p:spPr>
          <a:xfrm>
            <a:off x="1188720" y="2423160"/>
            <a:ext cx="1010412" cy="320040"/>
          </a:xfrm>
          <a:prstGeom prst="rect">
            <a:avLst/>
          </a:prstGeom>
          <a:noFill/>
        </p:spPr>
        <p:txBody>
          <a:bodyPr wrap="square" lIns="0" tIns="0" rIns="0" bIns="0">
            <a:spAutoFit/>
          </a:bodyPr>
          <a:lstStyle/>
          <a:p>
            <a:pPr algn="l"/>
            <a:r>
              <a:rPr sz="1100" b="1" i="0">
                <a:solidFill>
                  <a:srgbClr val="142A4E"/>
                </a:solidFill>
              </a:rPr>
              <a:t>Input</a:t>
            </a:r>
          </a:p>
        </p:txBody>
      </p:sp>
      <p:sp>
        <p:nvSpPr>
          <p:cNvPr id="12" name="TextBox 11"/>
          <p:cNvSpPr txBox="1"/>
          <p:nvPr/>
        </p:nvSpPr>
        <p:spPr>
          <a:xfrm>
            <a:off x="804672" y="2834640"/>
            <a:ext cx="1367028" cy="640080"/>
          </a:xfrm>
          <a:prstGeom prst="rect">
            <a:avLst/>
          </a:prstGeom>
          <a:noFill/>
        </p:spPr>
        <p:txBody>
          <a:bodyPr wrap="square" lIns="0" tIns="0" rIns="0" bIns="0">
            <a:spAutoFit/>
          </a:bodyPr>
          <a:lstStyle/>
          <a:p>
            <a:pPr algn="l"/>
            <a:r>
              <a:rPr sz="850" b="0" i="0">
                <a:solidFill>
                  <a:srgbClr val="465266"/>
                </a:solidFill>
              </a:rPr>
              <a:t>Reads uploaded Excel, CSV, Word files</a:t>
            </a:r>
          </a:p>
        </p:txBody>
      </p:sp>
      <p:sp>
        <p:nvSpPr>
          <p:cNvPr id="13" name="Right Arrow 12"/>
          <p:cNvSpPr/>
          <p:nvPr/>
        </p:nvSpPr>
        <p:spPr>
          <a:xfrm>
            <a:off x="2340864" y="2811780"/>
            <a:ext cx="137160" cy="182880"/>
          </a:xfrm>
          <a:prstGeom prst="rightArrow">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82596"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82596" y="2240280"/>
            <a:ext cx="1696212"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1468" y="2423160"/>
            <a:ext cx="347472" cy="347472"/>
          </a:xfrm>
          <a:prstGeom prst="roundRect">
            <a:avLst>
              <a:gd name="adj" fmla="val 50000"/>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1468" y="2423160"/>
            <a:ext cx="347472" cy="347472"/>
          </a:xfrm>
          <a:prstGeom prst="rect">
            <a:avLst/>
          </a:prstGeom>
          <a:noFill/>
        </p:spPr>
        <p:txBody>
          <a:bodyPr wrap="square" lIns="0" tIns="0" rIns="0" bIns="0" anchor="ctr">
            <a:spAutoFit/>
          </a:bodyPr>
          <a:lstStyle/>
          <a:p>
            <a:pPr algn="ctr"/>
            <a:r>
              <a:rPr sz="1100" b="1" i="0">
                <a:solidFill>
                  <a:srgbClr val="FFFFFF"/>
                </a:solidFill>
              </a:rPr>
              <a:t>2</a:t>
            </a:r>
          </a:p>
        </p:txBody>
      </p:sp>
      <p:sp>
        <p:nvSpPr>
          <p:cNvPr id="18" name="TextBox 17"/>
          <p:cNvSpPr txBox="1"/>
          <p:nvPr/>
        </p:nvSpPr>
        <p:spPr>
          <a:xfrm>
            <a:off x="3031236" y="2423160"/>
            <a:ext cx="1010412" cy="320040"/>
          </a:xfrm>
          <a:prstGeom prst="rect">
            <a:avLst/>
          </a:prstGeom>
          <a:noFill/>
        </p:spPr>
        <p:txBody>
          <a:bodyPr wrap="square" lIns="0" tIns="0" rIns="0" bIns="0">
            <a:spAutoFit/>
          </a:bodyPr>
          <a:lstStyle/>
          <a:p>
            <a:pPr algn="l"/>
            <a:r>
              <a:rPr sz="1100" b="1" i="0">
                <a:solidFill>
                  <a:srgbClr val="142A4E"/>
                </a:solidFill>
              </a:rPr>
              <a:t>Planning</a:t>
            </a:r>
          </a:p>
        </p:txBody>
      </p:sp>
      <p:sp>
        <p:nvSpPr>
          <p:cNvPr id="19" name="TextBox 18"/>
          <p:cNvSpPr txBox="1"/>
          <p:nvPr/>
        </p:nvSpPr>
        <p:spPr>
          <a:xfrm>
            <a:off x="2647188" y="2834640"/>
            <a:ext cx="1367028" cy="640080"/>
          </a:xfrm>
          <a:prstGeom prst="rect">
            <a:avLst/>
          </a:prstGeom>
          <a:noFill/>
        </p:spPr>
        <p:txBody>
          <a:bodyPr wrap="square" lIns="0" tIns="0" rIns="0" bIns="0">
            <a:spAutoFit/>
          </a:bodyPr>
          <a:lstStyle/>
          <a:p>
            <a:pPr algn="l"/>
            <a:r>
              <a:rPr sz="850" b="0" i="0">
                <a:solidFill>
                  <a:srgbClr val="465266"/>
                </a:solidFill>
              </a:rPr>
              <a:t>Proposes a scoring plan from the rubric</a:t>
            </a:r>
          </a:p>
        </p:txBody>
      </p:sp>
      <p:sp>
        <p:nvSpPr>
          <p:cNvPr id="20" name="Right Arrow 19"/>
          <p:cNvSpPr/>
          <p:nvPr/>
        </p:nvSpPr>
        <p:spPr>
          <a:xfrm>
            <a:off x="4183380" y="2811780"/>
            <a:ext cx="137160" cy="182880"/>
          </a:xfrm>
          <a:prstGeom prst="rightArrow">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25112"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25112" y="2240280"/>
            <a:ext cx="1696212"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43984" y="2423160"/>
            <a:ext cx="347472" cy="347472"/>
          </a:xfrm>
          <a:prstGeom prst="roundRect">
            <a:avLst>
              <a:gd name="adj" fmla="val 50000"/>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3984" y="2423160"/>
            <a:ext cx="347472" cy="347472"/>
          </a:xfrm>
          <a:prstGeom prst="rect">
            <a:avLst/>
          </a:prstGeom>
          <a:noFill/>
        </p:spPr>
        <p:txBody>
          <a:bodyPr wrap="square" lIns="0" tIns="0" rIns="0" bIns="0" anchor="ctr">
            <a:spAutoFit/>
          </a:bodyPr>
          <a:lstStyle/>
          <a:p>
            <a:pPr algn="ctr"/>
            <a:r>
              <a:rPr sz="1100" b="1" i="0">
                <a:solidFill>
                  <a:srgbClr val="FFFFFF"/>
                </a:solidFill>
              </a:rPr>
              <a:t>3</a:t>
            </a:r>
          </a:p>
        </p:txBody>
      </p:sp>
      <p:sp>
        <p:nvSpPr>
          <p:cNvPr id="25" name="TextBox 24"/>
          <p:cNvSpPr txBox="1"/>
          <p:nvPr/>
        </p:nvSpPr>
        <p:spPr>
          <a:xfrm>
            <a:off x="4873752" y="2423160"/>
            <a:ext cx="1010412" cy="320040"/>
          </a:xfrm>
          <a:prstGeom prst="rect">
            <a:avLst/>
          </a:prstGeom>
          <a:noFill/>
        </p:spPr>
        <p:txBody>
          <a:bodyPr wrap="square" lIns="0" tIns="0" rIns="0" bIns="0">
            <a:spAutoFit/>
          </a:bodyPr>
          <a:lstStyle/>
          <a:p>
            <a:pPr algn="l"/>
            <a:r>
              <a:rPr sz="1100" b="1" i="0">
                <a:solidFill>
                  <a:srgbClr val="142A4E"/>
                </a:solidFill>
              </a:rPr>
              <a:t>Approval</a:t>
            </a:r>
          </a:p>
        </p:txBody>
      </p:sp>
      <p:sp>
        <p:nvSpPr>
          <p:cNvPr id="26" name="TextBox 25"/>
          <p:cNvSpPr txBox="1"/>
          <p:nvPr/>
        </p:nvSpPr>
        <p:spPr>
          <a:xfrm>
            <a:off x="4489704" y="2834640"/>
            <a:ext cx="1367028" cy="640080"/>
          </a:xfrm>
          <a:prstGeom prst="rect">
            <a:avLst/>
          </a:prstGeom>
          <a:noFill/>
        </p:spPr>
        <p:txBody>
          <a:bodyPr wrap="square" lIns="0" tIns="0" rIns="0" bIns="0">
            <a:spAutoFit/>
          </a:bodyPr>
          <a:lstStyle/>
          <a:p>
            <a:pPr algn="l"/>
            <a:r>
              <a:rPr sz="850" b="0" i="0">
                <a:solidFill>
                  <a:srgbClr val="465266"/>
                </a:solidFill>
              </a:rPr>
              <a:t>Hard gate — user must say 'proceed'</a:t>
            </a:r>
          </a:p>
        </p:txBody>
      </p:sp>
      <p:sp>
        <p:nvSpPr>
          <p:cNvPr id="27" name="Right Arrow 26"/>
          <p:cNvSpPr/>
          <p:nvPr/>
        </p:nvSpPr>
        <p:spPr>
          <a:xfrm>
            <a:off x="6025896" y="2811780"/>
            <a:ext cx="137160" cy="182880"/>
          </a:xfrm>
          <a:prstGeom prst="rightArrow">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67628"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67628" y="2240280"/>
            <a:ext cx="1696212"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86500" y="2423160"/>
            <a:ext cx="347472" cy="347472"/>
          </a:xfrm>
          <a:prstGeom prst="roundRect">
            <a:avLst>
              <a:gd name="adj" fmla="val 50000"/>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86500" y="2423160"/>
            <a:ext cx="347472" cy="347472"/>
          </a:xfrm>
          <a:prstGeom prst="rect">
            <a:avLst/>
          </a:prstGeom>
          <a:noFill/>
        </p:spPr>
        <p:txBody>
          <a:bodyPr wrap="square" lIns="0" tIns="0" rIns="0" bIns="0" anchor="ctr">
            <a:spAutoFit/>
          </a:bodyPr>
          <a:lstStyle/>
          <a:p>
            <a:pPr algn="ctr"/>
            <a:r>
              <a:rPr sz="1100" b="1" i="0">
                <a:solidFill>
                  <a:srgbClr val="FFFFFF"/>
                </a:solidFill>
              </a:rPr>
              <a:t>4</a:t>
            </a:r>
          </a:p>
        </p:txBody>
      </p:sp>
      <p:sp>
        <p:nvSpPr>
          <p:cNvPr id="32" name="TextBox 31"/>
          <p:cNvSpPr txBox="1"/>
          <p:nvPr/>
        </p:nvSpPr>
        <p:spPr>
          <a:xfrm>
            <a:off x="6716268" y="2423160"/>
            <a:ext cx="1010412" cy="320040"/>
          </a:xfrm>
          <a:prstGeom prst="rect">
            <a:avLst/>
          </a:prstGeom>
          <a:noFill/>
        </p:spPr>
        <p:txBody>
          <a:bodyPr wrap="square" lIns="0" tIns="0" rIns="0" bIns="0">
            <a:spAutoFit/>
          </a:bodyPr>
          <a:lstStyle/>
          <a:p>
            <a:pPr algn="l"/>
            <a:r>
              <a:rPr sz="1100" b="1" i="0">
                <a:solidFill>
                  <a:srgbClr val="142A4E"/>
                </a:solidFill>
              </a:rPr>
              <a:t>Execution</a:t>
            </a:r>
          </a:p>
        </p:txBody>
      </p:sp>
      <p:sp>
        <p:nvSpPr>
          <p:cNvPr id="33" name="TextBox 32"/>
          <p:cNvSpPr txBox="1"/>
          <p:nvPr/>
        </p:nvSpPr>
        <p:spPr>
          <a:xfrm>
            <a:off x="6332220" y="2834640"/>
            <a:ext cx="1367028" cy="640080"/>
          </a:xfrm>
          <a:prstGeom prst="rect">
            <a:avLst/>
          </a:prstGeom>
          <a:noFill/>
        </p:spPr>
        <p:txBody>
          <a:bodyPr wrap="square" lIns="0" tIns="0" rIns="0" bIns="0">
            <a:spAutoFit/>
          </a:bodyPr>
          <a:lstStyle/>
          <a:p>
            <a:pPr algn="l"/>
            <a:r>
              <a:rPr sz="850" b="0" i="0">
                <a:solidFill>
                  <a:srgbClr val="465266"/>
                </a:solidFill>
              </a:rPr>
              <a:t>Walks the plan as a checklist</a:t>
            </a:r>
          </a:p>
        </p:txBody>
      </p:sp>
      <p:sp>
        <p:nvSpPr>
          <p:cNvPr id="34" name="Right Arrow 33"/>
          <p:cNvSpPr/>
          <p:nvPr/>
        </p:nvSpPr>
        <p:spPr>
          <a:xfrm>
            <a:off x="7868412" y="2811780"/>
            <a:ext cx="137160" cy="182880"/>
          </a:xfrm>
          <a:prstGeom prst="rightArrow">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10144"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10144" y="2240280"/>
            <a:ext cx="1696212"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29016" y="2423160"/>
            <a:ext cx="347472" cy="347472"/>
          </a:xfrm>
          <a:prstGeom prst="roundRect">
            <a:avLst>
              <a:gd name="adj" fmla="val 50000"/>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29016" y="2423160"/>
            <a:ext cx="347472" cy="347472"/>
          </a:xfrm>
          <a:prstGeom prst="rect">
            <a:avLst/>
          </a:prstGeom>
          <a:noFill/>
        </p:spPr>
        <p:txBody>
          <a:bodyPr wrap="square" lIns="0" tIns="0" rIns="0" bIns="0" anchor="ctr">
            <a:spAutoFit/>
          </a:bodyPr>
          <a:lstStyle/>
          <a:p>
            <a:pPr algn="ctr"/>
            <a:r>
              <a:rPr sz="1100" b="1" i="0">
                <a:solidFill>
                  <a:srgbClr val="FFFFFF"/>
                </a:solidFill>
              </a:rPr>
              <a:t>5</a:t>
            </a:r>
          </a:p>
        </p:txBody>
      </p:sp>
      <p:sp>
        <p:nvSpPr>
          <p:cNvPr id="39" name="TextBox 38"/>
          <p:cNvSpPr txBox="1"/>
          <p:nvPr/>
        </p:nvSpPr>
        <p:spPr>
          <a:xfrm>
            <a:off x="8558784" y="2423160"/>
            <a:ext cx="1010412" cy="320040"/>
          </a:xfrm>
          <a:prstGeom prst="rect">
            <a:avLst/>
          </a:prstGeom>
          <a:noFill/>
        </p:spPr>
        <p:txBody>
          <a:bodyPr wrap="square" lIns="0" tIns="0" rIns="0" bIns="0">
            <a:spAutoFit/>
          </a:bodyPr>
          <a:lstStyle/>
          <a:p>
            <a:pPr algn="l"/>
            <a:r>
              <a:rPr sz="1100" b="1" i="0">
                <a:solidFill>
                  <a:srgbClr val="142A4E"/>
                </a:solidFill>
              </a:rPr>
              <a:t>Pandas Helper</a:t>
            </a:r>
          </a:p>
        </p:txBody>
      </p:sp>
      <p:sp>
        <p:nvSpPr>
          <p:cNvPr id="40" name="TextBox 39"/>
          <p:cNvSpPr txBox="1"/>
          <p:nvPr/>
        </p:nvSpPr>
        <p:spPr>
          <a:xfrm>
            <a:off x="8174736" y="2834640"/>
            <a:ext cx="1367028" cy="640080"/>
          </a:xfrm>
          <a:prstGeom prst="rect">
            <a:avLst/>
          </a:prstGeom>
          <a:noFill/>
        </p:spPr>
        <p:txBody>
          <a:bodyPr wrap="square" lIns="0" tIns="0" rIns="0" bIns="0">
            <a:spAutoFit/>
          </a:bodyPr>
          <a:lstStyle/>
          <a:p>
            <a:pPr algn="l"/>
            <a:r>
              <a:rPr sz="850" b="0" i="0">
                <a:solidFill>
                  <a:srgbClr val="465266"/>
                </a:solidFill>
              </a:rPr>
              <a:t>English → pandas code (PandasAI)</a:t>
            </a:r>
          </a:p>
        </p:txBody>
      </p:sp>
      <p:sp>
        <p:nvSpPr>
          <p:cNvPr id="41" name="Right Arrow 40"/>
          <p:cNvSpPr/>
          <p:nvPr/>
        </p:nvSpPr>
        <p:spPr>
          <a:xfrm>
            <a:off x="9710928" y="2811780"/>
            <a:ext cx="137160" cy="182880"/>
          </a:xfrm>
          <a:prstGeom prst="rightArrow">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85266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852660" y="2240280"/>
            <a:ext cx="1696212"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971532" y="2423160"/>
            <a:ext cx="347472" cy="347472"/>
          </a:xfrm>
          <a:prstGeom prst="roundRect">
            <a:avLst>
              <a:gd name="adj" fmla="val 50000"/>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1532" y="2423160"/>
            <a:ext cx="347472" cy="347472"/>
          </a:xfrm>
          <a:prstGeom prst="rect">
            <a:avLst/>
          </a:prstGeom>
          <a:noFill/>
        </p:spPr>
        <p:txBody>
          <a:bodyPr wrap="square" lIns="0" tIns="0" rIns="0" bIns="0" anchor="ctr">
            <a:spAutoFit/>
          </a:bodyPr>
          <a:lstStyle/>
          <a:p>
            <a:pPr algn="ctr"/>
            <a:r>
              <a:rPr sz="1100" b="1" i="0">
                <a:solidFill>
                  <a:srgbClr val="FFFFFF"/>
                </a:solidFill>
              </a:rPr>
              <a:t>6</a:t>
            </a:r>
          </a:p>
        </p:txBody>
      </p:sp>
      <p:sp>
        <p:nvSpPr>
          <p:cNvPr id="46" name="TextBox 45"/>
          <p:cNvSpPr txBox="1"/>
          <p:nvPr/>
        </p:nvSpPr>
        <p:spPr>
          <a:xfrm>
            <a:off x="10401300" y="2423160"/>
            <a:ext cx="1010412" cy="320040"/>
          </a:xfrm>
          <a:prstGeom prst="rect">
            <a:avLst/>
          </a:prstGeom>
          <a:noFill/>
        </p:spPr>
        <p:txBody>
          <a:bodyPr wrap="square" lIns="0" tIns="0" rIns="0" bIns="0">
            <a:spAutoFit/>
          </a:bodyPr>
          <a:lstStyle/>
          <a:p>
            <a:pPr algn="l"/>
            <a:r>
              <a:rPr sz="1100" b="1" i="0">
                <a:solidFill>
                  <a:srgbClr val="142A4E"/>
                </a:solidFill>
              </a:rPr>
              <a:t>Report</a:t>
            </a:r>
          </a:p>
        </p:txBody>
      </p:sp>
      <p:sp>
        <p:nvSpPr>
          <p:cNvPr id="47" name="TextBox 46"/>
          <p:cNvSpPr txBox="1"/>
          <p:nvPr/>
        </p:nvSpPr>
        <p:spPr>
          <a:xfrm>
            <a:off x="10017252" y="2834640"/>
            <a:ext cx="1367028" cy="640080"/>
          </a:xfrm>
          <a:prstGeom prst="rect">
            <a:avLst/>
          </a:prstGeom>
          <a:noFill/>
        </p:spPr>
        <p:txBody>
          <a:bodyPr wrap="square" lIns="0" tIns="0" rIns="0" bIns="0">
            <a:spAutoFit/>
          </a:bodyPr>
          <a:lstStyle/>
          <a:p>
            <a:pPr algn="l"/>
            <a:r>
              <a:rPr sz="850" b="0" i="0">
                <a:solidFill>
                  <a:srgbClr val="465266"/>
                </a:solidFill>
              </a:rPr>
              <a:t>9-section markdown + CSV → Cloud Storage</a:t>
            </a:r>
          </a:p>
        </p:txBody>
      </p:sp>
      <p:sp>
        <p:nvSpPr>
          <p:cNvPr id="48" name="Rounded Rectangle 47"/>
          <p:cNvSpPr/>
          <p:nvPr/>
        </p:nvSpPr>
        <p:spPr>
          <a:xfrm>
            <a:off x="640080" y="3840480"/>
            <a:ext cx="6583680"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40080" y="3840480"/>
            <a:ext cx="73152" cy="242316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023360"/>
            <a:ext cx="6126480" cy="320040"/>
          </a:xfrm>
          <a:prstGeom prst="rect">
            <a:avLst/>
          </a:prstGeom>
          <a:noFill/>
        </p:spPr>
        <p:txBody>
          <a:bodyPr wrap="square" lIns="0" tIns="0" rIns="0" bIns="0">
            <a:spAutoFit/>
          </a:bodyPr>
          <a:lstStyle/>
          <a:p>
            <a:pPr algn="l"/>
            <a:r>
              <a:rPr sz="1100" b="1" i="0">
                <a:solidFill>
                  <a:srgbClr val="965A9E"/>
                </a:solidFill>
              </a:rPr>
              <a:t>WHAT EACH PART DOES</a:t>
            </a:r>
          </a:p>
        </p:txBody>
      </p:sp>
      <p:sp>
        <p:nvSpPr>
          <p:cNvPr id="51" name="TextBox 50"/>
          <p:cNvSpPr txBox="1"/>
          <p:nvPr/>
        </p:nvSpPr>
        <p:spPr>
          <a:xfrm>
            <a:off x="914400" y="4389120"/>
            <a:ext cx="6126480" cy="1737360"/>
          </a:xfrm>
          <a:prstGeom prst="rect">
            <a:avLst/>
          </a:prstGeom>
          <a:noFill/>
        </p:spPr>
        <p:txBody>
          <a:bodyPr wrap="square" lIns="0" tIns="0" rIns="0" bIns="0">
            <a:spAutoFit/>
          </a:bodyPr>
          <a:lstStyle/>
          <a:p>
            <a:pPr>
              <a:spcAft>
                <a:spcPts val="400"/>
              </a:spcAft>
            </a:pPr>
            <a:r>
              <a:rPr sz="1100" b="1">
                <a:solidFill>
                  <a:srgbClr val="142A4E"/>
                </a:solidFill>
              </a:rPr>
              <a:t>Input Agent  </a:t>
            </a:r>
            <a:r>
              <a:rPr sz="1050">
                <a:solidFill>
                  <a:srgbClr val="465266"/>
                </a:solidFill>
              </a:rPr>
              <a:t> — ingests Excel/CSV via a multi-table parser and Word via the mammoth library. Stores as in-memory tables.</a:t>
            </a:r>
          </a:p>
          <a:p>
            <a:pPr>
              <a:spcAft>
                <a:spcPts val="400"/>
              </a:spcAft>
            </a:pPr>
            <a:r>
              <a:rPr sz="1100" b="1">
                <a:solidFill>
                  <a:srgbClr val="142A4E"/>
                </a:solidFill>
              </a:rPr>
              <a:t>Planning Agent  </a:t>
            </a:r>
            <a:r>
              <a:rPr sz="1050">
                <a:solidFill>
                  <a:srgbClr val="465266"/>
                </a:solidFill>
              </a:rPr>
              <a:t> — reads the rubric + data, proposes scoring metrics, exact tables/columns, and step dependencies. Does NOT run anything.</a:t>
            </a:r>
          </a:p>
          <a:p>
            <a:pPr>
              <a:spcAft>
                <a:spcPts val="400"/>
              </a:spcAft>
            </a:pPr>
            <a:r>
              <a:rPr sz="1100" b="1">
                <a:solidFill>
                  <a:srgbClr val="142A4E"/>
                </a:solidFill>
              </a:rPr>
              <a:t>Execution Agent  </a:t>
            </a:r>
            <a:r>
              <a:rPr sz="1050">
                <a:solidFill>
                  <a:srgbClr val="465266"/>
                </a:solidFill>
              </a:rPr>
              <a:t> — runs the approved plan as a hierarchical to-do list with status markers (open / in-progress / done).</a:t>
            </a:r>
          </a:p>
          <a:p>
            <a:pPr>
              <a:spcAft>
                <a:spcPts val="400"/>
              </a:spcAft>
            </a:pPr>
            <a:r>
              <a:rPr sz="1100" b="1">
                <a:solidFill>
                  <a:srgbClr val="142A4E"/>
                </a:solidFill>
              </a:rPr>
              <a:t>Pandas Agent  </a:t>
            </a:r>
            <a:r>
              <a:rPr sz="1050">
                <a:solidFill>
                  <a:srgbClr val="465266"/>
                </a:solidFill>
              </a:rPr>
              <a:t> — child agent. English → pandas code via PandasAI on the LOCAL uploaded dataframes (not BigQuery). Saves working code as snippets.</a:t>
            </a:r>
          </a:p>
          <a:p>
            <a:pPr>
              <a:spcAft>
                <a:spcPts val="400"/>
              </a:spcAft>
            </a:pPr>
            <a:r>
              <a:rPr sz="1100" b="1">
                <a:solidFill>
                  <a:srgbClr val="142A4E"/>
                </a:solidFill>
              </a:rPr>
              <a:t>Report Agent + MCP  </a:t>
            </a:r>
            <a:r>
              <a:rPr sz="1050">
                <a:solidFill>
                  <a:srgbClr val="465266"/>
                </a:solidFill>
              </a:rPr>
              <a:t> — writes a 9-section markdown report and uploads outputs via a small MCP server (one tool: create_download_file → signed URL).</a:t>
            </a:r>
          </a:p>
        </p:txBody>
      </p:sp>
      <p:sp>
        <p:nvSpPr>
          <p:cNvPr id="52" name="Rounded Rectangle 51"/>
          <p:cNvSpPr/>
          <p:nvPr/>
        </p:nvSpPr>
        <p:spPr>
          <a:xfrm>
            <a:off x="7452360" y="3840480"/>
            <a:ext cx="4096512"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452360" y="3840480"/>
            <a:ext cx="73152" cy="242316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26680" y="4023360"/>
            <a:ext cx="3639312" cy="320040"/>
          </a:xfrm>
          <a:prstGeom prst="rect">
            <a:avLst/>
          </a:prstGeom>
          <a:noFill/>
        </p:spPr>
        <p:txBody>
          <a:bodyPr wrap="square" lIns="0" tIns="0" rIns="0" bIns="0">
            <a:spAutoFit/>
          </a:bodyPr>
          <a:lstStyle/>
          <a:p>
            <a:pPr algn="l"/>
            <a:r>
              <a:rPr sz="1100" b="1" i="0">
                <a:solidFill>
                  <a:srgbClr val="965A9E"/>
                </a:solidFill>
              </a:rPr>
              <a:t>TECH STACK</a:t>
            </a:r>
          </a:p>
        </p:txBody>
      </p:sp>
      <p:sp>
        <p:nvSpPr>
          <p:cNvPr id="55" name="TextBox 54"/>
          <p:cNvSpPr txBox="1"/>
          <p:nvPr/>
        </p:nvSpPr>
        <p:spPr>
          <a:xfrm>
            <a:off x="7726680" y="4389120"/>
            <a:ext cx="3639312" cy="1737360"/>
          </a:xfrm>
          <a:prstGeom prst="rect">
            <a:avLst/>
          </a:prstGeom>
          <a:noFill/>
        </p:spPr>
        <p:txBody>
          <a:bodyPr wrap="square" lIns="0" tIns="0" rIns="0" bIns="0">
            <a:spAutoFit/>
          </a:bodyPr>
          <a:lstStyle/>
          <a:p>
            <a:pPr>
              <a:spcAft>
                <a:spcPts val="500"/>
              </a:spcAft>
            </a:pPr>
            <a:r>
              <a:rPr sz="1000" b="1">
                <a:solidFill>
                  <a:srgbClr val="965A9E"/>
                </a:solidFill>
              </a:rPr>
              <a:t>Agent framework
</a:t>
            </a:r>
            <a:r>
              <a:rPr sz="1000">
                <a:solidFill>
                  <a:srgbClr val="1C2436"/>
                </a:solidFill>
              </a:rPr>
              <a:t>Google ADK · MCP</a:t>
            </a:r>
          </a:p>
          <a:p>
            <a:pPr>
              <a:spcAft>
                <a:spcPts val="500"/>
              </a:spcAft>
            </a:pPr>
            <a:r>
              <a:rPr sz="1000" b="1">
                <a:solidFill>
                  <a:srgbClr val="965A9E"/>
                </a:solidFill>
              </a:rPr>
              <a:t>Models
</a:t>
            </a:r>
            <a:r>
              <a:rPr sz="1000">
                <a:solidFill>
                  <a:srgbClr val="1C2436"/>
                </a:solidFill>
              </a:rPr>
              <a:t>Gemini 2.5 Flash (root + Pandas) · gemini-2.5-flash-lite for PandasAI</a:t>
            </a:r>
          </a:p>
          <a:p>
            <a:pPr>
              <a:spcAft>
                <a:spcPts val="500"/>
              </a:spcAft>
            </a:pPr>
            <a:r>
              <a:rPr sz="1000" b="1">
                <a:solidFill>
                  <a:srgbClr val="965A9E"/>
                </a:solidFill>
              </a:rPr>
              <a:t>Data
</a:t>
            </a:r>
            <a:r>
              <a:rPr sz="1000">
                <a:solidFill>
                  <a:srgbClr val="1C2436"/>
                </a:solidFill>
              </a:rPr>
              <a:t>Local pandas dataframes (from uploads) · Cloud Storage for output</a:t>
            </a:r>
          </a:p>
          <a:p>
            <a:pPr>
              <a:spcAft>
                <a:spcPts val="500"/>
              </a:spcAft>
            </a:pPr>
            <a:r>
              <a:rPr sz="1000" b="1">
                <a:solidFill>
                  <a:srgbClr val="965A9E"/>
                </a:solidFill>
              </a:rPr>
              <a:t>UI &amp; infra
</a:t>
            </a:r>
            <a:r>
              <a:rPr sz="1000">
                <a:solidFill>
                  <a:srgbClr val="1C2436"/>
                </a:solidFill>
              </a:rPr>
              <a:t>Angular (in google-adk) · FastAPI · SQLite session DB</a:t>
            </a:r>
          </a:p>
        </p:txBody>
      </p:sp>
      <p:sp>
        <p:nvSpPr>
          <p:cNvPr id="56" name="Rectangle 55"/>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12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965A9E"/>
                </a:solidFill>
              </a:rPr>
              <a:t>STORY 4 · A WALKED-THROUGH EXAMPLE</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Ranking 200 Ford dealers for a $5M EV incentive</a:t>
            </a:r>
          </a:p>
        </p:txBody>
      </p:sp>
      <p:sp>
        <p:nvSpPr>
          <p:cNvPr id="5" name="TextBox 4"/>
          <p:cNvSpPr txBox="1"/>
          <p:nvPr/>
        </p:nvSpPr>
        <p:spPr>
          <a:xfrm>
            <a:off x="640080" y="1801368"/>
            <a:ext cx="10972800" cy="411480"/>
          </a:xfrm>
          <a:prstGeom prst="rect">
            <a:avLst/>
          </a:prstGeom>
          <a:noFill/>
        </p:spPr>
        <p:txBody>
          <a:bodyPr wrap="square" lIns="0" tIns="0" rIns="0" bIns="0">
            <a:spAutoFit/>
          </a:bodyPr>
          <a:lstStyle/>
          <a:p>
            <a:pPr algn="l"/>
            <a:r>
              <a:rPr sz="1400" b="0" i="0">
                <a:solidFill>
                  <a:srgbClr val="465266"/>
                </a:solidFill>
              </a:rPr>
              <a:t>What you'd upload, what the agent does, what you'd get back.</a:t>
            </a:r>
          </a:p>
        </p:txBody>
      </p:sp>
      <p:sp>
        <p:nvSpPr>
          <p:cNvPr id="6" name="TextBox 5"/>
          <p:cNvSpPr txBox="1"/>
          <p:nvPr/>
        </p:nvSpPr>
        <p:spPr>
          <a:xfrm>
            <a:off x="640080" y="2011680"/>
            <a:ext cx="10908792" cy="228600"/>
          </a:xfrm>
          <a:prstGeom prst="rect">
            <a:avLst/>
          </a:prstGeom>
          <a:noFill/>
        </p:spPr>
        <p:txBody>
          <a:bodyPr wrap="square" lIns="0" tIns="0" rIns="0" bIns="0">
            <a:spAutoFit/>
          </a:bodyPr>
          <a:lstStyle/>
          <a:p>
            <a:pPr algn="l"/>
            <a:r>
              <a:rPr sz="1000" b="1" i="0">
                <a:solidFill>
                  <a:srgbClr val="965A9E"/>
                </a:solidFill>
              </a:rPr>
              <a:t>1.  WHAT YOU UPLOAD</a:t>
            </a:r>
          </a:p>
        </p:txBody>
      </p:sp>
      <p:sp>
        <p:nvSpPr>
          <p:cNvPr id="7" name="Rounded Rectangle 6"/>
          <p:cNvSpPr/>
          <p:nvPr/>
        </p:nvSpPr>
        <p:spPr>
          <a:xfrm>
            <a:off x="640080" y="2286000"/>
            <a:ext cx="3526536" cy="8686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86000"/>
            <a:ext cx="73152" cy="86868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395728"/>
            <a:ext cx="3160776" cy="274320"/>
          </a:xfrm>
          <a:prstGeom prst="rect">
            <a:avLst/>
          </a:prstGeom>
          <a:noFill/>
        </p:spPr>
        <p:txBody>
          <a:bodyPr wrap="square" lIns="0" tIns="0" rIns="0" bIns="0">
            <a:spAutoFit/>
          </a:bodyPr>
          <a:lstStyle/>
          <a:p>
            <a:pPr algn="l"/>
            <a:r>
              <a:rPr sz="1100" b="1" i="0">
                <a:solidFill>
                  <a:srgbClr val="142A4E"/>
                </a:solidFill>
              </a:rPr>
              <a:t>dealer_data_q4.xlsx</a:t>
            </a:r>
          </a:p>
        </p:txBody>
      </p:sp>
      <p:sp>
        <p:nvSpPr>
          <p:cNvPr id="10" name="TextBox 9"/>
          <p:cNvSpPr txBox="1"/>
          <p:nvPr/>
        </p:nvSpPr>
        <p:spPr>
          <a:xfrm>
            <a:off x="841248" y="2670048"/>
            <a:ext cx="3160776" cy="411480"/>
          </a:xfrm>
          <a:prstGeom prst="rect">
            <a:avLst/>
          </a:prstGeom>
          <a:noFill/>
        </p:spPr>
        <p:txBody>
          <a:bodyPr wrap="square" lIns="0" tIns="0" rIns="0" bIns="0">
            <a:spAutoFit/>
          </a:bodyPr>
          <a:lstStyle/>
          <a:p>
            <a:pPr algn="l"/>
            <a:r>
              <a:rPr sz="950" b="0" i="0">
                <a:solidFill>
                  <a:srgbClr val="465266"/>
                </a:solidFill>
              </a:rPr>
              <a:t>3 tables on one sheet — EV sales, service capacity, CSAT (200 dealers)</a:t>
            </a:r>
          </a:p>
        </p:txBody>
      </p:sp>
      <p:sp>
        <p:nvSpPr>
          <p:cNvPr id="11" name="Rounded Rectangle 10"/>
          <p:cNvSpPr/>
          <p:nvPr/>
        </p:nvSpPr>
        <p:spPr>
          <a:xfrm>
            <a:off x="4331208" y="2286000"/>
            <a:ext cx="3526536" cy="8686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31208" y="2286000"/>
            <a:ext cx="73152" cy="86868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2376" y="2395728"/>
            <a:ext cx="3160776" cy="274320"/>
          </a:xfrm>
          <a:prstGeom prst="rect">
            <a:avLst/>
          </a:prstGeom>
          <a:noFill/>
        </p:spPr>
        <p:txBody>
          <a:bodyPr wrap="square" lIns="0" tIns="0" rIns="0" bIns="0">
            <a:spAutoFit/>
          </a:bodyPr>
          <a:lstStyle/>
          <a:p>
            <a:pPr algn="l"/>
            <a:r>
              <a:rPr sz="1100" b="1" i="0">
                <a:solidFill>
                  <a:srgbClr val="142A4E"/>
                </a:solidFill>
              </a:rPr>
              <a:t>ev_incentive_rubric.xlsx</a:t>
            </a:r>
          </a:p>
        </p:txBody>
      </p:sp>
      <p:sp>
        <p:nvSpPr>
          <p:cNvPr id="14" name="TextBox 13"/>
          <p:cNvSpPr txBox="1"/>
          <p:nvPr/>
        </p:nvSpPr>
        <p:spPr>
          <a:xfrm>
            <a:off x="4532376" y="2670048"/>
            <a:ext cx="3160776" cy="411480"/>
          </a:xfrm>
          <a:prstGeom prst="rect">
            <a:avLst/>
          </a:prstGeom>
          <a:noFill/>
        </p:spPr>
        <p:txBody>
          <a:bodyPr wrap="square" lIns="0" tIns="0" rIns="0" bIns="0">
            <a:spAutoFit/>
          </a:bodyPr>
          <a:lstStyle/>
          <a:p>
            <a:pPr algn="l"/>
            <a:r>
              <a:rPr sz="950" b="0" i="0">
                <a:solidFill>
                  <a:srgbClr val="465266"/>
                </a:solidFill>
              </a:rPr>
              <a:t>4 dimensions with weights and plain-English scoring rules</a:t>
            </a:r>
          </a:p>
        </p:txBody>
      </p:sp>
      <p:sp>
        <p:nvSpPr>
          <p:cNvPr id="15" name="Rounded Rectangle 14"/>
          <p:cNvSpPr/>
          <p:nvPr/>
        </p:nvSpPr>
        <p:spPr>
          <a:xfrm>
            <a:off x="8022336" y="2286000"/>
            <a:ext cx="3526536" cy="86868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22336" y="2286000"/>
            <a:ext cx="73152" cy="86868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3504" y="2395728"/>
            <a:ext cx="3160776" cy="274320"/>
          </a:xfrm>
          <a:prstGeom prst="rect">
            <a:avLst/>
          </a:prstGeom>
          <a:noFill/>
        </p:spPr>
        <p:txBody>
          <a:bodyPr wrap="square" lIns="0" tIns="0" rIns="0" bIns="0">
            <a:spAutoFit/>
          </a:bodyPr>
          <a:lstStyle/>
          <a:p>
            <a:pPr algn="l"/>
            <a:r>
              <a:rPr sz="1100" b="1" i="0">
                <a:solidFill>
                  <a:srgbClr val="142A4E"/>
                </a:solidFill>
              </a:rPr>
              <a:t>ev_strategy_2025.docx</a:t>
            </a:r>
          </a:p>
        </p:txBody>
      </p:sp>
      <p:sp>
        <p:nvSpPr>
          <p:cNvPr id="18" name="TextBox 17"/>
          <p:cNvSpPr txBox="1"/>
          <p:nvPr/>
        </p:nvSpPr>
        <p:spPr>
          <a:xfrm>
            <a:off x="8223504" y="2670048"/>
            <a:ext cx="3160776" cy="411480"/>
          </a:xfrm>
          <a:prstGeom prst="rect">
            <a:avLst/>
          </a:prstGeom>
          <a:noFill/>
        </p:spPr>
        <p:txBody>
          <a:bodyPr wrap="square" lIns="0" tIns="0" rIns="0" bIns="0">
            <a:spAutoFit/>
          </a:bodyPr>
          <a:lstStyle/>
          <a:p>
            <a:pPr algn="l"/>
            <a:r>
              <a:rPr sz="950" b="0" i="0">
                <a:solidFill>
                  <a:srgbClr val="465266"/>
                </a:solidFill>
              </a:rPr>
              <a:t>3-page memo on which states + investments to prioritize</a:t>
            </a:r>
          </a:p>
        </p:txBody>
      </p:sp>
      <p:sp>
        <p:nvSpPr>
          <p:cNvPr id="19" name="TextBox 18"/>
          <p:cNvSpPr txBox="1"/>
          <p:nvPr/>
        </p:nvSpPr>
        <p:spPr>
          <a:xfrm>
            <a:off x="640080" y="3337560"/>
            <a:ext cx="10908792" cy="228600"/>
          </a:xfrm>
          <a:prstGeom prst="rect">
            <a:avLst/>
          </a:prstGeom>
          <a:noFill/>
        </p:spPr>
        <p:txBody>
          <a:bodyPr wrap="square" lIns="0" tIns="0" rIns="0" bIns="0">
            <a:spAutoFit/>
          </a:bodyPr>
          <a:lstStyle/>
          <a:p>
            <a:pPr algn="l"/>
            <a:r>
              <a:rPr sz="1000" b="1" i="0">
                <a:solidFill>
                  <a:srgbClr val="965A9E"/>
                </a:solidFill>
              </a:rPr>
              <a:t>2.  THE AGENT WRITES A PLAN AND WAITS FOR YOU TO SAY 'GO'</a:t>
            </a:r>
          </a:p>
        </p:txBody>
      </p:sp>
      <p:sp>
        <p:nvSpPr>
          <p:cNvPr id="20" name="Rounded Rectangle 19"/>
          <p:cNvSpPr/>
          <p:nvPr/>
        </p:nvSpPr>
        <p:spPr>
          <a:xfrm>
            <a:off x="640080" y="3611880"/>
            <a:ext cx="10908792" cy="141732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611880"/>
            <a:ext cx="73152" cy="141732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776472"/>
            <a:ext cx="10451592" cy="1143000"/>
          </a:xfrm>
          <a:prstGeom prst="rect">
            <a:avLst/>
          </a:prstGeom>
          <a:noFill/>
        </p:spPr>
        <p:txBody>
          <a:bodyPr wrap="square" lIns="0" tIns="0" rIns="0" bIns="0">
            <a:spAutoFit/>
          </a:bodyPr>
          <a:lstStyle/>
          <a:p>
            <a:pPr>
              <a:spcAft>
                <a:spcPts val="300"/>
              </a:spcAft>
            </a:pPr>
            <a:r>
              <a:rPr sz="1000" b="1">
                <a:solidFill>
                  <a:srgbClr val="965A9E"/>
                </a:solidFill>
              </a:rPr>
              <a:t>Agent:  </a:t>
            </a:r>
            <a:r>
              <a:rPr sz="1000">
                <a:solidFill>
                  <a:srgbClr val="1C2436"/>
                </a:solidFill>
              </a:rPr>
              <a:t>"Here's my plan: join 3 tables on dealer_id. ev_momentum = EV ÷ total units. service_ready = 1 if EV techs ≥ 2 AND chargers ≥ 4. cx_ok = 1 if CSAT ≥ 4.0 AND complaints &lt; 10. regional_bonus = 0.15 if state is CA/TX/FL/NY. Final score = 0.35·ev_momentum + 0.30·service_ready + 0.20·cx_ok + 0.15·regional_bonus. Return top 30 with per-dimension breakdown. OK?"</a:t>
            </a:r>
          </a:p>
          <a:p>
            <a:pPr>
              <a:spcAft>
                <a:spcPts val="300"/>
              </a:spcAft>
            </a:pPr>
            <a:r>
              <a:rPr sz="1000" b="1">
                <a:solidFill>
                  <a:srgbClr val="965A9E"/>
                </a:solidFill>
              </a:rPr>
              <a:t>You:  </a:t>
            </a:r>
            <a:r>
              <a:rPr sz="1000">
                <a:solidFill>
                  <a:srgbClr val="1C2436"/>
                </a:solidFill>
              </a:rPr>
              <a:t>"Looks good. Proceed."</a:t>
            </a:r>
          </a:p>
          <a:p>
            <a:r>
              <a:rPr sz="1000" b="1">
                <a:solidFill>
                  <a:srgbClr val="965A9E"/>
                </a:solidFill>
              </a:rPr>
              <a:t>Agent:  </a:t>
            </a:r>
            <a:r>
              <a:rPr sz="1000" i="1">
                <a:solidFill>
                  <a:srgbClr val="465266"/>
                </a:solidFill>
              </a:rPr>
              <a:t>walks the plan step by step. For each step, calls the Pandas helper — PandasAI translates the English into pandas code, runs it on the local dataframes, and reports a snippet of the partial result.</a:t>
            </a:r>
          </a:p>
        </p:txBody>
      </p:sp>
      <p:sp>
        <p:nvSpPr>
          <p:cNvPr id="23" name="TextBox 22"/>
          <p:cNvSpPr txBox="1"/>
          <p:nvPr/>
        </p:nvSpPr>
        <p:spPr>
          <a:xfrm>
            <a:off x="640080" y="5212080"/>
            <a:ext cx="10908792" cy="228600"/>
          </a:xfrm>
          <a:prstGeom prst="rect">
            <a:avLst/>
          </a:prstGeom>
          <a:noFill/>
        </p:spPr>
        <p:txBody>
          <a:bodyPr wrap="square" lIns="0" tIns="0" rIns="0" bIns="0">
            <a:spAutoFit/>
          </a:bodyPr>
          <a:lstStyle/>
          <a:p>
            <a:pPr algn="l"/>
            <a:r>
              <a:rPr sz="1000" b="1" i="0">
                <a:solidFill>
                  <a:srgbClr val="965A9E"/>
                </a:solidFill>
              </a:rPr>
              <a:t>3.  WHAT YOU GET BACK</a:t>
            </a:r>
          </a:p>
        </p:txBody>
      </p:sp>
      <p:sp>
        <p:nvSpPr>
          <p:cNvPr id="24" name="Rounded Rectangle 23"/>
          <p:cNvSpPr/>
          <p:nvPr/>
        </p:nvSpPr>
        <p:spPr>
          <a:xfrm>
            <a:off x="640080" y="5486400"/>
            <a:ext cx="5372100" cy="914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5486400"/>
            <a:ext cx="73152" cy="91440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605272"/>
            <a:ext cx="4960620" cy="274320"/>
          </a:xfrm>
          <a:prstGeom prst="rect">
            <a:avLst/>
          </a:prstGeom>
          <a:noFill/>
        </p:spPr>
        <p:txBody>
          <a:bodyPr wrap="square" lIns="0" tIns="0" rIns="0" bIns="0">
            <a:spAutoFit/>
          </a:bodyPr>
          <a:lstStyle/>
          <a:p>
            <a:pPr algn="l"/>
            <a:r>
              <a:rPr sz="1100" b="1" i="0">
                <a:solidFill>
                  <a:srgbClr val="142A4E"/>
                </a:solidFill>
              </a:rPr>
              <a:t>ev_incentive_ranking.csv</a:t>
            </a:r>
          </a:p>
        </p:txBody>
      </p:sp>
      <p:sp>
        <p:nvSpPr>
          <p:cNvPr id="27" name="TextBox 26"/>
          <p:cNvSpPr txBox="1"/>
          <p:nvPr/>
        </p:nvSpPr>
        <p:spPr>
          <a:xfrm>
            <a:off x="868680" y="5879592"/>
            <a:ext cx="4960620" cy="429768"/>
          </a:xfrm>
          <a:prstGeom prst="rect">
            <a:avLst/>
          </a:prstGeom>
          <a:noFill/>
        </p:spPr>
        <p:txBody>
          <a:bodyPr wrap="square" lIns="0" tIns="0" rIns="0" bIns="0">
            <a:spAutoFit/>
          </a:bodyPr>
          <a:lstStyle/>
          <a:p>
            <a:pPr algn="l"/>
            <a:r>
              <a:rPr sz="950" b="0" i="0">
                <a:solidFill>
                  <a:srgbClr val="465266"/>
                </a:solidFill>
              </a:rPr>
              <a:t>200 dealers sorted descending, with per-dimension scores + final rank.</a:t>
            </a:r>
          </a:p>
        </p:txBody>
      </p:sp>
      <p:sp>
        <p:nvSpPr>
          <p:cNvPr id="28" name="Rounded Rectangle 27"/>
          <p:cNvSpPr/>
          <p:nvPr/>
        </p:nvSpPr>
        <p:spPr>
          <a:xfrm>
            <a:off x="6176772" y="5486400"/>
            <a:ext cx="5372100" cy="9144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76772" y="5486400"/>
            <a:ext cx="73152" cy="91440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5372" y="5605272"/>
            <a:ext cx="4960620" cy="274320"/>
          </a:xfrm>
          <a:prstGeom prst="rect">
            <a:avLst/>
          </a:prstGeom>
          <a:noFill/>
        </p:spPr>
        <p:txBody>
          <a:bodyPr wrap="square" lIns="0" tIns="0" rIns="0" bIns="0">
            <a:spAutoFit/>
          </a:bodyPr>
          <a:lstStyle/>
          <a:p>
            <a:pPr algn="l"/>
            <a:r>
              <a:rPr sz="1100" b="1" i="0">
                <a:solidFill>
                  <a:srgbClr val="142A4E"/>
                </a:solidFill>
              </a:rPr>
              <a:t>ev_incentive_report.md</a:t>
            </a:r>
          </a:p>
        </p:txBody>
      </p:sp>
      <p:sp>
        <p:nvSpPr>
          <p:cNvPr id="31" name="TextBox 30"/>
          <p:cNvSpPr txBox="1"/>
          <p:nvPr/>
        </p:nvSpPr>
        <p:spPr>
          <a:xfrm>
            <a:off x="6405372" y="5879592"/>
            <a:ext cx="4960620" cy="429768"/>
          </a:xfrm>
          <a:prstGeom prst="rect">
            <a:avLst/>
          </a:prstGeom>
          <a:noFill/>
        </p:spPr>
        <p:txBody>
          <a:bodyPr wrap="square" lIns="0" tIns="0" rIns="0" bIns="0">
            <a:spAutoFit/>
          </a:bodyPr>
          <a:lstStyle/>
          <a:p>
            <a:pPr algn="l"/>
            <a:r>
              <a:rPr sz="950" b="0" i="0">
                <a:solidFill>
                  <a:srgbClr val="465266"/>
                </a:solidFill>
              </a:rPr>
              <a:t>9 sections: exec summary, methodology, top 30, findings, caveats. Delivered as a Google Cloud Storage download link via the MCP server.</a:t>
            </a:r>
          </a:p>
        </p:txBody>
      </p:sp>
      <p:sp>
        <p:nvSpPr>
          <p:cNvPr id="32" name="Rectangle 31"/>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13 / 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E8B246"/>
                </a:solidFill>
              </a:rPr>
              <a:t>STORY 5 OF 5</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Code Complexity Analyzer + Cloud Cost Estimator</a:t>
            </a:r>
          </a:p>
        </p:txBody>
      </p:sp>
      <p:sp>
        <p:nvSpPr>
          <p:cNvPr id="5" name="Rounded Rectangle 4"/>
          <p:cNvSpPr/>
          <p:nvPr/>
        </p:nvSpPr>
        <p:spPr>
          <a:xfrm>
            <a:off x="640080"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03120"/>
            <a:ext cx="3483864" cy="7315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60120" y="2377440"/>
            <a:ext cx="411480" cy="411480"/>
          </a:xfrm>
          <a:prstGeom prst="roundRect">
            <a:avLst>
              <a:gd name="adj" fmla="val 50000"/>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377440"/>
            <a:ext cx="411480" cy="411480"/>
          </a:xfrm>
          <a:prstGeom prst="rect">
            <a:avLst/>
          </a:prstGeom>
          <a:noFill/>
        </p:spPr>
        <p:txBody>
          <a:bodyPr wrap="square" lIns="0" tIns="0" rIns="0" bIns="0" anchor="ctr">
            <a:spAutoFit/>
          </a:bodyPr>
          <a:lstStyle/>
          <a:p>
            <a:pPr algn="ctr"/>
            <a:r>
              <a:rPr sz="1400" b="1" i="0">
                <a:solidFill>
                  <a:srgbClr val="FFFFFF"/>
                </a:solidFill>
              </a:rPr>
              <a:t>1</a:t>
            </a:r>
          </a:p>
        </p:txBody>
      </p:sp>
      <p:sp>
        <p:nvSpPr>
          <p:cNvPr id="9" name="TextBox 8"/>
          <p:cNvSpPr txBox="1"/>
          <p:nvPr/>
        </p:nvSpPr>
        <p:spPr>
          <a:xfrm>
            <a:off x="1508760" y="2414016"/>
            <a:ext cx="2478024" cy="365760"/>
          </a:xfrm>
          <a:prstGeom prst="rect">
            <a:avLst/>
          </a:prstGeom>
          <a:noFill/>
        </p:spPr>
        <p:txBody>
          <a:bodyPr wrap="square" lIns="0" tIns="0" rIns="0" bIns="0">
            <a:spAutoFit/>
          </a:bodyPr>
          <a:lstStyle/>
          <a:p>
            <a:pPr algn="l"/>
            <a:r>
              <a:rPr sz="1100" b="1" i="0">
                <a:solidFill>
                  <a:srgbClr val="E86050"/>
                </a:solidFill>
              </a:rPr>
              <a:t>THE PROBLEM</a:t>
            </a:r>
          </a:p>
        </p:txBody>
      </p:sp>
      <p:sp>
        <p:nvSpPr>
          <p:cNvPr id="10" name="TextBox 9"/>
          <p:cNvSpPr txBox="1"/>
          <p:nvPr/>
        </p:nvSpPr>
        <p:spPr>
          <a:xfrm>
            <a:off x="960120" y="2971800"/>
            <a:ext cx="2843784" cy="2377440"/>
          </a:xfrm>
          <a:prstGeom prst="rect">
            <a:avLst/>
          </a:prstGeom>
          <a:noFill/>
        </p:spPr>
        <p:txBody>
          <a:bodyPr wrap="square" lIns="0" tIns="0" rIns="0" bIns="0">
            <a:spAutoFit/>
          </a:bodyPr>
          <a:lstStyle/>
          <a:p>
            <a:pPr algn="l"/>
            <a:r>
              <a:rPr sz="1300" b="0" i="0">
                <a:solidFill>
                  <a:srgbClr val="1C2436"/>
                </a:solidFill>
              </a:rPr>
              <a:t>Ford engineers wanted two things fast: is my code efficient, and how much would it cost to run on Vertex AI? Doing this by hand for a whole repo was painful — and there was no easy way to compare different LLM models for the same code.</a:t>
            </a:r>
          </a:p>
        </p:txBody>
      </p:sp>
      <p:sp>
        <p:nvSpPr>
          <p:cNvPr id="11" name="Rounded Rectangle 10"/>
          <p:cNvSpPr/>
          <p:nvPr/>
        </p:nvSpPr>
        <p:spPr>
          <a:xfrm>
            <a:off x="4352544"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2103120"/>
            <a:ext cx="3483864" cy="73152"/>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72584" y="2377440"/>
            <a:ext cx="411480" cy="411480"/>
          </a:xfrm>
          <a:prstGeom prst="roundRect">
            <a:avLst>
              <a:gd name="adj" fmla="val 50000"/>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72584" y="2377440"/>
            <a:ext cx="411480" cy="411480"/>
          </a:xfrm>
          <a:prstGeom prst="rect">
            <a:avLst/>
          </a:prstGeom>
          <a:noFill/>
        </p:spPr>
        <p:txBody>
          <a:bodyPr wrap="square" lIns="0" tIns="0" rIns="0" bIns="0" anchor="ctr">
            <a:spAutoFit/>
          </a:bodyPr>
          <a:lstStyle/>
          <a:p>
            <a:pPr algn="ctr"/>
            <a:r>
              <a:rPr sz="1400" b="1" i="0">
                <a:solidFill>
                  <a:srgbClr val="FFFFFF"/>
                </a:solidFill>
              </a:rPr>
              <a:t>2</a:t>
            </a:r>
          </a:p>
        </p:txBody>
      </p:sp>
      <p:sp>
        <p:nvSpPr>
          <p:cNvPr id="15" name="TextBox 14"/>
          <p:cNvSpPr txBox="1"/>
          <p:nvPr/>
        </p:nvSpPr>
        <p:spPr>
          <a:xfrm>
            <a:off x="5221224" y="2414016"/>
            <a:ext cx="2478024" cy="365760"/>
          </a:xfrm>
          <a:prstGeom prst="rect">
            <a:avLst/>
          </a:prstGeom>
          <a:noFill/>
        </p:spPr>
        <p:txBody>
          <a:bodyPr wrap="square" lIns="0" tIns="0" rIns="0" bIns="0">
            <a:spAutoFit/>
          </a:bodyPr>
          <a:lstStyle/>
          <a:p>
            <a:pPr algn="l"/>
            <a:r>
              <a:rPr sz="1100" b="1" i="0">
                <a:solidFill>
                  <a:srgbClr val="142A4E"/>
                </a:solidFill>
              </a:rPr>
              <a:t>WHAT I BUILT</a:t>
            </a:r>
          </a:p>
        </p:txBody>
      </p:sp>
      <p:sp>
        <p:nvSpPr>
          <p:cNvPr id="16" name="TextBox 15"/>
          <p:cNvSpPr txBox="1"/>
          <p:nvPr/>
        </p:nvSpPr>
        <p:spPr>
          <a:xfrm>
            <a:off x="4672584" y="2971800"/>
            <a:ext cx="2843784" cy="2377440"/>
          </a:xfrm>
          <a:prstGeom prst="rect">
            <a:avLst/>
          </a:prstGeom>
          <a:noFill/>
        </p:spPr>
        <p:txBody>
          <a:bodyPr wrap="square" lIns="0" tIns="0" rIns="0" bIns="0">
            <a:spAutoFit/>
          </a:bodyPr>
          <a:lstStyle/>
          <a:p>
            <a:pPr algn="l"/>
            <a:r>
              <a:rPr sz="1300" b="0" i="0">
                <a:solidFill>
                  <a:srgbClr val="1C2436"/>
                </a:solidFill>
              </a:rPr>
              <a:t>I built a FastAPI web app. Paste a GitHub URL, pick from 21 LLM models (all routed through Ford's LLM API gateway). The app clones the repo, uses Python's AST module to find each function, class, and loop, sends each block to the AI for Big-O analysis + improvement suggestions, and streams results to the browser live via Server-Sent Events. A second AI call estimates Vertex AI cost.</a:t>
            </a:r>
          </a:p>
        </p:txBody>
      </p:sp>
      <p:sp>
        <p:nvSpPr>
          <p:cNvPr id="17" name="Rounded Rectangle 16"/>
          <p:cNvSpPr/>
          <p:nvPr/>
        </p:nvSpPr>
        <p:spPr>
          <a:xfrm>
            <a:off x="8065008" y="2103120"/>
            <a:ext cx="3483864" cy="33832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65008" y="2103120"/>
            <a:ext cx="3483864" cy="7315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385048" y="2377440"/>
            <a:ext cx="411480" cy="411480"/>
          </a:xfrm>
          <a:prstGeom prst="roundRect">
            <a:avLst>
              <a:gd name="adj" fmla="val 50000"/>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5048" y="2377440"/>
            <a:ext cx="411480" cy="411480"/>
          </a:xfrm>
          <a:prstGeom prst="rect">
            <a:avLst/>
          </a:prstGeom>
          <a:noFill/>
        </p:spPr>
        <p:txBody>
          <a:bodyPr wrap="square" lIns="0" tIns="0" rIns="0" bIns="0" anchor="ctr">
            <a:spAutoFit/>
          </a:bodyPr>
          <a:lstStyle/>
          <a:p>
            <a:pPr algn="ctr"/>
            <a:r>
              <a:rPr sz="1400" b="1" i="0">
                <a:solidFill>
                  <a:srgbClr val="FFFFFF"/>
                </a:solidFill>
              </a:rPr>
              <a:t>3</a:t>
            </a:r>
          </a:p>
        </p:txBody>
      </p:sp>
      <p:sp>
        <p:nvSpPr>
          <p:cNvPr id="21" name="TextBox 20"/>
          <p:cNvSpPr txBox="1"/>
          <p:nvPr/>
        </p:nvSpPr>
        <p:spPr>
          <a:xfrm>
            <a:off x="8933688" y="2414016"/>
            <a:ext cx="2478024" cy="365760"/>
          </a:xfrm>
          <a:prstGeom prst="rect">
            <a:avLst/>
          </a:prstGeom>
          <a:noFill/>
        </p:spPr>
        <p:txBody>
          <a:bodyPr wrap="square" lIns="0" tIns="0" rIns="0" bIns="0">
            <a:spAutoFit/>
          </a:bodyPr>
          <a:lstStyle/>
          <a:p>
            <a:pPr algn="l"/>
            <a:r>
              <a:rPr sz="1100" b="1" i="0">
                <a:solidFill>
                  <a:srgbClr val="3498A2"/>
                </a:solidFill>
              </a:rPr>
              <a:t>WHAT CHANGED</a:t>
            </a:r>
          </a:p>
        </p:txBody>
      </p:sp>
      <p:sp>
        <p:nvSpPr>
          <p:cNvPr id="22" name="TextBox 21"/>
          <p:cNvSpPr txBox="1"/>
          <p:nvPr/>
        </p:nvSpPr>
        <p:spPr>
          <a:xfrm>
            <a:off x="8385048" y="2971800"/>
            <a:ext cx="2843784" cy="2377440"/>
          </a:xfrm>
          <a:prstGeom prst="rect">
            <a:avLst/>
          </a:prstGeom>
          <a:noFill/>
        </p:spPr>
        <p:txBody>
          <a:bodyPr wrap="square" lIns="0" tIns="0" rIns="0" bIns="0">
            <a:spAutoFit/>
          </a:bodyPr>
          <a:lstStyle/>
          <a:p>
            <a:pPr algn="l"/>
            <a:r>
              <a:rPr sz="1300" b="0" i="0">
                <a:solidFill>
                  <a:srgbClr val="1C2436"/>
                </a:solidFill>
              </a:rPr>
              <a:t>A whole repo is analyzed in minutes. Engineers compare models on the same code. Cost estimator (hybrid AI + static pricing table) predicts current vs optimized cost on Google Cloud. Inefficient code gets caught before it ships.</a:t>
            </a:r>
          </a:p>
        </p:txBody>
      </p:sp>
      <p:sp>
        <p:nvSpPr>
          <p:cNvPr id="23" name="TextBox 22"/>
          <p:cNvSpPr txBox="1"/>
          <p:nvPr/>
        </p:nvSpPr>
        <p:spPr>
          <a:xfrm>
            <a:off x="0" y="5669280"/>
            <a:ext cx="12191695" cy="320040"/>
          </a:xfrm>
          <a:prstGeom prst="rect">
            <a:avLst/>
          </a:prstGeom>
          <a:noFill/>
        </p:spPr>
        <p:txBody>
          <a:bodyPr wrap="square" lIns="0" tIns="0" rIns="0" bIns="0">
            <a:spAutoFit/>
          </a:bodyPr>
          <a:lstStyle/>
          <a:p>
            <a:pPr algn="ctr"/>
            <a:r>
              <a:rPr sz="1100" b="0" i="1">
                <a:solidFill>
                  <a:srgbClr val="E8B246"/>
                </a:solidFill>
              </a:rPr>
              <a:t>Next slide: how it actually works  ↓</a:t>
            </a:r>
          </a:p>
        </p:txBody>
      </p:sp>
      <p:sp>
        <p:nvSpPr>
          <p:cNvPr id="24" name="Rectangle 23"/>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14 / 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658368"/>
            <a:ext cx="10515600" cy="274320"/>
          </a:xfrm>
          <a:prstGeom prst="rect">
            <a:avLst/>
          </a:prstGeom>
          <a:noFill/>
        </p:spPr>
        <p:txBody>
          <a:bodyPr wrap="square" lIns="0" tIns="0" rIns="0" bIns="0">
            <a:spAutoFit/>
          </a:bodyPr>
          <a:lstStyle/>
          <a:p>
            <a:pPr algn="l"/>
            <a:r>
              <a:rPr sz="1100" b="1" i="0">
                <a:solidFill>
                  <a:srgbClr val="E8B246"/>
                </a:solidFill>
              </a:rPr>
              <a:t>STORY 5 · UNDER THE HOOD</a:t>
            </a:r>
          </a:p>
        </p:txBody>
      </p:sp>
      <p:sp>
        <p:nvSpPr>
          <p:cNvPr id="4" name="TextBox 3"/>
          <p:cNvSpPr txBox="1"/>
          <p:nvPr/>
        </p:nvSpPr>
        <p:spPr>
          <a:xfrm>
            <a:off x="640080" y="932688"/>
            <a:ext cx="10972800" cy="822960"/>
          </a:xfrm>
          <a:prstGeom prst="rect">
            <a:avLst/>
          </a:prstGeom>
          <a:noFill/>
        </p:spPr>
        <p:txBody>
          <a:bodyPr wrap="square" lIns="0" tIns="0" rIns="0" bIns="0">
            <a:spAutoFit/>
          </a:bodyPr>
          <a:lstStyle/>
          <a:p>
            <a:pPr algn="l"/>
            <a:r>
              <a:rPr sz="3200" b="1" i="0">
                <a:solidFill>
                  <a:srgbClr val="142A4E"/>
                </a:solidFill>
              </a:rPr>
              <a:t>Code Complexity Analyzer + Cloud Cost Estimator</a:t>
            </a:r>
          </a:p>
        </p:txBody>
      </p:sp>
      <p:sp>
        <p:nvSpPr>
          <p:cNvPr id="5" name="TextBox 4"/>
          <p:cNvSpPr txBox="1"/>
          <p:nvPr/>
        </p:nvSpPr>
        <p:spPr>
          <a:xfrm>
            <a:off x="640080" y="1801368"/>
            <a:ext cx="10972800" cy="411480"/>
          </a:xfrm>
          <a:prstGeom prst="rect">
            <a:avLst/>
          </a:prstGeom>
          <a:noFill/>
        </p:spPr>
        <p:txBody>
          <a:bodyPr wrap="square" lIns="0" tIns="0" rIns="0" bIns="0">
            <a:spAutoFit/>
          </a:bodyPr>
          <a:lstStyle/>
          <a:p>
            <a:pPr algn="l"/>
            <a:r>
              <a:rPr sz="1400" b="0" i="0">
                <a:solidFill>
                  <a:srgbClr val="465266"/>
                </a:solidFill>
              </a:rPr>
              <a:t>How it works inside, in plain English.</a:t>
            </a:r>
          </a:p>
        </p:txBody>
      </p:sp>
      <p:sp>
        <p:nvSpPr>
          <p:cNvPr id="6" name="TextBox 5"/>
          <p:cNvSpPr txBox="1"/>
          <p:nvPr/>
        </p:nvSpPr>
        <p:spPr>
          <a:xfrm>
            <a:off x="640080" y="1965960"/>
            <a:ext cx="7315200" cy="274320"/>
          </a:xfrm>
          <a:prstGeom prst="rect">
            <a:avLst/>
          </a:prstGeom>
          <a:noFill/>
        </p:spPr>
        <p:txBody>
          <a:bodyPr wrap="square" lIns="0" tIns="0" rIns="0" bIns="0">
            <a:spAutoFit/>
          </a:bodyPr>
          <a:lstStyle/>
          <a:p>
            <a:pPr algn="l"/>
            <a:r>
              <a:rPr sz="1100" b="1" i="0">
                <a:solidFill>
                  <a:srgbClr val="E8B246"/>
                </a:solidFill>
              </a:rPr>
              <a:t>THE WORKFLOW</a:t>
            </a:r>
          </a:p>
        </p:txBody>
      </p:sp>
      <p:sp>
        <p:nvSpPr>
          <p:cNvPr id="7" name="Rounded Rectangle 6"/>
          <p:cNvSpPr/>
          <p:nvPr/>
        </p:nvSpPr>
        <p:spPr>
          <a:xfrm>
            <a:off x="64008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40280"/>
            <a:ext cx="1696212"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2423160"/>
            <a:ext cx="347472" cy="347472"/>
          </a:xfrm>
          <a:prstGeom prst="roundRect">
            <a:avLst>
              <a:gd name="adj" fmla="val 50000"/>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423160"/>
            <a:ext cx="347472" cy="347472"/>
          </a:xfrm>
          <a:prstGeom prst="rect">
            <a:avLst/>
          </a:prstGeom>
          <a:noFill/>
        </p:spPr>
        <p:txBody>
          <a:bodyPr wrap="square" lIns="0" tIns="0" rIns="0" bIns="0" anchor="ctr">
            <a:spAutoFit/>
          </a:bodyPr>
          <a:lstStyle/>
          <a:p>
            <a:pPr algn="ctr"/>
            <a:r>
              <a:rPr sz="1100" b="1" i="0">
                <a:solidFill>
                  <a:srgbClr val="FFFFFF"/>
                </a:solidFill>
              </a:rPr>
              <a:t>1</a:t>
            </a:r>
          </a:p>
        </p:txBody>
      </p:sp>
      <p:sp>
        <p:nvSpPr>
          <p:cNvPr id="11" name="TextBox 10"/>
          <p:cNvSpPr txBox="1"/>
          <p:nvPr/>
        </p:nvSpPr>
        <p:spPr>
          <a:xfrm>
            <a:off x="1188720" y="2423160"/>
            <a:ext cx="1010412" cy="320040"/>
          </a:xfrm>
          <a:prstGeom prst="rect">
            <a:avLst/>
          </a:prstGeom>
          <a:noFill/>
        </p:spPr>
        <p:txBody>
          <a:bodyPr wrap="square" lIns="0" tIns="0" rIns="0" bIns="0">
            <a:spAutoFit/>
          </a:bodyPr>
          <a:lstStyle/>
          <a:p>
            <a:pPr algn="l"/>
            <a:r>
              <a:rPr sz="1100" b="1" i="0">
                <a:solidFill>
                  <a:srgbClr val="142A4E"/>
                </a:solidFill>
              </a:rPr>
              <a:t>Clone</a:t>
            </a:r>
          </a:p>
        </p:txBody>
      </p:sp>
      <p:sp>
        <p:nvSpPr>
          <p:cNvPr id="12" name="TextBox 11"/>
          <p:cNvSpPr txBox="1"/>
          <p:nvPr/>
        </p:nvSpPr>
        <p:spPr>
          <a:xfrm>
            <a:off x="804672" y="2834640"/>
            <a:ext cx="1367028" cy="640080"/>
          </a:xfrm>
          <a:prstGeom prst="rect">
            <a:avLst/>
          </a:prstGeom>
          <a:noFill/>
        </p:spPr>
        <p:txBody>
          <a:bodyPr wrap="square" lIns="0" tIns="0" rIns="0" bIns="0">
            <a:spAutoFit/>
          </a:bodyPr>
          <a:lstStyle/>
          <a:p>
            <a:pPr algn="l"/>
            <a:r>
              <a:rPr sz="850" b="0" i="0">
                <a:solidFill>
                  <a:srgbClr val="465266"/>
                </a:solidFill>
              </a:rPr>
              <a:t>GitPython pulls the GitHub repo</a:t>
            </a:r>
          </a:p>
        </p:txBody>
      </p:sp>
      <p:sp>
        <p:nvSpPr>
          <p:cNvPr id="13" name="Right Arrow 12"/>
          <p:cNvSpPr/>
          <p:nvPr/>
        </p:nvSpPr>
        <p:spPr>
          <a:xfrm>
            <a:off x="2340864" y="2811780"/>
            <a:ext cx="137160" cy="182880"/>
          </a:xfrm>
          <a:prstGeom prst="rightArrow">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482596"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82596" y="2240280"/>
            <a:ext cx="1696212"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1468" y="2423160"/>
            <a:ext cx="347472" cy="347472"/>
          </a:xfrm>
          <a:prstGeom prst="roundRect">
            <a:avLst>
              <a:gd name="adj" fmla="val 50000"/>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1468" y="2423160"/>
            <a:ext cx="347472" cy="347472"/>
          </a:xfrm>
          <a:prstGeom prst="rect">
            <a:avLst/>
          </a:prstGeom>
          <a:noFill/>
        </p:spPr>
        <p:txBody>
          <a:bodyPr wrap="square" lIns="0" tIns="0" rIns="0" bIns="0" anchor="ctr">
            <a:spAutoFit/>
          </a:bodyPr>
          <a:lstStyle/>
          <a:p>
            <a:pPr algn="ctr"/>
            <a:r>
              <a:rPr sz="1100" b="1" i="0">
                <a:solidFill>
                  <a:srgbClr val="FFFFFF"/>
                </a:solidFill>
              </a:rPr>
              <a:t>2</a:t>
            </a:r>
          </a:p>
        </p:txBody>
      </p:sp>
      <p:sp>
        <p:nvSpPr>
          <p:cNvPr id="18" name="TextBox 17"/>
          <p:cNvSpPr txBox="1"/>
          <p:nvPr/>
        </p:nvSpPr>
        <p:spPr>
          <a:xfrm>
            <a:off x="3031236" y="2423160"/>
            <a:ext cx="1010412" cy="320040"/>
          </a:xfrm>
          <a:prstGeom prst="rect">
            <a:avLst/>
          </a:prstGeom>
          <a:noFill/>
        </p:spPr>
        <p:txBody>
          <a:bodyPr wrap="square" lIns="0" tIns="0" rIns="0" bIns="0">
            <a:spAutoFit/>
          </a:bodyPr>
          <a:lstStyle/>
          <a:p>
            <a:pPr algn="l"/>
            <a:r>
              <a:rPr sz="1100" b="1" i="0">
                <a:solidFill>
                  <a:srgbClr val="142A4E"/>
                </a:solidFill>
              </a:rPr>
              <a:t>AST Walk</a:t>
            </a:r>
          </a:p>
        </p:txBody>
      </p:sp>
      <p:sp>
        <p:nvSpPr>
          <p:cNvPr id="19" name="TextBox 18"/>
          <p:cNvSpPr txBox="1"/>
          <p:nvPr/>
        </p:nvSpPr>
        <p:spPr>
          <a:xfrm>
            <a:off x="2647188" y="2834640"/>
            <a:ext cx="1367028" cy="640080"/>
          </a:xfrm>
          <a:prstGeom prst="rect">
            <a:avLst/>
          </a:prstGeom>
          <a:noFill/>
        </p:spPr>
        <p:txBody>
          <a:bodyPr wrap="square" lIns="0" tIns="0" rIns="0" bIns="0">
            <a:spAutoFit/>
          </a:bodyPr>
          <a:lstStyle/>
          <a:p>
            <a:pPr algn="l"/>
            <a:r>
              <a:rPr sz="850" b="0" i="0">
                <a:solidFill>
                  <a:srgbClr val="465266"/>
                </a:solidFill>
              </a:rPr>
              <a:t>Python ast module finds functions/loops</a:t>
            </a:r>
          </a:p>
        </p:txBody>
      </p:sp>
      <p:sp>
        <p:nvSpPr>
          <p:cNvPr id="20" name="Right Arrow 19"/>
          <p:cNvSpPr/>
          <p:nvPr/>
        </p:nvSpPr>
        <p:spPr>
          <a:xfrm>
            <a:off x="4183380" y="2811780"/>
            <a:ext cx="137160" cy="182880"/>
          </a:xfrm>
          <a:prstGeom prst="rightArrow">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325112"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25112" y="2240280"/>
            <a:ext cx="1696212"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443984" y="2423160"/>
            <a:ext cx="347472" cy="347472"/>
          </a:xfrm>
          <a:prstGeom prst="roundRect">
            <a:avLst>
              <a:gd name="adj" fmla="val 50000"/>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43984" y="2423160"/>
            <a:ext cx="347472" cy="347472"/>
          </a:xfrm>
          <a:prstGeom prst="rect">
            <a:avLst/>
          </a:prstGeom>
          <a:noFill/>
        </p:spPr>
        <p:txBody>
          <a:bodyPr wrap="square" lIns="0" tIns="0" rIns="0" bIns="0" anchor="ctr">
            <a:spAutoFit/>
          </a:bodyPr>
          <a:lstStyle/>
          <a:p>
            <a:pPr algn="ctr"/>
            <a:r>
              <a:rPr sz="1100" b="1" i="0">
                <a:solidFill>
                  <a:srgbClr val="FFFFFF"/>
                </a:solidFill>
              </a:rPr>
              <a:t>3</a:t>
            </a:r>
          </a:p>
        </p:txBody>
      </p:sp>
      <p:sp>
        <p:nvSpPr>
          <p:cNvPr id="25" name="TextBox 24"/>
          <p:cNvSpPr txBox="1"/>
          <p:nvPr/>
        </p:nvSpPr>
        <p:spPr>
          <a:xfrm>
            <a:off x="4873752" y="2423160"/>
            <a:ext cx="1010412" cy="320040"/>
          </a:xfrm>
          <a:prstGeom prst="rect">
            <a:avLst/>
          </a:prstGeom>
          <a:noFill/>
        </p:spPr>
        <p:txBody>
          <a:bodyPr wrap="square" lIns="0" tIns="0" rIns="0" bIns="0">
            <a:spAutoFit/>
          </a:bodyPr>
          <a:lstStyle/>
          <a:p>
            <a:pPr algn="l"/>
            <a:r>
              <a:rPr sz="1100" b="1" i="0">
                <a:solidFill>
                  <a:srgbClr val="142A4E"/>
                </a:solidFill>
              </a:rPr>
              <a:t>LLM Analyze</a:t>
            </a:r>
          </a:p>
        </p:txBody>
      </p:sp>
      <p:sp>
        <p:nvSpPr>
          <p:cNvPr id="26" name="TextBox 25"/>
          <p:cNvSpPr txBox="1"/>
          <p:nvPr/>
        </p:nvSpPr>
        <p:spPr>
          <a:xfrm>
            <a:off x="4489704" y="2834640"/>
            <a:ext cx="1367028" cy="640080"/>
          </a:xfrm>
          <a:prstGeom prst="rect">
            <a:avLst/>
          </a:prstGeom>
          <a:noFill/>
        </p:spPr>
        <p:txBody>
          <a:bodyPr wrap="square" lIns="0" tIns="0" rIns="0" bIns="0">
            <a:spAutoFit/>
          </a:bodyPr>
          <a:lstStyle/>
          <a:p>
            <a:pPr algn="l"/>
            <a:r>
              <a:rPr sz="850" b="0" i="0">
                <a:solidFill>
                  <a:srgbClr val="465266"/>
                </a:solidFill>
              </a:rPr>
              <a:t>Per-block Big-O + suggestions</a:t>
            </a:r>
          </a:p>
        </p:txBody>
      </p:sp>
      <p:sp>
        <p:nvSpPr>
          <p:cNvPr id="27" name="Right Arrow 26"/>
          <p:cNvSpPr/>
          <p:nvPr/>
        </p:nvSpPr>
        <p:spPr>
          <a:xfrm>
            <a:off x="6025896" y="2811780"/>
            <a:ext cx="137160" cy="182880"/>
          </a:xfrm>
          <a:prstGeom prst="rightArrow">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67628"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67628" y="2240280"/>
            <a:ext cx="1696212"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86500" y="2423160"/>
            <a:ext cx="347472" cy="347472"/>
          </a:xfrm>
          <a:prstGeom prst="roundRect">
            <a:avLst>
              <a:gd name="adj" fmla="val 50000"/>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86500" y="2423160"/>
            <a:ext cx="347472" cy="347472"/>
          </a:xfrm>
          <a:prstGeom prst="rect">
            <a:avLst/>
          </a:prstGeom>
          <a:noFill/>
        </p:spPr>
        <p:txBody>
          <a:bodyPr wrap="square" lIns="0" tIns="0" rIns="0" bIns="0" anchor="ctr">
            <a:spAutoFit/>
          </a:bodyPr>
          <a:lstStyle/>
          <a:p>
            <a:pPr algn="ctr"/>
            <a:r>
              <a:rPr sz="1100" b="1" i="0">
                <a:solidFill>
                  <a:srgbClr val="FFFFFF"/>
                </a:solidFill>
              </a:rPr>
              <a:t>4</a:t>
            </a:r>
          </a:p>
        </p:txBody>
      </p:sp>
      <p:sp>
        <p:nvSpPr>
          <p:cNvPr id="32" name="TextBox 31"/>
          <p:cNvSpPr txBox="1"/>
          <p:nvPr/>
        </p:nvSpPr>
        <p:spPr>
          <a:xfrm>
            <a:off x="6716268" y="2423160"/>
            <a:ext cx="1010412" cy="320040"/>
          </a:xfrm>
          <a:prstGeom prst="rect">
            <a:avLst/>
          </a:prstGeom>
          <a:noFill/>
        </p:spPr>
        <p:txBody>
          <a:bodyPr wrap="square" lIns="0" tIns="0" rIns="0" bIns="0">
            <a:spAutoFit/>
          </a:bodyPr>
          <a:lstStyle/>
          <a:p>
            <a:pPr algn="l"/>
            <a:r>
              <a:rPr sz="1100" b="1" i="0">
                <a:solidFill>
                  <a:srgbClr val="142A4E"/>
                </a:solidFill>
              </a:rPr>
              <a:t>Summary</a:t>
            </a:r>
          </a:p>
        </p:txBody>
      </p:sp>
      <p:sp>
        <p:nvSpPr>
          <p:cNvPr id="33" name="TextBox 32"/>
          <p:cNvSpPr txBox="1"/>
          <p:nvPr/>
        </p:nvSpPr>
        <p:spPr>
          <a:xfrm>
            <a:off x="6332220" y="2834640"/>
            <a:ext cx="1367028" cy="640080"/>
          </a:xfrm>
          <a:prstGeom prst="rect">
            <a:avLst/>
          </a:prstGeom>
          <a:noFill/>
        </p:spPr>
        <p:txBody>
          <a:bodyPr wrap="square" lIns="0" tIns="0" rIns="0" bIns="0">
            <a:spAutoFit/>
          </a:bodyPr>
          <a:lstStyle/>
          <a:p>
            <a:pPr algn="l"/>
            <a:r>
              <a:rPr sz="850" b="0" i="0">
                <a:solidFill>
                  <a:srgbClr val="465266"/>
                </a:solidFill>
              </a:rPr>
              <a:t>AI writes JSON repo-level summary</a:t>
            </a:r>
          </a:p>
        </p:txBody>
      </p:sp>
      <p:sp>
        <p:nvSpPr>
          <p:cNvPr id="34" name="Right Arrow 33"/>
          <p:cNvSpPr/>
          <p:nvPr/>
        </p:nvSpPr>
        <p:spPr>
          <a:xfrm>
            <a:off x="7868412" y="2811780"/>
            <a:ext cx="137160" cy="182880"/>
          </a:xfrm>
          <a:prstGeom prst="rightArrow">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010144"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10144" y="2240280"/>
            <a:ext cx="1696212"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29016" y="2423160"/>
            <a:ext cx="347472" cy="347472"/>
          </a:xfrm>
          <a:prstGeom prst="roundRect">
            <a:avLst>
              <a:gd name="adj" fmla="val 50000"/>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29016" y="2423160"/>
            <a:ext cx="347472" cy="347472"/>
          </a:xfrm>
          <a:prstGeom prst="rect">
            <a:avLst/>
          </a:prstGeom>
          <a:noFill/>
        </p:spPr>
        <p:txBody>
          <a:bodyPr wrap="square" lIns="0" tIns="0" rIns="0" bIns="0" anchor="ctr">
            <a:spAutoFit/>
          </a:bodyPr>
          <a:lstStyle/>
          <a:p>
            <a:pPr algn="ctr"/>
            <a:r>
              <a:rPr sz="1100" b="1" i="0">
                <a:solidFill>
                  <a:srgbClr val="FFFFFF"/>
                </a:solidFill>
              </a:rPr>
              <a:t>5</a:t>
            </a:r>
          </a:p>
        </p:txBody>
      </p:sp>
      <p:sp>
        <p:nvSpPr>
          <p:cNvPr id="39" name="TextBox 38"/>
          <p:cNvSpPr txBox="1"/>
          <p:nvPr/>
        </p:nvSpPr>
        <p:spPr>
          <a:xfrm>
            <a:off x="8558784" y="2423160"/>
            <a:ext cx="1010412" cy="320040"/>
          </a:xfrm>
          <a:prstGeom prst="rect">
            <a:avLst/>
          </a:prstGeom>
          <a:noFill/>
        </p:spPr>
        <p:txBody>
          <a:bodyPr wrap="square" lIns="0" tIns="0" rIns="0" bIns="0">
            <a:spAutoFit/>
          </a:bodyPr>
          <a:lstStyle/>
          <a:p>
            <a:pPr algn="l"/>
            <a:r>
              <a:rPr sz="1100" b="1" i="0">
                <a:solidFill>
                  <a:srgbClr val="142A4E"/>
                </a:solidFill>
              </a:rPr>
              <a:t>SSE Stream</a:t>
            </a:r>
          </a:p>
        </p:txBody>
      </p:sp>
      <p:sp>
        <p:nvSpPr>
          <p:cNvPr id="40" name="TextBox 39"/>
          <p:cNvSpPr txBox="1"/>
          <p:nvPr/>
        </p:nvSpPr>
        <p:spPr>
          <a:xfrm>
            <a:off x="8174736" y="2834640"/>
            <a:ext cx="1367028" cy="640080"/>
          </a:xfrm>
          <a:prstGeom prst="rect">
            <a:avLst/>
          </a:prstGeom>
          <a:noFill/>
        </p:spPr>
        <p:txBody>
          <a:bodyPr wrap="square" lIns="0" tIns="0" rIns="0" bIns="0">
            <a:spAutoFit/>
          </a:bodyPr>
          <a:lstStyle/>
          <a:p>
            <a:pPr algn="l"/>
            <a:r>
              <a:rPr sz="850" b="0" i="0">
                <a:solidFill>
                  <a:srgbClr val="465266"/>
                </a:solidFill>
              </a:rPr>
              <a:t>Live results to the browser</a:t>
            </a:r>
          </a:p>
        </p:txBody>
      </p:sp>
      <p:sp>
        <p:nvSpPr>
          <p:cNvPr id="41" name="Right Arrow 40"/>
          <p:cNvSpPr/>
          <p:nvPr/>
        </p:nvSpPr>
        <p:spPr>
          <a:xfrm>
            <a:off x="9710928" y="2811780"/>
            <a:ext cx="137160" cy="182880"/>
          </a:xfrm>
          <a:prstGeom prst="rightArrow">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9852660" y="2240280"/>
            <a:ext cx="1696212" cy="132588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852660" y="2240280"/>
            <a:ext cx="1696212" cy="64008"/>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971532" y="2423160"/>
            <a:ext cx="347472" cy="347472"/>
          </a:xfrm>
          <a:prstGeom prst="roundRect">
            <a:avLst>
              <a:gd name="adj" fmla="val 50000"/>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1532" y="2423160"/>
            <a:ext cx="347472" cy="347472"/>
          </a:xfrm>
          <a:prstGeom prst="rect">
            <a:avLst/>
          </a:prstGeom>
          <a:noFill/>
        </p:spPr>
        <p:txBody>
          <a:bodyPr wrap="square" lIns="0" tIns="0" rIns="0" bIns="0" anchor="ctr">
            <a:spAutoFit/>
          </a:bodyPr>
          <a:lstStyle/>
          <a:p>
            <a:pPr algn="ctr"/>
            <a:r>
              <a:rPr sz="1100" b="1" i="0">
                <a:solidFill>
                  <a:srgbClr val="FFFFFF"/>
                </a:solidFill>
              </a:rPr>
              <a:t>6</a:t>
            </a:r>
          </a:p>
        </p:txBody>
      </p:sp>
      <p:sp>
        <p:nvSpPr>
          <p:cNvPr id="46" name="TextBox 45"/>
          <p:cNvSpPr txBox="1"/>
          <p:nvPr/>
        </p:nvSpPr>
        <p:spPr>
          <a:xfrm>
            <a:off x="10401300" y="2423160"/>
            <a:ext cx="1010412" cy="320040"/>
          </a:xfrm>
          <a:prstGeom prst="rect">
            <a:avLst/>
          </a:prstGeom>
          <a:noFill/>
        </p:spPr>
        <p:txBody>
          <a:bodyPr wrap="square" lIns="0" tIns="0" rIns="0" bIns="0">
            <a:spAutoFit/>
          </a:bodyPr>
          <a:lstStyle/>
          <a:p>
            <a:pPr algn="l"/>
            <a:r>
              <a:rPr sz="1100" b="1" i="0">
                <a:solidFill>
                  <a:srgbClr val="142A4E"/>
                </a:solidFill>
              </a:rPr>
              <a:t>Cost</a:t>
            </a:r>
          </a:p>
        </p:txBody>
      </p:sp>
      <p:sp>
        <p:nvSpPr>
          <p:cNvPr id="47" name="TextBox 46"/>
          <p:cNvSpPr txBox="1"/>
          <p:nvPr/>
        </p:nvSpPr>
        <p:spPr>
          <a:xfrm>
            <a:off x="10017252" y="2834640"/>
            <a:ext cx="1367028" cy="640080"/>
          </a:xfrm>
          <a:prstGeom prst="rect">
            <a:avLst/>
          </a:prstGeom>
          <a:noFill/>
        </p:spPr>
        <p:txBody>
          <a:bodyPr wrap="square" lIns="0" tIns="0" rIns="0" bIns="0">
            <a:spAutoFit/>
          </a:bodyPr>
          <a:lstStyle/>
          <a:p>
            <a:pPr algn="l"/>
            <a:r>
              <a:rPr sz="850" b="0" i="0">
                <a:solidFill>
                  <a:srgbClr val="465266"/>
                </a:solidFill>
              </a:rPr>
              <a:t>AI picks GCP machine; Python prices it</a:t>
            </a:r>
          </a:p>
        </p:txBody>
      </p:sp>
      <p:sp>
        <p:nvSpPr>
          <p:cNvPr id="48" name="Rounded Rectangle 47"/>
          <p:cNvSpPr/>
          <p:nvPr/>
        </p:nvSpPr>
        <p:spPr>
          <a:xfrm>
            <a:off x="640080" y="3840480"/>
            <a:ext cx="6583680"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40080" y="3840480"/>
            <a:ext cx="73152" cy="2423160"/>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4023360"/>
            <a:ext cx="6126480" cy="320040"/>
          </a:xfrm>
          <a:prstGeom prst="rect">
            <a:avLst/>
          </a:prstGeom>
          <a:noFill/>
        </p:spPr>
        <p:txBody>
          <a:bodyPr wrap="square" lIns="0" tIns="0" rIns="0" bIns="0">
            <a:spAutoFit/>
          </a:bodyPr>
          <a:lstStyle/>
          <a:p>
            <a:pPr algn="l"/>
            <a:r>
              <a:rPr sz="1100" b="1" i="0">
                <a:solidFill>
                  <a:srgbClr val="E8B246"/>
                </a:solidFill>
              </a:rPr>
              <a:t>WHAT EACH PART DOES</a:t>
            </a:r>
          </a:p>
        </p:txBody>
      </p:sp>
      <p:sp>
        <p:nvSpPr>
          <p:cNvPr id="51" name="TextBox 50"/>
          <p:cNvSpPr txBox="1"/>
          <p:nvPr/>
        </p:nvSpPr>
        <p:spPr>
          <a:xfrm>
            <a:off x="914400" y="4389120"/>
            <a:ext cx="6126480" cy="1737360"/>
          </a:xfrm>
          <a:prstGeom prst="rect">
            <a:avLst/>
          </a:prstGeom>
          <a:noFill/>
        </p:spPr>
        <p:txBody>
          <a:bodyPr wrap="square" lIns="0" tIns="0" rIns="0" bIns="0">
            <a:spAutoFit/>
          </a:bodyPr>
          <a:lstStyle/>
          <a:p>
            <a:pPr>
              <a:spcAft>
                <a:spcPts val="400"/>
              </a:spcAft>
            </a:pPr>
            <a:r>
              <a:rPr sz="1100" b="1">
                <a:solidFill>
                  <a:srgbClr val="142A4E"/>
                </a:solidFill>
              </a:rPr>
              <a:t>Repo Cloner  </a:t>
            </a:r>
            <a:r>
              <a:rPr sz="1050">
                <a:solidFill>
                  <a:srgbClr val="465266"/>
                </a:solidFill>
              </a:rPr>
              <a:t> — GitPython safely clones any repo to a temp folder.</a:t>
            </a:r>
          </a:p>
          <a:p>
            <a:pPr>
              <a:spcAft>
                <a:spcPts val="400"/>
              </a:spcAft>
            </a:pPr>
            <a:r>
              <a:rPr sz="1100" b="1">
                <a:solidFill>
                  <a:srgbClr val="142A4E"/>
                </a:solidFill>
              </a:rPr>
              <a:t>AST Extractor  </a:t>
            </a:r>
            <a:r>
              <a:rPr sz="1050">
                <a:solidFill>
                  <a:srgbClr val="465266"/>
                </a:solidFill>
              </a:rPr>
              <a:t> — Python's ast module finds every function, class, and for/while loop.</a:t>
            </a:r>
          </a:p>
          <a:p>
            <a:pPr>
              <a:spcAft>
                <a:spcPts val="400"/>
              </a:spcAft>
            </a:pPr>
            <a:r>
              <a:rPr sz="1100" b="1">
                <a:solidFill>
                  <a:srgbClr val="142A4E"/>
                </a:solidFill>
              </a:rPr>
              <a:t>LLM Analyzer  </a:t>
            </a:r>
            <a:r>
              <a:rPr sz="1050">
                <a:solidFill>
                  <a:srgbClr val="465266"/>
                </a:solidFill>
              </a:rPr>
              <a:t> — per-block call to Ford LLM API (default: gpt-4.1-mini, temperature 0). Returns 6 templated lines.</a:t>
            </a:r>
          </a:p>
          <a:p>
            <a:pPr>
              <a:spcAft>
                <a:spcPts val="400"/>
              </a:spcAft>
            </a:pPr>
            <a:r>
              <a:rPr sz="1100" b="1">
                <a:solidFill>
                  <a:srgbClr val="142A4E"/>
                </a:solidFill>
              </a:rPr>
              <a:t>Repo Summarizer  </a:t>
            </a:r>
            <a:r>
              <a:rPr sz="1050">
                <a:solidFill>
                  <a:srgbClr val="465266"/>
                </a:solidFill>
              </a:rPr>
              <a:t> — second AI call. Returns JSON: purpose, tech stack, complexity, compute hours, confidence.</a:t>
            </a:r>
          </a:p>
          <a:p>
            <a:pPr>
              <a:spcAft>
                <a:spcPts val="400"/>
              </a:spcAft>
            </a:pPr>
            <a:r>
              <a:rPr sz="1100" b="1">
                <a:solidFill>
                  <a:srgbClr val="142A4E"/>
                </a:solidFill>
              </a:rPr>
              <a:t>SSE Streamer  </a:t>
            </a:r>
            <a:r>
              <a:rPr sz="1050">
                <a:solidFill>
                  <a:srgbClr val="465266"/>
                </a:solidFill>
              </a:rPr>
              <a:t> — FastAPI + async queue + thread pool. Streams every result to the browser as it lands.</a:t>
            </a:r>
          </a:p>
          <a:p>
            <a:pPr>
              <a:spcAft>
                <a:spcPts val="400"/>
              </a:spcAft>
            </a:pPr>
            <a:r>
              <a:rPr sz="1100" b="1">
                <a:solidFill>
                  <a:srgbClr val="142A4E"/>
                </a:solidFill>
              </a:rPr>
              <a:t>Cost Estimator  </a:t>
            </a:r>
            <a:r>
              <a:rPr sz="1050">
                <a:solidFill>
                  <a:srgbClr val="465266"/>
                </a:solidFill>
              </a:rPr>
              <a:t> — hybrid: AI picks GCP machine type; Python multiplies by a static 2024 pricing table. Not a real billing API call.</a:t>
            </a:r>
          </a:p>
        </p:txBody>
      </p:sp>
      <p:sp>
        <p:nvSpPr>
          <p:cNvPr id="52" name="Rounded Rectangle 51"/>
          <p:cNvSpPr/>
          <p:nvPr/>
        </p:nvSpPr>
        <p:spPr>
          <a:xfrm>
            <a:off x="7452360" y="3840480"/>
            <a:ext cx="4096512" cy="242316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452360" y="3840480"/>
            <a:ext cx="73152" cy="2423160"/>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26680" y="4023360"/>
            <a:ext cx="3639312" cy="320040"/>
          </a:xfrm>
          <a:prstGeom prst="rect">
            <a:avLst/>
          </a:prstGeom>
          <a:noFill/>
        </p:spPr>
        <p:txBody>
          <a:bodyPr wrap="square" lIns="0" tIns="0" rIns="0" bIns="0">
            <a:spAutoFit/>
          </a:bodyPr>
          <a:lstStyle/>
          <a:p>
            <a:pPr algn="l"/>
            <a:r>
              <a:rPr sz="1100" b="1" i="0">
                <a:solidFill>
                  <a:srgbClr val="E8B246"/>
                </a:solidFill>
              </a:rPr>
              <a:t>TECH STACK</a:t>
            </a:r>
          </a:p>
        </p:txBody>
      </p:sp>
      <p:sp>
        <p:nvSpPr>
          <p:cNvPr id="55" name="TextBox 54"/>
          <p:cNvSpPr txBox="1"/>
          <p:nvPr/>
        </p:nvSpPr>
        <p:spPr>
          <a:xfrm>
            <a:off x="7726680" y="4389120"/>
            <a:ext cx="3639312" cy="1737360"/>
          </a:xfrm>
          <a:prstGeom prst="rect">
            <a:avLst/>
          </a:prstGeom>
          <a:noFill/>
        </p:spPr>
        <p:txBody>
          <a:bodyPr wrap="square" lIns="0" tIns="0" rIns="0" bIns="0">
            <a:spAutoFit/>
          </a:bodyPr>
          <a:lstStyle/>
          <a:p>
            <a:pPr>
              <a:spcAft>
                <a:spcPts val="500"/>
              </a:spcAft>
            </a:pPr>
            <a:r>
              <a:rPr sz="1000" b="1">
                <a:solidFill>
                  <a:srgbClr val="E8B246"/>
                </a:solidFill>
              </a:rPr>
              <a:t>Language &amp; framework
</a:t>
            </a:r>
            <a:r>
              <a:rPr sz="1000">
                <a:solidFill>
                  <a:srgbClr val="1C2436"/>
                </a:solidFill>
              </a:rPr>
              <a:t>Python · FastAPI · LangChain · Jinja2</a:t>
            </a:r>
          </a:p>
          <a:p>
            <a:pPr>
              <a:spcAft>
                <a:spcPts val="500"/>
              </a:spcAft>
            </a:pPr>
            <a:r>
              <a:rPr sz="1000" b="1">
                <a:solidFill>
                  <a:srgbClr val="E8B246"/>
                </a:solidFill>
              </a:rPr>
              <a:t>Models (21)
</a:t>
            </a:r>
            <a:r>
              <a:rPr sz="1000">
                <a:solidFill>
                  <a:srgbClr val="1C2436"/>
                </a:solidFill>
              </a:rPr>
              <a:t>GPT-4.1 · Gemini 2.5 · Claude · Llama · DeepSeek · Qwen · all via one endpoint</a:t>
            </a:r>
          </a:p>
          <a:p>
            <a:pPr>
              <a:spcAft>
                <a:spcPts val="500"/>
              </a:spcAft>
            </a:pPr>
            <a:r>
              <a:rPr sz="1000" b="1">
                <a:solidFill>
                  <a:srgbClr val="E8B246"/>
                </a:solidFill>
              </a:rPr>
              <a:t>Backend
</a:t>
            </a:r>
            <a:r>
              <a:rPr sz="1000">
                <a:solidFill>
                  <a:srgbClr val="1C2436"/>
                </a:solidFill>
              </a:rPr>
              <a:t>Ford LLM API gateway (model picked per request)</a:t>
            </a:r>
          </a:p>
          <a:p>
            <a:pPr>
              <a:spcAft>
                <a:spcPts val="500"/>
              </a:spcAft>
            </a:pPr>
            <a:r>
              <a:rPr sz="1000" b="1">
                <a:solidFill>
                  <a:srgbClr val="E8B246"/>
                </a:solidFill>
              </a:rPr>
              <a:t>Streaming &amp; UI
</a:t>
            </a:r>
            <a:r>
              <a:rPr sz="1000">
                <a:solidFill>
                  <a:srgbClr val="1C2436"/>
                </a:solidFill>
              </a:rPr>
              <a:t>Server-Sent Events · async queue · thread pool</a:t>
            </a:r>
          </a:p>
        </p:txBody>
      </p:sp>
      <p:sp>
        <p:nvSpPr>
          <p:cNvPr id="56" name="Rectangle 55"/>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15 / 19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10972800" cy="822960"/>
          </a:xfrm>
          <a:prstGeom prst="rect">
            <a:avLst/>
          </a:prstGeom>
          <a:noFill/>
        </p:spPr>
        <p:txBody>
          <a:bodyPr wrap="square" lIns="0" tIns="0" rIns="0" bIns="0">
            <a:spAutoFit/>
          </a:bodyPr>
          <a:lstStyle/>
          <a:p>
            <a:pPr algn="l"/>
            <a:r>
              <a:rPr sz="3200" b="1" i="0">
                <a:solidFill>
                  <a:srgbClr val="142A4E"/>
                </a:solidFill>
              </a:rPr>
              <a:t>What ties these projects together</a:t>
            </a:r>
          </a:p>
        </p:txBody>
      </p:sp>
      <p:sp>
        <p:nvSpPr>
          <p:cNvPr id="4" name="TextBox 3"/>
          <p:cNvSpPr txBox="1"/>
          <p:nvPr/>
        </p:nvSpPr>
        <p:spPr>
          <a:xfrm>
            <a:off x="640080" y="1581912"/>
            <a:ext cx="10972800" cy="411480"/>
          </a:xfrm>
          <a:prstGeom prst="rect">
            <a:avLst/>
          </a:prstGeom>
          <a:noFill/>
        </p:spPr>
        <p:txBody>
          <a:bodyPr wrap="square" lIns="0" tIns="0" rIns="0" bIns="0">
            <a:spAutoFit/>
          </a:bodyPr>
          <a:lstStyle/>
          <a:p>
            <a:pPr algn="l"/>
            <a:r>
              <a:rPr sz="1400" b="0" i="0">
                <a:solidFill>
                  <a:srgbClr val="465266"/>
                </a:solidFill>
              </a:rPr>
              <a:t>A few simple ideas behind every system I build.</a:t>
            </a:r>
          </a:p>
        </p:txBody>
      </p:sp>
      <p:sp>
        <p:nvSpPr>
          <p:cNvPr id="5" name="Rounded Rectangle 4"/>
          <p:cNvSpPr/>
          <p:nvPr/>
        </p:nvSpPr>
        <p:spPr>
          <a:xfrm>
            <a:off x="640080" y="2194560"/>
            <a:ext cx="5340096" cy="1828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94560"/>
            <a:ext cx="73152" cy="1828800"/>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468880"/>
            <a:ext cx="4700016" cy="457200"/>
          </a:xfrm>
          <a:prstGeom prst="rect">
            <a:avLst/>
          </a:prstGeom>
          <a:noFill/>
        </p:spPr>
        <p:txBody>
          <a:bodyPr wrap="square" lIns="0" tIns="0" rIns="0" bIns="0">
            <a:spAutoFit/>
          </a:bodyPr>
          <a:lstStyle/>
          <a:p>
            <a:pPr algn="l"/>
            <a:r>
              <a:rPr sz="1700" b="1" i="0">
                <a:solidFill>
                  <a:srgbClr val="142A4E"/>
                </a:solidFill>
              </a:rPr>
              <a:t>Start with the user's problem</a:t>
            </a:r>
          </a:p>
        </p:txBody>
      </p:sp>
      <p:sp>
        <p:nvSpPr>
          <p:cNvPr id="8" name="TextBox 7"/>
          <p:cNvSpPr txBox="1"/>
          <p:nvPr/>
        </p:nvSpPr>
        <p:spPr>
          <a:xfrm>
            <a:off x="960120" y="3017520"/>
            <a:ext cx="4700016" cy="914400"/>
          </a:xfrm>
          <a:prstGeom prst="rect">
            <a:avLst/>
          </a:prstGeom>
          <a:noFill/>
        </p:spPr>
        <p:txBody>
          <a:bodyPr wrap="square" lIns="0" tIns="0" rIns="0" bIns="0">
            <a:spAutoFit/>
          </a:bodyPr>
          <a:lstStyle/>
          <a:p>
            <a:pPr algn="l"/>
            <a:r>
              <a:rPr sz="1300" b="0" i="0">
                <a:solidFill>
                  <a:srgbClr val="465266"/>
                </a:solidFill>
              </a:rPr>
              <a:t>Not with the model. Models are a tool, not the point.</a:t>
            </a:r>
          </a:p>
        </p:txBody>
      </p:sp>
      <p:sp>
        <p:nvSpPr>
          <p:cNvPr id="9" name="Rounded Rectangle 8"/>
          <p:cNvSpPr/>
          <p:nvPr/>
        </p:nvSpPr>
        <p:spPr>
          <a:xfrm>
            <a:off x="6208776" y="2194560"/>
            <a:ext cx="5340096" cy="1828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08776" y="2194560"/>
            <a:ext cx="73152" cy="1828800"/>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28816" y="2468880"/>
            <a:ext cx="4700016" cy="457200"/>
          </a:xfrm>
          <a:prstGeom prst="rect">
            <a:avLst/>
          </a:prstGeom>
          <a:noFill/>
        </p:spPr>
        <p:txBody>
          <a:bodyPr wrap="square" lIns="0" tIns="0" rIns="0" bIns="0">
            <a:spAutoFit/>
          </a:bodyPr>
          <a:lstStyle/>
          <a:p>
            <a:pPr algn="l"/>
            <a:r>
              <a:rPr sz="1700" b="1" i="0">
                <a:solidFill>
                  <a:srgbClr val="142A4E"/>
                </a:solidFill>
              </a:rPr>
              <a:t>Ship the whole thing</a:t>
            </a:r>
          </a:p>
        </p:txBody>
      </p:sp>
      <p:sp>
        <p:nvSpPr>
          <p:cNvPr id="12" name="TextBox 11"/>
          <p:cNvSpPr txBox="1"/>
          <p:nvPr/>
        </p:nvSpPr>
        <p:spPr>
          <a:xfrm>
            <a:off x="6528816" y="3017520"/>
            <a:ext cx="4700016" cy="914400"/>
          </a:xfrm>
          <a:prstGeom prst="rect">
            <a:avLst/>
          </a:prstGeom>
          <a:noFill/>
        </p:spPr>
        <p:txBody>
          <a:bodyPr wrap="square" lIns="0" tIns="0" rIns="0" bIns="0">
            <a:spAutoFit/>
          </a:bodyPr>
          <a:lstStyle/>
          <a:p>
            <a:pPr algn="l"/>
            <a:r>
              <a:rPr sz="1300" b="0" i="0">
                <a:solidFill>
                  <a:srgbClr val="465266"/>
                </a:solidFill>
              </a:rPr>
              <a:t>A model in a notebook is not a product. I own end-to-end.</a:t>
            </a:r>
          </a:p>
        </p:txBody>
      </p:sp>
      <p:sp>
        <p:nvSpPr>
          <p:cNvPr id="13" name="Rounded Rectangle 12"/>
          <p:cNvSpPr/>
          <p:nvPr/>
        </p:nvSpPr>
        <p:spPr>
          <a:xfrm>
            <a:off x="640080" y="4224528"/>
            <a:ext cx="5340096" cy="1828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224528"/>
            <a:ext cx="73152" cy="1828800"/>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498848"/>
            <a:ext cx="4700016" cy="457200"/>
          </a:xfrm>
          <a:prstGeom prst="rect">
            <a:avLst/>
          </a:prstGeom>
          <a:noFill/>
        </p:spPr>
        <p:txBody>
          <a:bodyPr wrap="square" lIns="0" tIns="0" rIns="0" bIns="0">
            <a:spAutoFit/>
          </a:bodyPr>
          <a:lstStyle/>
          <a:p>
            <a:pPr algn="l"/>
            <a:r>
              <a:rPr sz="1700" b="1" i="0">
                <a:solidFill>
                  <a:srgbClr val="142A4E"/>
                </a:solidFill>
              </a:rPr>
              <a:t>Plan for things to go wrong</a:t>
            </a:r>
          </a:p>
        </p:txBody>
      </p:sp>
      <p:sp>
        <p:nvSpPr>
          <p:cNvPr id="16" name="TextBox 15"/>
          <p:cNvSpPr txBox="1"/>
          <p:nvPr/>
        </p:nvSpPr>
        <p:spPr>
          <a:xfrm>
            <a:off x="960120" y="5047488"/>
            <a:ext cx="4700016" cy="914400"/>
          </a:xfrm>
          <a:prstGeom prst="rect">
            <a:avLst/>
          </a:prstGeom>
          <a:noFill/>
        </p:spPr>
        <p:txBody>
          <a:bodyPr wrap="square" lIns="0" tIns="0" rIns="0" bIns="0">
            <a:spAutoFit/>
          </a:bodyPr>
          <a:lstStyle/>
          <a:p>
            <a:pPr algn="l"/>
            <a:r>
              <a:rPr sz="1300" b="0" i="0">
                <a:solidFill>
                  <a:srgbClr val="465266"/>
                </a:solidFill>
              </a:rPr>
              <a:t>Retries, fallbacks, monitoring, and clear ways to recover.</a:t>
            </a:r>
          </a:p>
        </p:txBody>
      </p:sp>
      <p:sp>
        <p:nvSpPr>
          <p:cNvPr id="17" name="Rounded Rectangle 16"/>
          <p:cNvSpPr/>
          <p:nvPr/>
        </p:nvSpPr>
        <p:spPr>
          <a:xfrm>
            <a:off x="6208776" y="4224528"/>
            <a:ext cx="5340096" cy="1828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08776" y="4224528"/>
            <a:ext cx="73152" cy="1828800"/>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28816" y="4498848"/>
            <a:ext cx="4700016" cy="457200"/>
          </a:xfrm>
          <a:prstGeom prst="rect">
            <a:avLst/>
          </a:prstGeom>
          <a:noFill/>
        </p:spPr>
        <p:txBody>
          <a:bodyPr wrap="square" lIns="0" tIns="0" rIns="0" bIns="0">
            <a:spAutoFit/>
          </a:bodyPr>
          <a:lstStyle/>
          <a:p>
            <a:pPr algn="l"/>
            <a:r>
              <a:rPr sz="1700" b="1" i="0">
                <a:solidFill>
                  <a:srgbClr val="142A4E"/>
                </a:solidFill>
              </a:rPr>
              <a:t>Measure what really matters</a:t>
            </a:r>
          </a:p>
        </p:txBody>
      </p:sp>
      <p:sp>
        <p:nvSpPr>
          <p:cNvPr id="20" name="TextBox 19"/>
          <p:cNvSpPr txBox="1"/>
          <p:nvPr/>
        </p:nvSpPr>
        <p:spPr>
          <a:xfrm>
            <a:off x="6528816" y="5047488"/>
            <a:ext cx="4700016" cy="914400"/>
          </a:xfrm>
          <a:prstGeom prst="rect">
            <a:avLst/>
          </a:prstGeom>
          <a:noFill/>
        </p:spPr>
        <p:txBody>
          <a:bodyPr wrap="square" lIns="0" tIns="0" rIns="0" bIns="0">
            <a:spAutoFit/>
          </a:bodyPr>
          <a:lstStyle/>
          <a:p>
            <a:pPr algn="l"/>
            <a:r>
              <a:rPr sz="1300" b="0" i="0">
                <a:solidFill>
                  <a:srgbClr val="465266"/>
                </a:solidFill>
              </a:rPr>
              <a:t>Latency, cost, accuracy — and whether the business wins.</a:t>
            </a:r>
          </a:p>
        </p:txBody>
      </p:sp>
      <p:sp>
        <p:nvSpPr>
          <p:cNvPr id="21" name="Rectangle 20"/>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16 / 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10972800" cy="822960"/>
          </a:xfrm>
          <a:prstGeom prst="rect">
            <a:avLst/>
          </a:prstGeom>
          <a:noFill/>
        </p:spPr>
        <p:txBody>
          <a:bodyPr wrap="square" lIns="0" tIns="0" rIns="0" bIns="0">
            <a:spAutoFit/>
          </a:bodyPr>
          <a:lstStyle/>
          <a:p>
            <a:pPr algn="l"/>
            <a:r>
              <a:rPr sz="3200" b="1" i="0">
                <a:solidFill>
                  <a:srgbClr val="142A4E"/>
                </a:solidFill>
              </a:rPr>
              <a:t>Why this matters for Southern Glazer's</a:t>
            </a:r>
          </a:p>
        </p:txBody>
      </p:sp>
      <p:sp>
        <p:nvSpPr>
          <p:cNvPr id="4" name="TextBox 3"/>
          <p:cNvSpPr txBox="1"/>
          <p:nvPr/>
        </p:nvSpPr>
        <p:spPr>
          <a:xfrm>
            <a:off x="640080" y="1581912"/>
            <a:ext cx="10972800" cy="411480"/>
          </a:xfrm>
          <a:prstGeom prst="rect">
            <a:avLst/>
          </a:prstGeom>
          <a:noFill/>
        </p:spPr>
        <p:txBody>
          <a:bodyPr wrap="square" lIns="0" tIns="0" rIns="0" bIns="0">
            <a:spAutoFit/>
          </a:bodyPr>
          <a:lstStyle/>
          <a:p>
            <a:pPr algn="l"/>
            <a:r>
              <a:rPr sz="1400" b="0" i="0">
                <a:solidFill>
                  <a:srgbClr val="465266"/>
                </a:solidFill>
              </a:rPr>
              <a:t>The same five patterns map cleanly to your business.</a:t>
            </a:r>
          </a:p>
        </p:txBody>
      </p:sp>
      <p:sp>
        <p:nvSpPr>
          <p:cNvPr id="5" name="Rounded Rectangle 4"/>
          <p:cNvSpPr/>
          <p:nvPr/>
        </p:nvSpPr>
        <p:spPr>
          <a:xfrm>
            <a:off x="640080" y="2194560"/>
            <a:ext cx="10908792" cy="777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94560"/>
            <a:ext cx="548640" cy="777240"/>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194560"/>
            <a:ext cx="548640" cy="777240"/>
          </a:xfrm>
          <a:prstGeom prst="rect">
            <a:avLst/>
          </a:prstGeom>
          <a:noFill/>
        </p:spPr>
        <p:txBody>
          <a:bodyPr wrap="square" lIns="0" tIns="0" rIns="0" bIns="0" anchor="ctr">
            <a:spAutoFit/>
          </a:bodyPr>
          <a:lstStyle/>
          <a:p>
            <a:pPr algn="ctr"/>
            <a:r>
              <a:rPr sz="1800" b="1" i="0">
                <a:solidFill>
                  <a:srgbClr val="FFFFFF"/>
                </a:solidFill>
              </a:rPr>
              <a:t>1</a:t>
            </a:r>
          </a:p>
        </p:txBody>
      </p:sp>
      <p:sp>
        <p:nvSpPr>
          <p:cNvPr id="8" name="TextBox 7"/>
          <p:cNvSpPr txBox="1"/>
          <p:nvPr/>
        </p:nvSpPr>
        <p:spPr>
          <a:xfrm>
            <a:off x="1417320" y="2304288"/>
            <a:ext cx="2651760" cy="411480"/>
          </a:xfrm>
          <a:prstGeom prst="rect">
            <a:avLst/>
          </a:prstGeom>
          <a:noFill/>
        </p:spPr>
        <p:txBody>
          <a:bodyPr wrap="square" lIns="0" tIns="0" rIns="0" bIns="0">
            <a:spAutoFit/>
          </a:bodyPr>
          <a:lstStyle/>
          <a:p>
            <a:pPr algn="l"/>
            <a:r>
              <a:rPr sz="1400" b="1" i="0">
                <a:solidFill>
                  <a:srgbClr val="142A4E"/>
                </a:solidFill>
              </a:rPr>
              <a:t>Sales assistant</a:t>
            </a:r>
          </a:p>
        </p:txBody>
      </p:sp>
      <p:sp>
        <p:nvSpPr>
          <p:cNvPr id="9" name="TextBox 8"/>
          <p:cNvSpPr txBox="1"/>
          <p:nvPr/>
        </p:nvSpPr>
        <p:spPr>
          <a:xfrm>
            <a:off x="4114800" y="2359152"/>
            <a:ext cx="7315200" cy="502920"/>
          </a:xfrm>
          <a:prstGeom prst="rect">
            <a:avLst/>
          </a:prstGeom>
          <a:noFill/>
        </p:spPr>
        <p:txBody>
          <a:bodyPr wrap="square" lIns="0" tIns="0" rIns="0" bIns="0">
            <a:spAutoFit/>
          </a:bodyPr>
          <a:lstStyle/>
          <a:p>
            <a:pPr algn="l"/>
            <a:r>
              <a:rPr sz="1200" b="0" i="0">
                <a:solidFill>
                  <a:srgbClr val="465266"/>
                </a:solidFill>
              </a:rPr>
              <a:t>Like the Ford ESA-FR chatbot — answer reps' questions about accounts, products, and pricing using SQL + document agents, with a checker reviewing every answer.</a:t>
            </a:r>
          </a:p>
        </p:txBody>
      </p:sp>
      <p:sp>
        <p:nvSpPr>
          <p:cNvPr id="10" name="Rounded Rectangle 9"/>
          <p:cNvSpPr/>
          <p:nvPr/>
        </p:nvSpPr>
        <p:spPr>
          <a:xfrm>
            <a:off x="640080" y="3017520"/>
            <a:ext cx="10908792" cy="777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017520"/>
            <a:ext cx="548640" cy="777240"/>
          </a:xfrm>
          <a:prstGeom prst="rect">
            <a:avLst/>
          </a:prstGeom>
          <a:solidFill>
            <a:srgbClr val="142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017520"/>
            <a:ext cx="548640" cy="777240"/>
          </a:xfrm>
          <a:prstGeom prst="rect">
            <a:avLst/>
          </a:prstGeom>
          <a:noFill/>
        </p:spPr>
        <p:txBody>
          <a:bodyPr wrap="square" lIns="0" tIns="0" rIns="0" bIns="0" anchor="ctr">
            <a:spAutoFit/>
          </a:bodyPr>
          <a:lstStyle/>
          <a:p>
            <a:pPr algn="ctr"/>
            <a:r>
              <a:rPr sz="1800" b="1" i="0">
                <a:solidFill>
                  <a:srgbClr val="FFFFFF"/>
                </a:solidFill>
              </a:rPr>
              <a:t>2</a:t>
            </a:r>
          </a:p>
        </p:txBody>
      </p:sp>
      <p:sp>
        <p:nvSpPr>
          <p:cNvPr id="13" name="TextBox 12"/>
          <p:cNvSpPr txBox="1"/>
          <p:nvPr/>
        </p:nvSpPr>
        <p:spPr>
          <a:xfrm>
            <a:off x="1417320" y="3127248"/>
            <a:ext cx="2651760" cy="411480"/>
          </a:xfrm>
          <a:prstGeom prst="rect">
            <a:avLst/>
          </a:prstGeom>
          <a:noFill/>
        </p:spPr>
        <p:txBody>
          <a:bodyPr wrap="square" lIns="0" tIns="0" rIns="0" bIns="0">
            <a:spAutoFit/>
          </a:bodyPr>
          <a:lstStyle/>
          <a:p>
            <a:pPr algn="l"/>
            <a:r>
              <a:rPr sz="1400" b="1" i="0">
                <a:solidFill>
                  <a:srgbClr val="142A4E"/>
                </a:solidFill>
              </a:rPr>
              <a:t>Clean partner data</a:t>
            </a:r>
          </a:p>
        </p:txBody>
      </p:sp>
      <p:sp>
        <p:nvSpPr>
          <p:cNvPr id="14" name="TextBox 13"/>
          <p:cNvSpPr txBox="1"/>
          <p:nvPr/>
        </p:nvSpPr>
        <p:spPr>
          <a:xfrm>
            <a:off x="4114800" y="3182112"/>
            <a:ext cx="7315200" cy="502920"/>
          </a:xfrm>
          <a:prstGeom prst="rect">
            <a:avLst/>
          </a:prstGeom>
          <a:noFill/>
        </p:spPr>
        <p:txBody>
          <a:bodyPr wrap="square" lIns="0" tIns="0" rIns="0" bIns="0">
            <a:spAutoFit/>
          </a:bodyPr>
          <a:lstStyle/>
          <a:p>
            <a:pPr algn="l"/>
            <a:r>
              <a:rPr sz="1200" b="0" i="0">
                <a:solidFill>
                  <a:srgbClr val="465266"/>
                </a:solidFill>
              </a:rPr>
              <a:t>Like HOMELOAD — turn supplier and customer files of any format into one clean, standard source. Plain code first, AI as backup, self-healing retries.</a:t>
            </a:r>
          </a:p>
        </p:txBody>
      </p:sp>
      <p:sp>
        <p:nvSpPr>
          <p:cNvPr id="15" name="Rounded Rectangle 14"/>
          <p:cNvSpPr/>
          <p:nvPr/>
        </p:nvSpPr>
        <p:spPr>
          <a:xfrm>
            <a:off x="640080" y="3840480"/>
            <a:ext cx="10908792" cy="777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 y="3840480"/>
            <a:ext cx="548640" cy="777240"/>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3840480"/>
            <a:ext cx="548640" cy="777240"/>
          </a:xfrm>
          <a:prstGeom prst="rect">
            <a:avLst/>
          </a:prstGeom>
          <a:noFill/>
        </p:spPr>
        <p:txBody>
          <a:bodyPr wrap="square" lIns="0" tIns="0" rIns="0" bIns="0" anchor="ctr">
            <a:spAutoFit/>
          </a:bodyPr>
          <a:lstStyle/>
          <a:p>
            <a:pPr algn="ctr"/>
            <a:r>
              <a:rPr sz="1800" b="1" i="0">
                <a:solidFill>
                  <a:srgbClr val="FFFFFF"/>
                </a:solidFill>
              </a:rPr>
              <a:t>3</a:t>
            </a:r>
          </a:p>
        </p:txBody>
      </p:sp>
      <p:sp>
        <p:nvSpPr>
          <p:cNvPr id="18" name="TextBox 17"/>
          <p:cNvSpPr txBox="1"/>
          <p:nvPr/>
        </p:nvSpPr>
        <p:spPr>
          <a:xfrm>
            <a:off x="1417320" y="3950208"/>
            <a:ext cx="2651760" cy="411480"/>
          </a:xfrm>
          <a:prstGeom prst="rect">
            <a:avLst/>
          </a:prstGeom>
          <a:noFill/>
        </p:spPr>
        <p:txBody>
          <a:bodyPr wrap="square" lIns="0" tIns="0" rIns="0" bIns="0">
            <a:spAutoFit/>
          </a:bodyPr>
          <a:lstStyle/>
          <a:p>
            <a:pPr algn="l"/>
            <a:r>
              <a:rPr sz="1400" b="1" i="0">
                <a:solidFill>
                  <a:srgbClr val="142A4E"/>
                </a:solidFill>
              </a:rPr>
              <a:t>Real-time decisions under uncertainty</a:t>
            </a:r>
          </a:p>
        </p:txBody>
      </p:sp>
      <p:sp>
        <p:nvSpPr>
          <p:cNvPr id="19" name="TextBox 18"/>
          <p:cNvSpPr txBox="1"/>
          <p:nvPr/>
        </p:nvSpPr>
        <p:spPr>
          <a:xfrm>
            <a:off x="4114800" y="4005072"/>
            <a:ext cx="7315200" cy="502920"/>
          </a:xfrm>
          <a:prstGeom prst="rect">
            <a:avLst/>
          </a:prstGeom>
          <a:noFill/>
        </p:spPr>
        <p:txBody>
          <a:bodyPr wrap="square" lIns="0" tIns="0" rIns="0" bIns="0">
            <a:spAutoFit/>
          </a:bodyPr>
          <a:lstStyle/>
          <a:p>
            <a:pPr algn="l"/>
            <a:r>
              <a:rPr sz="1200" b="0" i="0">
                <a:solidFill>
                  <a:srgbClr val="465266"/>
                </a:solidFill>
              </a:rPr>
              <a:t>Like the V2G dispatch system — combine live signals, an ensemble forecast, and Monte Carlo to commit to a number with confidence and adapt in real time when things change.</a:t>
            </a:r>
          </a:p>
        </p:txBody>
      </p:sp>
      <p:sp>
        <p:nvSpPr>
          <p:cNvPr id="20" name="Rounded Rectangle 19"/>
          <p:cNvSpPr/>
          <p:nvPr/>
        </p:nvSpPr>
        <p:spPr>
          <a:xfrm>
            <a:off x="640080" y="4663440"/>
            <a:ext cx="10908792" cy="777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4663440"/>
            <a:ext cx="548640" cy="777240"/>
          </a:xfrm>
          <a:prstGeom prst="rect">
            <a:avLst/>
          </a:prstGeom>
          <a:solidFill>
            <a:srgbClr val="96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4663440"/>
            <a:ext cx="548640" cy="777240"/>
          </a:xfrm>
          <a:prstGeom prst="rect">
            <a:avLst/>
          </a:prstGeom>
          <a:noFill/>
        </p:spPr>
        <p:txBody>
          <a:bodyPr wrap="square" lIns="0" tIns="0" rIns="0" bIns="0" anchor="ctr">
            <a:spAutoFit/>
          </a:bodyPr>
          <a:lstStyle/>
          <a:p>
            <a:pPr algn="ctr"/>
            <a:r>
              <a:rPr sz="1800" b="1" i="0">
                <a:solidFill>
                  <a:srgbClr val="FFFFFF"/>
                </a:solidFill>
              </a:rPr>
              <a:t>4</a:t>
            </a:r>
          </a:p>
        </p:txBody>
      </p:sp>
      <p:sp>
        <p:nvSpPr>
          <p:cNvPr id="23" name="TextBox 22"/>
          <p:cNvSpPr txBox="1"/>
          <p:nvPr/>
        </p:nvSpPr>
        <p:spPr>
          <a:xfrm>
            <a:off x="1417320" y="4773168"/>
            <a:ext cx="2651760" cy="411480"/>
          </a:xfrm>
          <a:prstGeom prst="rect">
            <a:avLst/>
          </a:prstGeom>
          <a:noFill/>
        </p:spPr>
        <p:txBody>
          <a:bodyPr wrap="square" lIns="0" tIns="0" rIns="0" bIns="0">
            <a:spAutoFit/>
          </a:bodyPr>
          <a:lstStyle/>
          <a:p>
            <a:pPr algn="l"/>
            <a:r>
              <a:rPr sz="1400" b="1" i="0">
                <a:solidFill>
                  <a:srgbClr val="142A4E"/>
                </a:solidFill>
              </a:rPr>
              <a:t>Action prioritization</a:t>
            </a:r>
          </a:p>
        </p:txBody>
      </p:sp>
      <p:sp>
        <p:nvSpPr>
          <p:cNvPr id="24" name="TextBox 23"/>
          <p:cNvSpPr txBox="1"/>
          <p:nvPr/>
        </p:nvSpPr>
        <p:spPr>
          <a:xfrm>
            <a:off x="4114800" y="4828032"/>
            <a:ext cx="7315200" cy="502920"/>
          </a:xfrm>
          <a:prstGeom prst="rect">
            <a:avLst/>
          </a:prstGeom>
          <a:noFill/>
        </p:spPr>
        <p:txBody>
          <a:bodyPr wrap="square" lIns="0" tIns="0" rIns="0" bIns="0">
            <a:spAutoFit/>
          </a:bodyPr>
          <a:lstStyle/>
          <a:p>
            <a:pPr algn="l"/>
            <a:r>
              <a:rPr sz="1200" b="0" i="0">
                <a:solidFill>
                  <a:srgbClr val="465266"/>
                </a:solidFill>
              </a:rPr>
              <a:t>Like the CPA Action Prioritizer — an agent reads a rubric and your data, proposes a plan, waits for your approval, then runs it.</a:t>
            </a:r>
          </a:p>
        </p:txBody>
      </p:sp>
      <p:sp>
        <p:nvSpPr>
          <p:cNvPr id="25" name="Rounded Rectangle 24"/>
          <p:cNvSpPr/>
          <p:nvPr/>
        </p:nvSpPr>
        <p:spPr>
          <a:xfrm>
            <a:off x="640080" y="5486400"/>
            <a:ext cx="10908792" cy="777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 y="5486400"/>
            <a:ext cx="548640" cy="777240"/>
          </a:xfrm>
          <a:prstGeom prst="rect">
            <a:avLst/>
          </a:prstGeom>
          <a:solidFill>
            <a:srgbClr val="E8B2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486400"/>
            <a:ext cx="548640" cy="777240"/>
          </a:xfrm>
          <a:prstGeom prst="rect">
            <a:avLst/>
          </a:prstGeom>
          <a:noFill/>
        </p:spPr>
        <p:txBody>
          <a:bodyPr wrap="square" lIns="0" tIns="0" rIns="0" bIns="0" anchor="ctr">
            <a:spAutoFit/>
          </a:bodyPr>
          <a:lstStyle/>
          <a:p>
            <a:pPr algn="ctr"/>
            <a:r>
              <a:rPr sz="1800" b="1" i="0">
                <a:solidFill>
                  <a:srgbClr val="FFFFFF"/>
                </a:solidFill>
              </a:rPr>
              <a:t>5</a:t>
            </a:r>
          </a:p>
        </p:txBody>
      </p:sp>
      <p:sp>
        <p:nvSpPr>
          <p:cNvPr id="28" name="TextBox 27"/>
          <p:cNvSpPr txBox="1"/>
          <p:nvPr/>
        </p:nvSpPr>
        <p:spPr>
          <a:xfrm>
            <a:off x="1417320" y="5596128"/>
            <a:ext cx="2651760" cy="411480"/>
          </a:xfrm>
          <a:prstGeom prst="rect">
            <a:avLst/>
          </a:prstGeom>
          <a:noFill/>
        </p:spPr>
        <p:txBody>
          <a:bodyPr wrap="square" lIns="0" tIns="0" rIns="0" bIns="0">
            <a:spAutoFit/>
          </a:bodyPr>
          <a:lstStyle/>
          <a:p>
            <a:pPr algn="l"/>
            <a:r>
              <a:rPr sz="1400" b="1" i="0">
                <a:solidFill>
                  <a:srgbClr val="142A4E"/>
                </a:solidFill>
              </a:rPr>
              <a:t>Engineering productivity</a:t>
            </a:r>
          </a:p>
        </p:txBody>
      </p:sp>
      <p:sp>
        <p:nvSpPr>
          <p:cNvPr id="29" name="TextBox 28"/>
          <p:cNvSpPr txBox="1"/>
          <p:nvPr/>
        </p:nvSpPr>
        <p:spPr>
          <a:xfrm>
            <a:off x="4114800" y="5650992"/>
            <a:ext cx="7315200" cy="502920"/>
          </a:xfrm>
          <a:prstGeom prst="rect">
            <a:avLst/>
          </a:prstGeom>
          <a:noFill/>
        </p:spPr>
        <p:txBody>
          <a:bodyPr wrap="square" lIns="0" tIns="0" rIns="0" bIns="0">
            <a:spAutoFit/>
          </a:bodyPr>
          <a:lstStyle/>
          <a:p>
            <a:pPr algn="l"/>
            <a:r>
              <a:rPr sz="1200" b="0" i="0">
                <a:solidFill>
                  <a:srgbClr val="465266"/>
                </a:solidFill>
              </a:rPr>
              <a:t>Like the code analyzer — let your engineers paste a repo URL and get Big-O analysis + Google Cloud cost estimates in minutes.</a:t>
            </a:r>
          </a:p>
        </p:txBody>
      </p:sp>
      <p:sp>
        <p:nvSpPr>
          <p:cNvPr id="30" name="Rectangle 29"/>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17 /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40080" y="548640"/>
            <a:ext cx="548640" cy="64008"/>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713232"/>
            <a:ext cx="10972800" cy="822960"/>
          </a:xfrm>
          <a:prstGeom prst="rect">
            <a:avLst/>
          </a:prstGeom>
          <a:noFill/>
        </p:spPr>
        <p:txBody>
          <a:bodyPr wrap="square" lIns="0" tIns="0" rIns="0" bIns="0">
            <a:spAutoFit/>
          </a:bodyPr>
          <a:lstStyle/>
          <a:p>
            <a:pPr algn="l"/>
            <a:r>
              <a:rPr sz="3200" b="1" i="0">
                <a:solidFill>
                  <a:srgbClr val="142A4E"/>
                </a:solidFill>
              </a:rPr>
              <a:t>A few things I'd love to ask you</a:t>
            </a:r>
          </a:p>
        </p:txBody>
      </p:sp>
      <p:sp>
        <p:nvSpPr>
          <p:cNvPr id="4" name="TextBox 3"/>
          <p:cNvSpPr txBox="1"/>
          <p:nvPr/>
        </p:nvSpPr>
        <p:spPr>
          <a:xfrm>
            <a:off x="640080" y="1581912"/>
            <a:ext cx="10972800" cy="411480"/>
          </a:xfrm>
          <a:prstGeom prst="rect">
            <a:avLst/>
          </a:prstGeom>
          <a:noFill/>
        </p:spPr>
        <p:txBody>
          <a:bodyPr wrap="square" lIns="0" tIns="0" rIns="0" bIns="0">
            <a:spAutoFit/>
          </a:bodyPr>
          <a:lstStyle/>
          <a:p>
            <a:pPr algn="l"/>
            <a:r>
              <a:rPr sz="1400" b="0" i="0">
                <a:solidFill>
                  <a:srgbClr val="465266"/>
                </a:solidFill>
              </a:rPr>
              <a:t>To learn how your team works.</a:t>
            </a:r>
          </a:p>
        </p:txBody>
      </p:sp>
      <p:sp>
        <p:nvSpPr>
          <p:cNvPr id="5" name="Rounded Rectangle 4"/>
          <p:cNvSpPr/>
          <p:nvPr/>
        </p:nvSpPr>
        <p:spPr>
          <a:xfrm>
            <a:off x="640080" y="2194560"/>
            <a:ext cx="10908792"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194560"/>
            <a:ext cx="640080" cy="71323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194560"/>
            <a:ext cx="640080" cy="713232"/>
          </a:xfrm>
          <a:prstGeom prst="rect">
            <a:avLst/>
          </a:prstGeom>
          <a:noFill/>
        </p:spPr>
        <p:txBody>
          <a:bodyPr wrap="square" lIns="0" tIns="0" rIns="0" bIns="0" anchor="ctr">
            <a:spAutoFit/>
          </a:bodyPr>
          <a:lstStyle/>
          <a:p>
            <a:pPr algn="ctr"/>
            <a:r>
              <a:rPr sz="1800" b="1" i="0">
                <a:solidFill>
                  <a:srgbClr val="FFFFFF"/>
                </a:solidFill>
              </a:rPr>
              <a:t>1</a:t>
            </a:r>
          </a:p>
        </p:txBody>
      </p:sp>
      <p:sp>
        <p:nvSpPr>
          <p:cNvPr id="8" name="TextBox 7"/>
          <p:cNvSpPr txBox="1"/>
          <p:nvPr/>
        </p:nvSpPr>
        <p:spPr>
          <a:xfrm>
            <a:off x="1508760" y="2377440"/>
            <a:ext cx="9235440" cy="438912"/>
          </a:xfrm>
          <a:prstGeom prst="rect">
            <a:avLst/>
          </a:prstGeom>
          <a:noFill/>
        </p:spPr>
        <p:txBody>
          <a:bodyPr wrap="square" lIns="0" tIns="0" rIns="0" bIns="0">
            <a:spAutoFit/>
          </a:bodyPr>
          <a:lstStyle/>
          <a:p>
            <a:pPr algn="l"/>
            <a:r>
              <a:rPr sz="1500" b="0" i="0">
                <a:solidFill>
                  <a:srgbClr val="1C2436"/>
                </a:solidFill>
              </a:rPr>
              <a:t>What are the hardest technical problems your team is solving right now?</a:t>
            </a:r>
          </a:p>
        </p:txBody>
      </p:sp>
      <p:sp>
        <p:nvSpPr>
          <p:cNvPr id="9" name="Rounded Rectangle 8"/>
          <p:cNvSpPr/>
          <p:nvPr/>
        </p:nvSpPr>
        <p:spPr>
          <a:xfrm>
            <a:off x="640080" y="2962656"/>
            <a:ext cx="10908792"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962656"/>
            <a:ext cx="640080" cy="71323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962656"/>
            <a:ext cx="640080" cy="713232"/>
          </a:xfrm>
          <a:prstGeom prst="rect">
            <a:avLst/>
          </a:prstGeom>
          <a:noFill/>
        </p:spPr>
        <p:txBody>
          <a:bodyPr wrap="square" lIns="0" tIns="0" rIns="0" bIns="0" anchor="ctr">
            <a:spAutoFit/>
          </a:bodyPr>
          <a:lstStyle/>
          <a:p>
            <a:pPr algn="ctr"/>
            <a:r>
              <a:rPr sz="1800" b="1" i="0">
                <a:solidFill>
                  <a:srgbClr val="FFFFFF"/>
                </a:solidFill>
              </a:rPr>
              <a:t>2</a:t>
            </a:r>
          </a:p>
        </p:txBody>
      </p:sp>
      <p:sp>
        <p:nvSpPr>
          <p:cNvPr id="12" name="TextBox 11"/>
          <p:cNvSpPr txBox="1"/>
          <p:nvPr/>
        </p:nvSpPr>
        <p:spPr>
          <a:xfrm>
            <a:off x="1508760" y="3145536"/>
            <a:ext cx="9235440" cy="438912"/>
          </a:xfrm>
          <a:prstGeom prst="rect">
            <a:avLst/>
          </a:prstGeom>
          <a:noFill/>
        </p:spPr>
        <p:txBody>
          <a:bodyPr wrap="square" lIns="0" tIns="0" rIns="0" bIns="0">
            <a:spAutoFit/>
          </a:bodyPr>
          <a:lstStyle/>
          <a:p>
            <a:pPr algn="l"/>
            <a:r>
              <a:rPr sz="1500" b="0" i="0">
                <a:solidFill>
                  <a:srgbClr val="1C2436"/>
                </a:solidFill>
              </a:rPr>
              <a:t>What does your AI setup look like today?</a:t>
            </a:r>
          </a:p>
        </p:txBody>
      </p:sp>
      <p:sp>
        <p:nvSpPr>
          <p:cNvPr id="13" name="Rounded Rectangle 12"/>
          <p:cNvSpPr/>
          <p:nvPr/>
        </p:nvSpPr>
        <p:spPr>
          <a:xfrm>
            <a:off x="640080" y="3730752"/>
            <a:ext cx="10908792"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3730752"/>
            <a:ext cx="640080" cy="71323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730752"/>
            <a:ext cx="640080" cy="713232"/>
          </a:xfrm>
          <a:prstGeom prst="rect">
            <a:avLst/>
          </a:prstGeom>
          <a:noFill/>
        </p:spPr>
        <p:txBody>
          <a:bodyPr wrap="square" lIns="0" tIns="0" rIns="0" bIns="0" anchor="ctr">
            <a:spAutoFit/>
          </a:bodyPr>
          <a:lstStyle/>
          <a:p>
            <a:pPr algn="ctr"/>
            <a:r>
              <a:rPr sz="1800" b="1" i="0">
                <a:solidFill>
                  <a:srgbClr val="FFFFFF"/>
                </a:solidFill>
              </a:rPr>
              <a:t>3</a:t>
            </a:r>
          </a:p>
        </p:txBody>
      </p:sp>
      <p:sp>
        <p:nvSpPr>
          <p:cNvPr id="16" name="TextBox 15"/>
          <p:cNvSpPr txBox="1"/>
          <p:nvPr/>
        </p:nvSpPr>
        <p:spPr>
          <a:xfrm>
            <a:off x="1508760" y="3913632"/>
            <a:ext cx="9235440" cy="438912"/>
          </a:xfrm>
          <a:prstGeom prst="rect">
            <a:avLst/>
          </a:prstGeom>
          <a:noFill/>
        </p:spPr>
        <p:txBody>
          <a:bodyPr wrap="square" lIns="0" tIns="0" rIns="0" bIns="0">
            <a:spAutoFit/>
          </a:bodyPr>
          <a:lstStyle/>
          <a:p>
            <a:pPr algn="l"/>
            <a:r>
              <a:rPr sz="1500" b="0" i="0">
                <a:solidFill>
                  <a:srgbClr val="1C2436"/>
                </a:solidFill>
              </a:rPr>
              <a:t>What does a great first few months in this role look like?</a:t>
            </a:r>
          </a:p>
        </p:txBody>
      </p:sp>
      <p:sp>
        <p:nvSpPr>
          <p:cNvPr id="17" name="Rounded Rectangle 16"/>
          <p:cNvSpPr/>
          <p:nvPr/>
        </p:nvSpPr>
        <p:spPr>
          <a:xfrm>
            <a:off x="640080" y="4498848"/>
            <a:ext cx="10908792"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4498848"/>
            <a:ext cx="640080" cy="713232"/>
          </a:xfrm>
          <a:prstGeom prst="rect">
            <a:avLst/>
          </a:prstGeom>
          <a:solidFill>
            <a:srgbClr val="349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498848"/>
            <a:ext cx="640080" cy="713232"/>
          </a:xfrm>
          <a:prstGeom prst="rect">
            <a:avLst/>
          </a:prstGeom>
          <a:noFill/>
        </p:spPr>
        <p:txBody>
          <a:bodyPr wrap="square" lIns="0" tIns="0" rIns="0" bIns="0" anchor="ctr">
            <a:spAutoFit/>
          </a:bodyPr>
          <a:lstStyle/>
          <a:p>
            <a:pPr algn="ctr"/>
            <a:r>
              <a:rPr sz="1800" b="1" i="0">
                <a:solidFill>
                  <a:srgbClr val="FFFFFF"/>
                </a:solidFill>
              </a:rPr>
              <a:t>4</a:t>
            </a:r>
          </a:p>
        </p:txBody>
      </p:sp>
      <p:sp>
        <p:nvSpPr>
          <p:cNvPr id="20" name="TextBox 19"/>
          <p:cNvSpPr txBox="1"/>
          <p:nvPr/>
        </p:nvSpPr>
        <p:spPr>
          <a:xfrm>
            <a:off x="1508760" y="4681728"/>
            <a:ext cx="9235440" cy="438912"/>
          </a:xfrm>
          <a:prstGeom prst="rect">
            <a:avLst/>
          </a:prstGeom>
          <a:noFill/>
        </p:spPr>
        <p:txBody>
          <a:bodyPr wrap="square" lIns="0" tIns="0" rIns="0" bIns="0">
            <a:spAutoFit/>
          </a:bodyPr>
          <a:lstStyle/>
          <a:p>
            <a:pPr algn="l"/>
            <a:r>
              <a:rPr sz="1500" b="0" i="0">
                <a:solidFill>
                  <a:srgbClr val="1C2436"/>
                </a:solidFill>
              </a:rPr>
              <a:t>What kinds of projects would I likely jump into first?</a:t>
            </a:r>
          </a:p>
        </p:txBody>
      </p:sp>
      <p:sp>
        <p:nvSpPr>
          <p:cNvPr id="21" name="Rounded Rectangle 20"/>
          <p:cNvSpPr/>
          <p:nvPr/>
        </p:nvSpPr>
        <p:spPr>
          <a:xfrm>
            <a:off x="640080" y="5266944"/>
            <a:ext cx="10908792" cy="71323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5266944"/>
            <a:ext cx="640080" cy="71323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5266944"/>
            <a:ext cx="640080" cy="713232"/>
          </a:xfrm>
          <a:prstGeom prst="rect">
            <a:avLst/>
          </a:prstGeom>
          <a:noFill/>
        </p:spPr>
        <p:txBody>
          <a:bodyPr wrap="square" lIns="0" tIns="0" rIns="0" bIns="0" anchor="ctr">
            <a:spAutoFit/>
          </a:bodyPr>
          <a:lstStyle/>
          <a:p>
            <a:pPr algn="ctr"/>
            <a:r>
              <a:rPr sz="1800" b="1" i="0">
                <a:solidFill>
                  <a:srgbClr val="FFFFFF"/>
                </a:solidFill>
              </a:rPr>
              <a:t>5</a:t>
            </a:r>
          </a:p>
        </p:txBody>
      </p:sp>
      <p:sp>
        <p:nvSpPr>
          <p:cNvPr id="24" name="TextBox 23"/>
          <p:cNvSpPr txBox="1"/>
          <p:nvPr/>
        </p:nvSpPr>
        <p:spPr>
          <a:xfrm>
            <a:off x="1508760" y="5449824"/>
            <a:ext cx="9235440" cy="438912"/>
          </a:xfrm>
          <a:prstGeom prst="rect">
            <a:avLst/>
          </a:prstGeom>
          <a:noFill/>
        </p:spPr>
        <p:txBody>
          <a:bodyPr wrap="square" lIns="0" tIns="0" rIns="0" bIns="0">
            <a:spAutoFit/>
          </a:bodyPr>
          <a:lstStyle/>
          <a:p>
            <a:pPr algn="l"/>
            <a:r>
              <a:rPr sz="1500" b="0" i="0">
                <a:solidFill>
                  <a:srgbClr val="1C2436"/>
                </a:solidFill>
              </a:rPr>
              <a:t>How does the team balance trying new things with keeping things stable?</a:t>
            </a:r>
          </a:p>
        </p:txBody>
      </p:sp>
      <p:sp>
        <p:nvSpPr>
          <p:cNvPr id="25" name="Rectangle 24"/>
          <p:cNvSpPr/>
          <p:nvPr/>
        </p:nvSpPr>
        <p:spPr>
          <a:xfrm>
            <a:off x="640080" y="6446520"/>
            <a:ext cx="10908792" cy="10972"/>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424160" y="6519672"/>
            <a:ext cx="1280160" cy="228600"/>
          </a:xfrm>
          <a:prstGeom prst="rect">
            <a:avLst/>
          </a:prstGeom>
          <a:noFill/>
        </p:spPr>
        <p:txBody>
          <a:bodyPr wrap="square" lIns="0" tIns="0" rIns="0" bIns="0">
            <a:spAutoFit/>
          </a:bodyPr>
          <a:lstStyle/>
          <a:p>
            <a:pPr algn="r"/>
            <a:r>
              <a:rPr sz="900" b="0" i="0">
                <a:solidFill>
                  <a:srgbClr val="828C9E"/>
                </a:solidFill>
              </a:rPr>
              <a:t>18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ero.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D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0" y="1828800"/>
            <a:ext cx="1188720" cy="164592"/>
          </a:xfrm>
          <a:prstGeom prst="rect">
            <a:avLst/>
          </a:prstGeom>
          <a:solidFill>
            <a:srgbClr val="E86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2194560"/>
            <a:ext cx="12191695" cy="1097280"/>
          </a:xfrm>
          <a:prstGeom prst="rect">
            <a:avLst/>
          </a:prstGeom>
          <a:noFill/>
        </p:spPr>
        <p:txBody>
          <a:bodyPr wrap="square" lIns="0" tIns="0" rIns="0" bIns="0">
            <a:spAutoFit/>
          </a:bodyPr>
          <a:lstStyle/>
          <a:p>
            <a:pPr algn="ctr"/>
            <a:r>
              <a:rPr sz="5800" b="1" i="0">
                <a:solidFill>
                  <a:srgbClr val="FFFFFF"/>
                </a:solidFill>
              </a:rPr>
              <a:t>Thank you.</a:t>
            </a:r>
          </a:p>
        </p:txBody>
      </p:sp>
      <p:sp>
        <p:nvSpPr>
          <p:cNvPr id="6" name="TextBox 5"/>
          <p:cNvSpPr txBox="1"/>
          <p:nvPr/>
        </p:nvSpPr>
        <p:spPr>
          <a:xfrm>
            <a:off x="0" y="3383280"/>
            <a:ext cx="12191695" cy="457200"/>
          </a:xfrm>
          <a:prstGeom prst="rect">
            <a:avLst/>
          </a:prstGeom>
          <a:noFill/>
        </p:spPr>
        <p:txBody>
          <a:bodyPr wrap="square" lIns="0" tIns="0" rIns="0" bIns="0">
            <a:spAutoFit/>
          </a:bodyPr>
          <a:lstStyle/>
          <a:p>
            <a:pPr algn="ctr"/>
            <a:r>
              <a:rPr sz="1800" b="0" i="0">
                <a:solidFill>
                  <a:srgbClr val="E8B246"/>
                </a:solidFill>
              </a:rPr>
              <a:t>I'd love to hear what you think — and answer any questions.</a:t>
            </a:r>
          </a:p>
        </p:txBody>
      </p:sp>
      <p:sp>
        <p:nvSpPr>
          <p:cNvPr id="7" name="Rounded Rectangle 6"/>
          <p:cNvSpPr/>
          <p:nvPr/>
        </p:nvSpPr>
        <p:spPr>
          <a:xfrm>
            <a:off x="2438247" y="4297680"/>
            <a:ext cx="7315200" cy="1691640"/>
          </a:xfrm>
          <a:prstGeom prst="roundRect">
            <a:avLst>
              <a:gd name="adj" fmla="val 4000"/>
            </a:avLst>
          </a:prstGeom>
          <a:solidFill>
            <a:srgbClr val="0D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38247" y="4462272"/>
            <a:ext cx="7315200" cy="365760"/>
          </a:xfrm>
          <a:prstGeom prst="rect">
            <a:avLst/>
          </a:prstGeom>
          <a:noFill/>
        </p:spPr>
        <p:txBody>
          <a:bodyPr wrap="square" lIns="0" tIns="0" rIns="0" bIns="0">
            <a:spAutoFit/>
          </a:bodyPr>
          <a:lstStyle/>
          <a:p>
            <a:pPr algn="ctr"/>
            <a:r>
              <a:rPr sz="1200" b="1" i="0">
                <a:solidFill>
                  <a:srgbClr val="E8B246"/>
                </a:solidFill>
              </a:rPr>
              <a:t>MOEIN RAZAVI</a:t>
            </a:r>
          </a:p>
        </p:txBody>
      </p:sp>
      <p:sp>
        <p:nvSpPr>
          <p:cNvPr id="9" name="TextBox 8"/>
          <p:cNvSpPr txBox="1"/>
          <p:nvPr/>
        </p:nvSpPr>
        <p:spPr>
          <a:xfrm>
            <a:off x="2438247" y="4800600"/>
            <a:ext cx="7315200" cy="365760"/>
          </a:xfrm>
          <a:prstGeom prst="rect">
            <a:avLst/>
          </a:prstGeom>
          <a:noFill/>
        </p:spPr>
        <p:txBody>
          <a:bodyPr wrap="square" lIns="0" tIns="0" rIns="0" bIns="0">
            <a:spAutoFit/>
          </a:bodyPr>
          <a:lstStyle/>
          <a:p>
            <a:pPr algn="ctr"/>
            <a:r>
              <a:rPr sz="1400" b="0" i="0">
                <a:solidFill>
                  <a:srgbClr val="FFFFFF"/>
                </a:solidFill>
              </a:rPr>
              <a:t>razavi.moein94@gmail.com</a:t>
            </a:r>
          </a:p>
        </p:txBody>
      </p:sp>
      <p:sp>
        <p:nvSpPr>
          <p:cNvPr id="10" name="TextBox 9"/>
          <p:cNvSpPr txBox="1"/>
          <p:nvPr/>
        </p:nvSpPr>
        <p:spPr>
          <a:xfrm>
            <a:off x="2438247" y="5166360"/>
            <a:ext cx="7315200" cy="365760"/>
          </a:xfrm>
          <a:prstGeom prst="rect">
            <a:avLst/>
          </a:prstGeom>
          <a:noFill/>
        </p:spPr>
        <p:txBody>
          <a:bodyPr wrap="square" lIns="0" tIns="0" rIns="0" bIns="0">
            <a:spAutoFit/>
          </a:bodyPr>
          <a:lstStyle/>
          <a:p>
            <a:pPr algn="ctr"/>
            <a:r>
              <a:rPr sz="1300" b="0" i="0">
                <a:solidFill>
                  <a:srgbClr val="EEF4FC"/>
                </a:solidFill>
              </a:rPr>
              <a:t>(979) 676-7486</a:t>
            </a:r>
          </a:p>
        </p:txBody>
      </p:sp>
      <p:sp>
        <p:nvSpPr>
          <p:cNvPr id="11" name="TextBox 10"/>
          <p:cNvSpPr txBox="1"/>
          <p:nvPr/>
        </p:nvSpPr>
        <p:spPr>
          <a:xfrm>
            <a:off x="2438247" y="5532120"/>
            <a:ext cx="7315200" cy="365760"/>
          </a:xfrm>
          <a:prstGeom prst="rect">
            <a:avLst/>
          </a:prstGeom>
          <a:noFill/>
        </p:spPr>
        <p:txBody>
          <a:bodyPr wrap="square" lIns="0" tIns="0" rIns="0" bIns="0">
            <a:spAutoFit/>
          </a:bodyPr>
          <a:lstStyle/>
          <a:p>
            <a:pPr algn="ctr"/>
            <a:r>
              <a:rPr sz="1200" b="0" i="0">
                <a:solidFill>
                  <a:srgbClr val="EEF4FC"/>
                </a:solidFill>
              </a:rPr>
              <a:t>linkedin.com/in/moein-razavi  ·  github.com/moeinrazavi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TotalTime>
  <Words>3517</Words>
  <Application>Microsoft Macintosh PowerPoint</Application>
  <PresentationFormat>Widescreen</PresentationFormat>
  <Paragraphs>355</Paragraphs>
  <Slides>19</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Razavi Ghods, Moein</cp:lastModifiedBy>
  <cp:revision>2</cp:revision>
  <dcterms:created xsi:type="dcterms:W3CDTF">2013-01-27T09:14:16Z</dcterms:created>
  <dcterms:modified xsi:type="dcterms:W3CDTF">2026-05-29T22:18:32Z</dcterms:modified>
  <cp:category/>
</cp:coreProperties>
</file>